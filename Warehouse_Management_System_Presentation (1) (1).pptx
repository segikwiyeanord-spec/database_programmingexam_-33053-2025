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how to introduce yourself: Greet the panel ("Good morning/afternoon, esteemed panel"). State your full name (Segikwiye Anord) and registration number (33053/2025). Name the project title ("Warehouse Management System"), the course (Database Programming, DPR400210), and the technology used (Oracle SQL and PL/SQL). Give a one-sentence hook: this project replaces error-prone manual warehouse record-keeping with a relational database that tracks suppliers, products, customers and orders in real time. Tell them what you will cover and roughly how long it will take. TIP: stand up straight, speak slowly for this first slide only — nerves make people rush the introduction — and make eye contact with the panel rather than reading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briefly — you do not need to read every line aloud. Group them verbally: "First I will introduce the problem and objectives, then walk through the database design and ER diagram, demonstrate the SQL and PL/SQL implementation, show sample reports and live output, then close with testing, challenges, and a conclusion." TIP: this slide should take under 30 seconds — it is a map, not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 your own words what a WMS is before naming the benefits. Use the goods-flow diagram: point to each stage (Receive, Store, Manage, Dispatch) and explain that every arrow in that flow is, underneath, a SQL transaction in this project. Then cover the three benefit points on the left (accuracy, efficiency, accountability) and the "why organizations use a WMS" list on the right. TIP: this is background/context — keep it under two minutes so you have time for the technical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ten labels one by one — cluster them into three themes as you talk: (1) data quality problems — manual records, paper files, duplicate data; (2) operational problems — inventory errors, stock loss, slow searching, difficulty monitoring stock; (3) governance problems — poor reporting, poor security, human error. Close with the summary line: all of these trace back to the absence of a single validated database. TIP: this slide sets up the "why" for every design decision in the rest of the talk — refer back to it later when you explain constraints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main objective callout first, in your own words, then move to the five specific objectives left to right — each is one sentence, so keep your spoken explanation to roughly one breath per card. Tie each objective forward to a later slide: "objective one is what you will see on the ER diagram slide," "objective three is what the stored procedure slide covers," and so on. TIP: this slide is a preview of your entire talk structure — panels appreciate seeing the roadmap stated as outcomes, not just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separates what the system must DO (functional) from how well it must do it (non-functional), then lists the practical hardware, software and user prerequisites. Summarize rather than reading every bullet: "functionally, the system manages the five core entities and validates stock before any sale; non-functionally, the priority was data integrity and maintainable code, since this was built and tested by one developer on standard hardware." TIP: if asked "what did you assume about scale," point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DFD shows the system one level below the ER diagram: not what data is stored, but how it moves. Walk it left to right: a user (staff, admin, or customer) sends a request through the web/application server, which routes into one of the nine application processes -- user, product, supplier, customer, order, inventory, report, payment, and session management. Point out the background processes underneath (backup, logging, validation, scheduling, email notification) running independently of any single user request, then the data stores at the bottom (data files, redo logs, control files), and finally the external entities on the right -- Suppliers, Customers, Payment Gateway, and Email Service -- that the system exchanges data with. TIP: if asked the difference between this and the ER diagram, the ER diagram models structure (what tables exist and how they relate); the DFD models behavior (how a request actually flows through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relational concepts on the left, applied normalization steps on the right. Keep definitions short and concrete — for primary/foreign keys, point forward to the ER diagram slide as the visual proof. For normalization, use the supplier-address example: storing a supplier’s address only once in the Suppliers table (not repeated on every product row) is 3NF in practice. TIP: examiners often probe normalization — be ready to justify why Products stores Supplier_ID rather than the full supplier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tables in total. Walk left to right: Suppliers and Categories are reference tables that describe where products come from and how they are grouped; Products is the central table, holding foreign keys to both; Customers holds buyer details; Orders is the transaction table linking a Customer to a Product with a quantity and date. TIP: say explicitly which columns are foreign keys here — it previews the ER diagram on the next slide and makes that diagram easier for the panel to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each relationship out loud in order: Suppliers to Products (one supplier, many products), Categories to Products (one category, many products), Products to Orders (one product can appear on many orders), and Customers to Orders (one customer can place many orders). Point out that the "1" always sits on the reference table and the "M" sits on the side holding the foreign key, and that every FK listed inside Products and Orders matches the primary key of the table it points to. TIP: this is usually the most-questioned slide — be ready to explain what would break if a foreign key constraint were removed (orphaned orders pointing to a deleted product, for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five-table core schema as modeled directly inside the database design tool, which is a useful screenshot to show the panel that the schema was actually built and connected, not just diagrammed on paper. It also shows three supporting tables carried in the working database -- Order_Status, Payments, and Warehouse_Staff -- which extend the core model for order-status tracking, payment capture, and internal staff accounts. Keep this brief: "the core five tables you just saw on the ER diagram map directly onto this design, plus a small number of supporting tables for order status, payments, and staff access." TIP: if asked why these three were not covered as full slides, be candid that they support the core workflow but were kept out of scope for this assignment’s PL/SQL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CREATE TABLE statement and point out the two named foreign-key constraints -- FK_Product_Category and FK_Product_Supplier -- explaining that naming a constraint makes the error message readable if it is ever violated. Then show the INSERT, and explain that VALUES lists one row in exact column order, followed by COMMIT to make the change permanent. Use the checklist on the right to preview what the next slide covers. TIP: do not read every column aloud -- summarize the columns, then dwell on the two constraints, since those are what a Database Programming panel cares about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short statements, one idea each. SELECT is read-only. UPDATE and DELETE both narrow their effect with a WHERE clause on Product_ID -- stress that omitting WHERE on either one would touch every row in the table, which is exactly the kind of mistake constraints and careful testing are meant to catch. Finish with the JOIN query, which is the same three-table pattern used throughout the reporting section. Every statement ends in COMMIT where it changes data, making the change permanent. TIP: if asked about ROLLBACK, explain it is the undo for an uncommitted change -- demonstrated properly in the exception handler on the Stored Procedure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map for the next four slides — each row after "Anonymous Block" through "Function" gets its own dedicated slide with code. Explain the pattern: PL/SQL lets you move logic that SQL alone cannot express — validation, branching, reusable calculations — into the database itself. Be candid about the last two rows: an explicit cursor and packages were not required at this project’s scale, and say why. TIP: examiners respect an honest "this was not needed because..." far more than an unnecessary feature bolted on to look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flowchart on the left top to bottom while pointing at the matching lines of code on the right: the block opens with BEGIN, inserts one fully-specified row for a new product (a Laser Printer), commits the change so it persists, then confirms success with DBMS_OUTPUT. Point out that this block has no DECLARE section because it does not need a variable -- every value is supplied directly in the INSERT. TIP: mention that this same "do the work, then confirm" shape reappears inside the stored procedure on the next slide, just wrapped in a reusable, parameterized object instead of run once and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of the PL/SQL section. Explain the two IN parameters, then the three-step logic on the left: the UPDATE statement subtracts the sold quantity from stock for one Product_ID, COMMIT makes that change permanent, and once compiled the procedure can be called from anywhere by name instead of retyping the UPDATE every time. Then show it being called with Sell_Product(2001, 3) and state the result. TIP: if asked what happens with an invalid Product_ID or insufficient stock, be honest that this version keeps the logic intentionally simple and relies on the WHERE match rather than explicit validation -- note that a production version would add a stock check and an exception handler before the UPDATE, as flagged on the PL/SQL overview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spec sheet on the left top to bottom — purpose, input, output — then show it executing with "SELECT Get_Product_Stock(2001) AS Current_Stock FROM Dual," returning 17 after the sale processed on the previous slide. Use the bottom-right callout to explain, in your own words, the functional difference between this function and the Sell_Product() procedure: a function hands back one value and can be embedded inside a query, while a procedure performs an action and is called on its own. TIP: this distinction is a very common viva question — have the one-line answer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query, then walk the table row by row, pausing at the tie between HP Laptop and Laser Printer to explain it. This is the single clearest way to show you understand the difference between the three functions rather than having memorized their names: ROW_NUMBER always increments by one regardless of ties, RANK leaves a gap after a tie, DENSE_RANK does not. Close with the business use case in the callout. TIP: if asked "why not just use ROW_NUMBER everywhere," explain that it would wrongly give tied products two different ranks -- the reverse of this same ORDER BY (ASC instead of DESC) is exactly the Low Stock Report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report types on the left, each backed by a SQL query already covered — Low Stock uses a WHERE clause against a stock threshold, Product Ranking uses the window functions from the previous slide, Inventory Value multiplies quantity by unit price. The two queries on the right are real, runnable examples for the Low Stock and Inventory Value reports specifically. TIP: mention that every report on this slide is just a SELECT — sometimes with a WHERE filter, sometimes with an aggregate like SUM — over the same five tables already introduced, which is exactly why a clean relational schema pays off at reporting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twelve boxes are placeholders only — no fabricated screenshots have been inserted. Before presenting live, replace each dashed box with an actual Oracle SQL Developer screenshot showing that exact output. During the defense, either present this slide with real screenshots pasted in, or switch to a live SQL Developer session and narrate each result as you run it. TIP: rehearse the live run beforehand so no query errors happen in front of the panel — have a fallback screenshot for every box in case the connection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test cases, one per core feature, each confirmed passing. Do not read every cell — pick two rows to narrate in detail: "Sell Product" (because it is the core business action, tracing a stock value through an exact before/after change) and "Procedure" (because calling it twice confirms it behaves consistently on repeat calls, not just once). State that every test passed, which sets up the conclusion. TIP: if asked what happens on an invalid Product_ID, be honest that this simplified procedure relies on the WHERE match rather than explicit validation — link back to the "hardening step" note on the PL/SQL overview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or three of these to genuinely elaborate on rather than reading all eight — Oracle installation and PL/SQL debugging are usually the most relatable. Being candid about real difficulty (and how it was solved) reads as more credible than claiming a flawless build. Close on the "Outcome" card to pivot positively into Future Improvements. TIP: panels often ask "what was hardest" directly — have your honest answer ready before you reach this slide, not improvised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forward-looking ideas, grouped verbally into three themes: input speed (barcode scanner, QR tagging), access and reach (cloud database, mobile app, authentication), and operations intelligence (dashboards, notifications, email alerts, AI-based demand prediction). None of these were required for this assignment — frame them as a genuine roadmap, not missing work. TIP: keep this section brief; the panel is grading what you built, not what you plan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slide as a confident summary, not a re-read of the bullets — you are telling the panel what they just watched you prove, not introducing new information. Land on the closing statement in the navy panel as your final sentence before moving to questions. TIP: pause for a beat after this slide; do not rush straight into "Thank you" — let the conclusion land before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thank the panel for their time and attention, then invite questions directly: "Thank you — I am happy to take any questions." If a question is unclear, ask them to repeat or clarify rather than guessing. If you do not know an answer, say so honestly and offer to follow up, rather than improvising a wrong answer about the database. Keep the Oracle SQL Developer session or backup screenshots ready in case a question asks you to demonstrate something live. TIP: breathe, keep the same steady pace you used in the introduction — the Q&amp;A is scored too, not just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9" Type="http://schemas.openxmlformats.org/officeDocument/2006/relationships/image" Target="../media/unilak_logo.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slideLayout" Target="../slideLayouts/slideLayout1.xml"/><Relationship Id="rId1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1.png"/><Relationship Id="rId6" Type="http://schemas.openxmlformats.org/officeDocument/2006/relationships/image" Target="../media/image-12-1.png"/><Relationship Id="rId7" Type="http://schemas.openxmlformats.org/officeDocument/2006/relationships/image" Target="../media/image-12-1.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image" Target="../media/image-20-1.png"/><Relationship Id="rId4" Type="http://schemas.openxmlformats.org/officeDocument/2006/relationships/image" Target="../media/image-20-1.png"/><Relationship Id="rId5" Type="http://schemas.openxmlformats.org/officeDocument/2006/relationships/image" Target="../media/image-20-1.png"/><Relationship Id="rId6" Type="http://schemas.openxmlformats.org/officeDocument/2006/relationships/image" Target="../media/image-20-1.png"/><Relationship Id="rId7" Type="http://schemas.openxmlformats.org/officeDocument/2006/relationships/image" Target="../media/image-20-1.png"/><Relationship Id="rId8" Type="http://schemas.openxmlformats.org/officeDocument/2006/relationships/image" Target="../media/image-20-1.png"/><Relationship Id="rId9" Type="http://schemas.openxmlformats.org/officeDocument/2006/relationships/image" Target="../media/image-20-1.png"/><Relationship Id="rId10" Type="http://schemas.openxmlformats.org/officeDocument/2006/relationships/image" Target="../media/image-20-1.png"/><Relationship Id="rId11" Type="http://schemas.openxmlformats.org/officeDocument/2006/relationships/image" Target="../media/image-20-1.png"/><Relationship Id="rId12" Type="http://schemas.openxmlformats.org/officeDocument/2006/relationships/image" Target="../media/image-20-1.png"/><Relationship Id="rId13" Type="http://schemas.openxmlformats.org/officeDocument/2006/relationships/image" Target="../media/image-20-13.png"/><Relationship Id="rId14" Type="http://schemas.openxmlformats.org/officeDocument/2006/relationships/slideLayout" Target="../slideLayouts/slideLayout1.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slideLayout" Target="../slideLayouts/slideLayout1.xml"/><Relationship Id="rId1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1.png"/><Relationship Id="rId3" Type="http://schemas.openxmlformats.org/officeDocument/2006/relationships/image" Target="../media/image-24-1.png"/><Relationship Id="rId4" Type="http://schemas.openxmlformats.org/officeDocument/2006/relationships/image" Target="../media/image-24-1.png"/><Relationship Id="rId5" Type="http://schemas.openxmlformats.org/officeDocument/2006/relationships/image" Target="../media/image-24-1.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5" Type="http://schemas.openxmlformats.org/officeDocument/2006/relationships/image" Target="../media/unilak_logo.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33"/>
        </a:solidFill>
      </p:bgPr>
    </p:bg>
    <p:spTree>
      <p:nvGrpSpPr>
        <p:cNvPr id="1" name=""/>
        <p:cNvGrpSpPr/>
        <p:nvPr/>
      </p:nvGrpSpPr>
      <p:grpSpPr>
        <a:xfrm>
          <a:off x="0" y="0"/>
          <a:ext cx="0" cy="0"/>
          <a:chOff x="0" y="0"/>
          <a:chExt cx="0" cy="0"/>
        </a:xfrm>
      </p:grpSpPr>
      <p:sp>
        <p:nvSpPr>
          <p:cNvPr id="2" name="Shape 0"/>
          <p:cNvSpPr/>
          <p:nvPr/>
        </p:nvSpPr>
        <p:spPr>
          <a:xfrm>
            <a:off x="8778240" y="-1463040"/>
            <a:ext cx="5486400" cy="5486400"/>
          </a:xfrm>
          <a:prstGeom prst="ellipse">
            <a:avLst/>
          </a:prstGeom>
          <a:solidFill>
            <a:srgbClr val="132A4C"/>
          </a:solidFill>
          <a:ln/>
        </p:spPr>
      </p:sp>
      <p:sp>
        <p:nvSpPr>
          <p:cNvPr id="3" name="Shape 1"/>
          <p:cNvSpPr/>
          <p:nvPr/>
        </p:nvSpPr>
        <p:spPr>
          <a:xfrm>
            <a:off x="502920" y="457200"/>
            <a:ext cx="1417320" cy="1051560"/>
          </a:xfrm>
          <a:prstGeom prst="roundRect">
            <a:avLst>
              <a:gd name="adj" fmla="val 5217"/>
            </a:avLst>
          </a:prstGeom>
          <a:solidFill>
            <a:srgbClr val="17335C"/>
          </a:solidFill>
          <a:ln w="12700">
            <a:solidFill>
              <a:srgbClr val="3D5C8A"/>
            </a:solidFill>
            <a:prstDash val="dash"/>
          </a:ln>
        </p:spPr>
      </p:sp>
      <p:pic>
        <p:nvPicPr>
          <p:cNvPr id="4" name="UNILAK Logo" descr="University of Lay Adventists of Kigali (UNILAK) crest">    </p:cNvPr>
          <p:cNvPicPr>
            <a:picLocks noChangeAspect="1"/>
          </p:cNvPicPr>
          <p:nvPr/>
        </p:nvPicPr>
        <p:blipFill>
          <a:blip r:embed="rId9"/>
          <a:stretch>
            <a:fillRect/>
          </a:stretch>
        </p:blipFill>
        <p:spPr>
          <a:xfrm>
            <a:off x="877058" y="507200"/>
            <a:ext cx="669045" cy="650000"/>
          </a:xfrm>
          <a:prstGeom prst="rect">
            <a:avLst/>
          </a:prstGeom>
        </p:spPr>
      </p:pic>
      <p:sp>
        <p:nvSpPr>
          <p:cNvPr id="5" name="Text 2"/>
          <p:cNvSpPr/>
          <p:nvPr/>
        </p:nvSpPr>
        <p:spPr>
          <a:xfrm>
            <a:off x="502920" y="1177200"/>
            <a:ext cx="1417320" cy="250000"/>
          </a:xfrm>
          <a:prstGeom prst="rect">
            <a:avLst/>
          </a:prstGeom>
          <a:noFill/>
          <a:ln/>
        </p:spPr>
        <p:txBody>
          <a:bodyPr wrap="square" rtlCol="0" anchor="t"/>
          <a:lstStyle/>
          <a:p>
            <a:pPr algn="ctr" indent="0" marL="0">
              <a:lnSpc>
                <a:spcPct val="100000"/>
              </a:lnSpc>
              <a:buNone/>
            </a:pPr>
            <a:r>
              <a:rPr lang="en-US" sz="750" i="1" dirty="0">
                <a:solidFill>
                  <a:srgbClr val="8AA3C4"/>
                </a:solidFill>
                <a:latin typeface="Calibri" pitchFamily="34" charset="0"/>
                <a:ea typeface="Calibri" pitchFamily="34" charset="-122"/>
                <a:cs typeface="Calibri" pitchFamily="34" charset="-120"/>
              </a:rPr>
              <a:t>UNILAK</a:t>
            </a:r>
            <a:endParaRPr lang="en-US" sz="750" dirty="0"/>
          </a:p>
        </p:txBody>
      </p:sp>
      <p:sp>
        <p:nvSpPr>
          <p:cNvPr id="6" name="Shape 3"/>
          <p:cNvSpPr/>
          <p:nvPr/>
        </p:nvSpPr>
        <p:spPr>
          <a:xfrm>
            <a:off x="9052560" y="502920"/>
            <a:ext cx="1234440" cy="329184"/>
          </a:xfrm>
          <a:prstGeom prst="roundRect">
            <a:avLst>
              <a:gd name="adj" fmla="val 50000"/>
            </a:avLst>
          </a:prstGeom>
          <a:solidFill>
            <a:srgbClr val="17335C"/>
          </a:solidFill>
          <a:ln/>
        </p:spPr>
      </p:sp>
      <p:sp>
        <p:nvSpPr>
          <p:cNvPr id="7" name="Text 4"/>
          <p:cNvSpPr/>
          <p:nvPr/>
        </p:nvSpPr>
        <p:spPr>
          <a:xfrm>
            <a:off x="9052560" y="502920"/>
            <a:ext cx="1234440" cy="329184"/>
          </a:xfrm>
          <a:prstGeom prst="rect">
            <a:avLst/>
          </a:prstGeom>
          <a:noFill/>
          <a:ln/>
        </p:spPr>
        <p:txBody>
          <a:bodyPr wrap="square" rtlCol="0" anchor="ctr"/>
          <a:lstStyle/>
          <a:p>
            <a:pPr algn="ctr" indent="0" marL="0">
              <a:buNone/>
            </a:pPr>
            <a:r>
              <a:rPr lang="en-US" sz="950" b="1" dirty="0">
                <a:solidFill>
                  <a:srgbClr val="BFDAF2"/>
                </a:solidFill>
                <a:latin typeface="Calibri" pitchFamily="34" charset="0"/>
                <a:ea typeface="Calibri" pitchFamily="34" charset="-122"/>
                <a:cs typeface="Calibri" pitchFamily="34" charset="-120"/>
              </a:rPr>
              <a:t>ORACLE SQL</a:t>
            </a:r>
            <a:endParaRPr lang="en-US" sz="950" dirty="0"/>
          </a:p>
        </p:txBody>
      </p:sp>
      <p:sp>
        <p:nvSpPr>
          <p:cNvPr id="8" name="Shape 5"/>
          <p:cNvSpPr/>
          <p:nvPr/>
        </p:nvSpPr>
        <p:spPr>
          <a:xfrm>
            <a:off x="10378440" y="502920"/>
            <a:ext cx="1307592" cy="329184"/>
          </a:xfrm>
          <a:prstGeom prst="roundRect">
            <a:avLst>
              <a:gd name="adj" fmla="val 50000"/>
            </a:avLst>
          </a:prstGeom>
          <a:solidFill>
            <a:srgbClr val="17335C"/>
          </a:solidFill>
          <a:ln/>
        </p:spPr>
      </p:sp>
      <p:sp>
        <p:nvSpPr>
          <p:cNvPr id="9" name="Text 6"/>
          <p:cNvSpPr/>
          <p:nvPr/>
        </p:nvSpPr>
        <p:spPr>
          <a:xfrm>
            <a:off x="10378440" y="502920"/>
            <a:ext cx="1307592" cy="329184"/>
          </a:xfrm>
          <a:prstGeom prst="rect">
            <a:avLst/>
          </a:prstGeom>
          <a:noFill/>
          <a:ln/>
        </p:spPr>
        <p:txBody>
          <a:bodyPr wrap="square" rtlCol="0" anchor="ctr"/>
          <a:lstStyle/>
          <a:p>
            <a:pPr algn="ctr" indent="0" marL="0">
              <a:buNone/>
            </a:pPr>
            <a:r>
              <a:rPr lang="en-US" sz="950" b="1" dirty="0">
                <a:solidFill>
                  <a:srgbClr val="BFDAF2"/>
                </a:solidFill>
                <a:latin typeface="Calibri" pitchFamily="34" charset="0"/>
                <a:ea typeface="Calibri" pitchFamily="34" charset="-122"/>
                <a:cs typeface="Calibri" pitchFamily="34" charset="-120"/>
              </a:rPr>
              <a:t>PL/SQL</a:t>
            </a:r>
            <a:endParaRPr lang="en-US" sz="950" dirty="0"/>
          </a:p>
        </p:txBody>
      </p:sp>
      <p:sp>
        <p:nvSpPr>
          <p:cNvPr id="10" name="Text 7"/>
          <p:cNvSpPr/>
          <p:nvPr/>
        </p:nvSpPr>
        <p:spPr>
          <a:xfrm>
            <a:off x="502920" y="1874520"/>
            <a:ext cx="7772400" cy="292608"/>
          </a:xfrm>
          <a:prstGeom prst="rect">
            <a:avLst/>
          </a:prstGeom>
          <a:noFill/>
          <a:ln/>
        </p:spPr>
        <p:txBody>
          <a:bodyPr wrap="square" rtlCol="0" anchor="ctr"/>
          <a:lstStyle/>
          <a:p>
            <a:pPr indent="0" marL="0">
              <a:buNone/>
            </a:pPr>
            <a:r>
              <a:rPr lang="en-US" sz="1300" b="1" spc="200" kern="0" dirty="0">
                <a:solidFill>
                  <a:srgbClr val="AFD3EC"/>
                </a:solidFill>
                <a:latin typeface="Calibri" pitchFamily="34" charset="0"/>
                <a:ea typeface="Calibri" pitchFamily="34" charset="-122"/>
                <a:cs typeface="Calibri" pitchFamily="34" charset="-120"/>
              </a:rPr>
              <a:t>DATABASE PROGRAMMING · DPR400210</a:t>
            </a:r>
            <a:endParaRPr lang="en-US" sz="1300" dirty="0"/>
          </a:p>
        </p:txBody>
      </p:sp>
      <p:sp>
        <p:nvSpPr>
          <p:cNvPr id="11" name="Text 8"/>
          <p:cNvSpPr/>
          <p:nvPr/>
        </p:nvSpPr>
        <p:spPr>
          <a:xfrm>
            <a:off x="457200" y="2194560"/>
            <a:ext cx="7955280" cy="1737360"/>
          </a:xfrm>
          <a:prstGeom prst="rect">
            <a:avLst/>
          </a:prstGeom>
          <a:noFill/>
          <a:ln/>
        </p:spPr>
        <p:txBody>
          <a:bodyPr wrap="square" rtlCol="0" anchor="t"/>
          <a:lstStyle/>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Warehouse</a:t>
            </a:r>
            <a:endParaRPr lang="en-US" sz="4600" dirty="0"/>
          </a:p>
          <a:p>
            <a:pPr indent="0" marL="0">
              <a:lnSpc>
                <a:spcPct val="102000"/>
              </a:lnSpc>
              <a:buNone/>
            </a:pPr>
            <a:r>
              <a:rPr lang="en-US" sz="4600" b="1" dirty="0">
                <a:solidFill>
                  <a:srgbClr val="FFFFFF"/>
                </a:solidFill>
                <a:latin typeface="Calibri" pitchFamily="34" charset="0"/>
                <a:ea typeface="Calibri" pitchFamily="34" charset="-122"/>
                <a:cs typeface="Calibri" pitchFamily="34" charset="-120"/>
              </a:rPr>
              <a:t>Management System</a:t>
            </a:r>
            <a:endParaRPr lang="en-US" sz="4600" dirty="0"/>
          </a:p>
        </p:txBody>
      </p:sp>
      <p:sp>
        <p:nvSpPr>
          <p:cNvPr id="12" name="Text 9"/>
          <p:cNvSpPr/>
          <p:nvPr/>
        </p:nvSpPr>
        <p:spPr>
          <a:xfrm>
            <a:off x="502920" y="3977640"/>
            <a:ext cx="6949440" cy="640080"/>
          </a:xfrm>
          <a:prstGeom prst="rect">
            <a:avLst/>
          </a:prstGeom>
          <a:noFill/>
          <a:ln/>
        </p:spPr>
        <p:txBody>
          <a:bodyPr wrap="square" rtlCol="0" anchor="t"/>
          <a:lstStyle/>
          <a:p>
            <a:pPr indent="0" marL="0">
              <a:lnSpc>
                <a:spcPct val="115000"/>
              </a:lnSpc>
              <a:buNone/>
            </a:pPr>
            <a:r>
              <a:rPr lang="en-US" sz="1400" i="1" dirty="0">
                <a:solidFill>
                  <a:srgbClr val="A9C3E0"/>
                </a:solidFill>
                <a:latin typeface="Calibri" pitchFamily="34" charset="0"/>
                <a:ea typeface="Calibri" pitchFamily="34" charset="-122"/>
                <a:cs typeface="Calibri" pitchFamily="34" charset="-120"/>
              </a:rPr>
              <a:t>A relational database solution for accurate, efficient warehouse operations — built with Oracle SQL and PL/SQL.</a:t>
            </a:r>
            <a:endParaRPr lang="en-US" sz="1400" dirty="0"/>
          </a:p>
        </p:txBody>
      </p:sp>
      <p:sp>
        <p:nvSpPr>
          <p:cNvPr id="13" name="Shape 10"/>
          <p:cNvSpPr/>
          <p:nvPr/>
        </p:nvSpPr>
        <p:spPr>
          <a:xfrm>
            <a:off x="8732520" y="1783080"/>
            <a:ext cx="2743200" cy="2743200"/>
          </a:xfrm>
          <a:prstGeom prst="ellipse">
            <a:avLst/>
          </a:prstGeom>
          <a:solidFill>
            <a:srgbClr val="1B3A66"/>
          </a:solidFill>
          <a:ln/>
        </p:spPr>
      </p:sp>
      <p:pic>
        <p:nvPicPr>
          <p:cNvPr id="14" name="Image 1" descr="/home/claude/wms_deck/assets/icons/warehouse_white.png">    </p:cNvPr>
          <p:cNvPicPr>
            <a:picLocks noChangeAspect="1"/>
          </p:cNvPicPr>
          <p:nvPr/>
        </p:nvPicPr>
        <p:blipFill>
          <a:blip r:embed="rId2"/>
          <a:stretch>
            <a:fillRect/>
          </a:stretch>
        </p:blipFill>
        <p:spPr>
          <a:xfrm>
            <a:off x="9281160" y="2331720"/>
            <a:ext cx="1645920" cy="1645920"/>
          </a:xfrm>
          <a:prstGeom prst="rect">
            <a:avLst/>
          </a:prstGeom>
        </p:spPr>
      </p:pic>
      <p:sp>
        <p:nvSpPr>
          <p:cNvPr id="15" name="Shape 11"/>
          <p:cNvSpPr/>
          <p:nvPr/>
        </p:nvSpPr>
        <p:spPr>
          <a:xfrm>
            <a:off x="8183880" y="1417320"/>
            <a:ext cx="658368" cy="658368"/>
          </a:xfrm>
          <a:prstGeom prst="ellipse">
            <a:avLst/>
          </a:prstGeom>
          <a:solidFill>
            <a:srgbClr val="3D8EC9"/>
          </a:solidFill>
          <a:ln/>
        </p:spPr>
      </p:sp>
      <p:pic>
        <p:nvPicPr>
          <p:cNvPr id="16" name="Image 2" descr="/home/claude/wms_deck/assets/icons/database_white.png">    </p:cNvPr>
          <p:cNvPicPr>
            <a:picLocks noChangeAspect="1"/>
          </p:cNvPicPr>
          <p:nvPr/>
        </p:nvPicPr>
        <p:blipFill>
          <a:blip r:embed="rId3"/>
          <a:stretch>
            <a:fillRect/>
          </a:stretch>
        </p:blipFill>
        <p:spPr>
          <a:xfrm>
            <a:off x="8361639" y="1595079"/>
            <a:ext cx="302849" cy="302849"/>
          </a:xfrm>
          <a:prstGeom prst="rect">
            <a:avLst/>
          </a:prstGeom>
        </p:spPr>
      </p:pic>
      <p:sp>
        <p:nvSpPr>
          <p:cNvPr id="17" name="Shape 12"/>
          <p:cNvSpPr/>
          <p:nvPr/>
        </p:nvSpPr>
        <p:spPr>
          <a:xfrm>
            <a:off x="11064240" y="1554480"/>
            <a:ext cx="548640" cy="548640"/>
          </a:xfrm>
          <a:prstGeom prst="ellipse">
            <a:avLst/>
          </a:prstGeom>
          <a:solidFill>
            <a:srgbClr val="2F5C93"/>
          </a:solidFill>
          <a:ln/>
        </p:spPr>
      </p:sp>
      <p:pic>
        <p:nvPicPr>
          <p:cNvPr id="18" name="Image 3" descr="/home/claude/wms_deck/assets/icons/barcode_white.png">    </p:cNvPr>
          <p:cNvPicPr>
            <a:picLocks noChangeAspect="1"/>
          </p:cNvPicPr>
          <p:nvPr/>
        </p:nvPicPr>
        <p:blipFill>
          <a:blip r:embed="rId4"/>
          <a:stretch>
            <a:fillRect/>
          </a:stretch>
        </p:blipFill>
        <p:spPr>
          <a:xfrm>
            <a:off x="11212373" y="1702613"/>
            <a:ext cx="252374" cy="252374"/>
          </a:xfrm>
          <a:prstGeom prst="rect">
            <a:avLst/>
          </a:prstGeom>
        </p:spPr>
      </p:pic>
      <p:sp>
        <p:nvSpPr>
          <p:cNvPr id="19" name="Shape 13"/>
          <p:cNvSpPr/>
          <p:nvPr/>
        </p:nvSpPr>
        <p:spPr>
          <a:xfrm>
            <a:off x="8366760" y="4160520"/>
            <a:ext cx="566928" cy="566928"/>
          </a:xfrm>
          <a:prstGeom prst="ellipse">
            <a:avLst/>
          </a:prstGeom>
          <a:solidFill>
            <a:srgbClr val="2F5C93"/>
          </a:solidFill>
          <a:ln/>
        </p:spPr>
      </p:sp>
      <p:pic>
        <p:nvPicPr>
          <p:cNvPr id="20" name="Image 4" descr="/home/claude/wms_deck/assets/icons/truck_white.png">    </p:cNvPr>
          <p:cNvPicPr>
            <a:picLocks noChangeAspect="1"/>
          </p:cNvPicPr>
          <p:nvPr/>
        </p:nvPicPr>
        <p:blipFill>
          <a:blip r:embed="rId5"/>
          <a:stretch>
            <a:fillRect/>
          </a:stretch>
        </p:blipFill>
        <p:spPr>
          <a:xfrm>
            <a:off x="8519831" y="4313591"/>
            <a:ext cx="260787" cy="260787"/>
          </a:xfrm>
          <a:prstGeom prst="rect">
            <a:avLst/>
          </a:prstGeom>
        </p:spPr>
      </p:pic>
      <p:sp>
        <p:nvSpPr>
          <p:cNvPr id="21" name="Shape 14"/>
          <p:cNvSpPr/>
          <p:nvPr/>
        </p:nvSpPr>
        <p:spPr>
          <a:xfrm>
            <a:off x="11109960" y="4114800"/>
            <a:ext cx="603504" cy="603504"/>
          </a:xfrm>
          <a:prstGeom prst="ellipse">
            <a:avLst/>
          </a:prstGeom>
          <a:solidFill>
            <a:srgbClr val="3D8EC9"/>
          </a:solidFill>
          <a:ln/>
        </p:spPr>
      </p:sp>
      <p:pic>
        <p:nvPicPr>
          <p:cNvPr id="22" name="Image 5" descr="/home/claude/wms_deck/assets/icons/boxes_white.png">    </p:cNvPr>
          <p:cNvPicPr>
            <a:picLocks noChangeAspect="1"/>
          </p:cNvPicPr>
          <p:nvPr/>
        </p:nvPicPr>
        <p:blipFill>
          <a:blip r:embed="rId6"/>
          <a:stretch>
            <a:fillRect/>
          </a:stretch>
        </p:blipFill>
        <p:spPr>
          <a:xfrm>
            <a:off x="11272906" y="4277746"/>
            <a:ext cx="277612" cy="277612"/>
          </a:xfrm>
          <a:prstGeom prst="rect">
            <a:avLst/>
          </a:prstGeom>
        </p:spPr>
      </p:pic>
      <p:sp>
        <p:nvSpPr>
          <p:cNvPr id="23" name="Shape 15"/>
          <p:cNvSpPr/>
          <p:nvPr/>
        </p:nvSpPr>
        <p:spPr>
          <a:xfrm>
            <a:off x="502920" y="5257800"/>
            <a:ext cx="11185855" cy="1188720"/>
          </a:xfrm>
          <a:prstGeom prst="roundRect">
            <a:avLst>
              <a:gd name="adj" fmla="val 6154"/>
            </a:avLst>
          </a:prstGeom>
          <a:solidFill>
            <a:srgbClr val="102547"/>
          </a:solidFill>
          <a:ln w="12700">
            <a:solidFill>
              <a:srgbClr val="25476F"/>
            </a:solidFill>
            <a:prstDash val="solid"/>
          </a:ln>
        </p:spPr>
      </p:sp>
      <p:sp>
        <p:nvSpPr>
          <p:cNvPr id="24" name="Text 16"/>
          <p:cNvSpPr/>
          <p:nvPr/>
        </p:nvSpPr>
        <p:spPr>
          <a:xfrm>
            <a:off x="822960" y="5376672"/>
            <a:ext cx="5120640" cy="38404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Segikwiye Anord</a:t>
            </a:r>
            <a:endParaRPr lang="en-US" sz="2000" dirty="0"/>
          </a:p>
        </p:txBody>
      </p:sp>
      <p:sp>
        <p:nvSpPr>
          <p:cNvPr id="25" name="Text 17"/>
          <p:cNvSpPr/>
          <p:nvPr/>
        </p:nvSpPr>
        <p:spPr>
          <a:xfrm>
            <a:off x="822960" y="5742432"/>
            <a:ext cx="5120640" cy="274320"/>
          </a:xfrm>
          <a:prstGeom prst="rect">
            <a:avLst/>
          </a:prstGeom>
          <a:noFill/>
          <a:ln/>
        </p:spPr>
        <p:txBody>
          <a:bodyPr wrap="square" rtlCol="0" anchor="ctr"/>
          <a:lstStyle/>
          <a:p>
            <a:pPr indent="0" marL="0">
              <a:buNone/>
            </a:pPr>
            <a:r>
              <a:rPr lang="en-US" sz="1250" dirty="0">
                <a:solidFill>
                  <a:srgbClr val="AFD3EC"/>
                </a:solidFill>
                <a:latin typeface="Calibri" pitchFamily="34" charset="0"/>
                <a:ea typeface="Calibri" pitchFamily="34" charset="-122"/>
                <a:cs typeface="Calibri" pitchFamily="34" charset="-120"/>
              </a:rPr>
              <a:t>Registration No. 33053/2025</a:t>
            </a:r>
            <a:endParaRPr lang="en-US" sz="1250" dirty="0"/>
          </a:p>
        </p:txBody>
      </p:sp>
      <p:sp>
        <p:nvSpPr>
          <p:cNvPr id="26" name="Text 18"/>
          <p:cNvSpPr/>
          <p:nvPr/>
        </p:nvSpPr>
        <p:spPr>
          <a:xfrm>
            <a:off x="6035040" y="5394960"/>
            <a:ext cx="3108960" cy="219456"/>
          </a:xfrm>
          <a:prstGeom prst="rect">
            <a:avLst/>
          </a:prstGeom>
          <a:noFill/>
          <a:ln/>
        </p:spPr>
        <p:txBody>
          <a:bodyPr wrap="square" rtlCol="0" anchor="ctr"/>
          <a:lstStyle/>
          <a:p>
            <a:pPr indent="0" marL="0">
              <a:buNone/>
            </a:pPr>
            <a:r>
              <a:rPr lang="en-US" sz="950" b="1" spc="100" kern="0" dirty="0">
                <a:solidFill>
                  <a:srgbClr val="6FA0CC"/>
                </a:solidFill>
                <a:latin typeface="Calibri" pitchFamily="34" charset="0"/>
                <a:ea typeface="Calibri" pitchFamily="34" charset="-122"/>
                <a:cs typeface="Calibri" pitchFamily="34" charset="-120"/>
              </a:rPr>
              <a:t>INSTITUTION</a:t>
            </a:r>
            <a:endParaRPr lang="en-US" sz="950" dirty="0"/>
          </a:p>
        </p:txBody>
      </p:sp>
      <p:sp>
        <p:nvSpPr>
          <p:cNvPr id="27" name="Text 19"/>
          <p:cNvSpPr/>
          <p:nvPr/>
        </p:nvSpPr>
        <p:spPr>
          <a:xfrm>
            <a:off x="6035040" y="5614416"/>
            <a:ext cx="3108960" cy="502920"/>
          </a:xfrm>
          <a:prstGeom prst="rect">
            <a:avLst/>
          </a:prstGeom>
          <a:noFill/>
          <a:ln/>
        </p:spPr>
        <p:txBody>
          <a:bodyPr wrap="square" rtlCol="0" anchor="t"/>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University of Lay Adventists</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of Kigali (UNILAK)</a:t>
            </a:r>
            <a:endParaRPr lang="en-US" sz="1150" dirty="0"/>
          </a:p>
        </p:txBody>
      </p:sp>
      <p:sp>
        <p:nvSpPr>
          <p:cNvPr id="28" name="Text 20"/>
          <p:cNvSpPr/>
          <p:nvPr/>
        </p:nvSpPr>
        <p:spPr>
          <a:xfrm>
            <a:off x="9189720" y="5394960"/>
            <a:ext cx="1234440" cy="219456"/>
          </a:xfrm>
          <a:prstGeom prst="rect">
            <a:avLst/>
          </a:prstGeom>
          <a:noFill/>
          <a:ln/>
        </p:spPr>
        <p:txBody>
          <a:bodyPr wrap="square" rtlCol="0" anchor="ctr"/>
          <a:lstStyle/>
          <a:p>
            <a:pPr indent="0" marL="0">
              <a:buNone/>
            </a:pPr>
            <a:r>
              <a:rPr lang="en-US" sz="950" b="1" spc="100" kern="0" dirty="0">
                <a:solidFill>
                  <a:srgbClr val="6FA0CC"/>
                </a:solidFill>
                <a:latin typeface="Calibri" pitchFamily="34" charset="0"/>
                <a:ea typeface="Calibri" pitchFamily="34" charset="-122"/>
                <a:cs typeface="Calibri" pitchFamily="34" charset="-120"/>
              </a:rPr>
              <a:t>LECTURER</a:t>
            </a:r>
            <a:endParaRPr lang="en-US" sz="950" dirty="0"/>
          </a:p>
        </p:txBody>
      </p:sp>
      <p:sp>
        <p:nvSpPr>
          <p:cNvPr id="29" name="Text 21"/>
          <p:cNvSpPr/>
          <p:nvPr/>
        </p:nvSpPr>
        <p:spPr>
          <a:xfrm>
            <a:off x="9189720" y="5614416"/>
            <a:ext cx="1234440" cy="365760"/>
          </a:xfrm>
          <a:prstGeom prst="rect">
            <a:avLst/>
          </a:prstGeom>
          <a:noFill/>
          <a:ln/>
        </p:spPr>
        <p:txBody>
          <a:bodyPr wrap="square" rtlCol="0" anchor="t"/>
          <a:lstStyle/>
          <a:p>
            <a:pPr indent="0" marL="0">
              <a:buNone/>
            </a:pPr>
            <a:r>
              <a:rPr lang="en-US" sz="1050" dirty="0">
                <a:solidFill>
                  <a:srgbClr val="FFFFFF"/>
                </a:solidFill>
                <a:latin typeface="Calibri" pitchFamily="34" charset="0"/>
                <a:ea typeface="Calibri" pitchFamily="34" charset="-122"/>
                <a:cs typeface="Calibri" pitchFamily="34" charset="-120"/>
              </a:rPr>
              <a:t>[Lecturer Name]</a:t>
            </a:r>
            <a:endParaRPr lang="en-US" sz="1050" dirty="0"/>
          </a:p>
        </p:txBody>
      </p:sp>
      <p:sp>
        <p:nvSpPr>
          <p:cNvPr id="30" name="Text 22"/>
          <p:cNvSpPr/>
          <p:nvPr/>
        </p:nvSpPr>
        <p:spPr>
          <a:xfrm>
            <a:off x="10469880" y="5394960"/>
            <a:ext cx="1234440" cy="219456"/>
          </a:xfrm>
          <a:prstGeom prst="rect">
            <a:avLst/>
          </a:prstGeom>
          <a:noFill/>
          <a:ln/>
        </p:spPr>
        <p:txBody>
          <a:bodyPr wrap="square" rtlCol="0" anchor="ctr"/>
          <a:lstStyle/>
          <a:p>
            <a:pPr indent="0" marL="0">
              <a:buNone/>
            </a:pPr>
            <a:r>
              <a:rPr lang="en-US" sz="950" b="1" spc="100" kern="0" dirty="0">
                <a:solidFill>
                  <a:srgbClr val="6FA0CC"/>
                </a:solidFill>
                <a:latin typeface="Calibri" pitchFamily="34" charset="0"/>
                <a:ea typeface="Calibri" pitchFamily="34" charset="-122"/>
                <a:cs typeface="Calibri" pitchFamily="34" charset="-120"/>
              </a:rPr>
              <a:t>SUBMISSION DATE</a:t>
            </a:r>
            <a:endParaRPr lang="en-US" sz="950" dirty="0"/>
          </a:p>
        </p:txBody>
      </p:sp>
      <p:sp>
        <p:nvSpPr>
          <p:cNvPr id="31" name="Text 23"/>
          <p:cNvSpPr/>
          <p:nvPr/>
        </p:nvSpPr>
        <p:spPr>
          <a:xfrm>
            <a:off x="10469880" y="5614416"/>
            <a:ext cx="1234440" cy="365760"/>
          </a:xfrm>
          <a:prstGeom prst="rect">
            <a:avLst/>
          </a:prstGeom>
          <a:noFill/>
          <a:ln/>
        </p:spPr>
        <p:txBody>
          <a:bodyPr wrap="square" rtlCol="0" anchor="t"/>
          <a:lstStyle/>
          <a:p>
            <a:pPr indent="0" marL="0">
              <a:buNone/>
            </a:pPr>
            <a:r>
              <a:rPr lang="en-US" sz="1050" dirty="0">
                <a:solidFill>
                  <a:srgbClr val="FFFFFF"/>
                </a:solidFill>
                <a:latin typeface="Calibri" pitchFamily="34" charset="0"/>
                <a:ea typeface="Calibri" pitchFamily="34" charset="-122"/>
                <a:cs typeface="Calibri" pitchFamily="34" charset="-120"/>
              </a:rPr>
              <a:t>15 July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Table of Contents</a:t>
            </a:r>
            <a:endParaRPr lang="en-US" sz="3000" dirty="0"/>
          </a:p>
        </p:txBody>
      </p:sp>
      <p:sp>
        <p:nvSpPr>
          <p:cNvPr id="4" name="Shape 2"/>
          <p:cNvSpPr/>
          <p:nvPr/>
        </p:nvSpPr>
        <p:spPr>
          <a:xfrm>
            <a:off x="502920" y="1444752"/>
            <a:ext cx="365760" cy="365760"/>
          </a:xfrm>
          <a:prstGeom prst="roundRect">
            <a:avLst>
              <a:gd name="adj" fmla="val 15000"/>
            </a:avLst>
          </a:prstGeom>
          <a:solidFill>
            <a:srgbClr val="13294B"/>
          </a:solidFill>
          <a:ln/>
        </p:spPr>
      </p:sp>
      <p:sp>
        <p:nvSpPr>
          <p:cNvPr id="5" name="Text 3"/>
          <p:cNvSpPr/>
          <p:nvPr/>
        </p:nvSpPr>
        <p:spPr>
          <a:xfrm>
            <a:off x="502920" y="144475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pic>
        <p:nvPicPr>
          <p:cNvPr id="6" name="Image 0" descr="/home/claude/wms_deck/assets/icons/bullseye_accent.png">    </p:cNvPr>
          <p:cNvPicPr>
            <a:picLocks noChangeAspect="1"/>
          </p:cNvPicPr>
          <p:nvPr/>
        </p:nvPicPr>
        <p:blipFill>
          <a:blip r:embed="rId1"/>
          <a:stretch>
            <a:fillRect/>
          </a:stretch>
        </p:blipFill>
        <p:spPr>
          <a:xfrm>
            <a:off x="1005840" y="1481328"/>
            <a:ext cx="292608" cy="292608"/>
          </a:xfrm>
          <a:prstGeom prst="rect">
            <a:avLst/>
          </a:prstGeom>
        </p:spPr>
      </p:pic>
      <p:sp>
        <p:nvSpPr>
          <p:cNvPr id="7" name="Text 4"/>
          <p:cNvSpPr/>
          <p:nvPr/>
        </p:nvSpPr>
        <p:spPr>
          <a:xfrm>
            <a:off x="1417320" y="1417320"/>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Introduction</a:t>
            </a:r>
            <a:endParaRPr lang="en-US" sz="1400" dirty="0"/>
          </a:p>
        </p:txBody>
      </p:sp>
      <p:sp>
        <p:nvSpPr>
          <p:cNvPr id="8" name="Shape 5"/>
          <p:cNvSpPr/>
          <p:nvPr/>
        </p:nvSpPr>
        <p:spPr>
          <a:xfrm>
            <a:off x="502920" y="2011680"/>
            <a:ext cx="365760" cy="365760"/>
          </a:xfrm>
          <a:prstGeom prst="roundRect">
            <a:avLst>
              <a:gd name="adj" fmla="val 15000"/>
            </a:avLst>
          </a:prstGeom>
          <a:solidFill>
            <a:srgbClr val="13294B"/>
          </a:solidFill>
          <a:ln/>
        </p:spPr>
      </p:sp>
      <p:sp>
        <p:nvSpPr>
          <p:cNvPr id="9" name="Text 6"/>
          <p:cNvSpPr/>
          <p:nvPr/>
        </p:nvSpPr>
        <p:spPr>
          <a:xfrm>
            <a:off x="502920" y="201168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pic>
        <p:nvPicPr>
          <p:cNvPr id="10" name="Image 1" descr="/home/claude/wms_deck/assets/icons/exclamation_accent.png">    </p:cNvPr>
          <p:cNvPicPr>
            <a:picLocks noChangeAspect="1"/>
          </p:cNvPicPr>
          <p:nvPr/>
        </p:nvPicPr>
        <p:blipFill>
          <a:blip r:embed="rId2"/>
          <a:stretch>
            <a:fillRect/>
          </a:stretch>
        </p:blipFill>
        <p:spPr>
          <a:xfrm>
            <a:off x="1005840" y="2048256"/>
            <a:ext cx="292608" cy="292608"/>
          </a:xfrm>
          <a:prstGeom prst="rect">
            <a:avLst/>
          </a:prstGeom>
        </p:spPr>
      </p:pic>
      <p:sp>
        <p:nvSpPr>
          <p:cNvPr id="11" name="Text 7"/>
          <p:cNvSpPr/>
          <p:nvPr/>
        </p:nvSpPr>
        <p:spPr>
          <a:xfrm>
            <a:off x="1417320" y="1984248"/>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Problem Statement</a:t>
            </a:r>
            <a:endParaRPr lang="en-US" sz="1400" dirty="0"/>
          </a:p>
        </p:txBody>
      </p:sp>
      <p:sp>
        <p:nvSpPr>
          <p:cNvPr id="12" name="Shape 8"/>
          <p:cNvSpPr/>
          <p:nvPr/>
        </p:nvSpPr>
        <p:spPr>
          <a:xfrm>
            <a:off x="502920" y="2578608"/>
            <a:ext cx="365760" cy="365760"/>
          </a:xfrm>
          <a:prstGeom prst="roundRect">
            <a:avLst>
              <a:gd name="adj" fmla="val 15000"/>
            </a:avLst>
          </a:prstGeom>
          <a:solidFill>
            <a:srgbClr val="13294B"/>
          </a:solidFill>
          <a:ln/>
        </p:spPr>
      </p:sp>
      <p:sp>
        <p:nvSpPr>
          <p:cNvPr id="13" name="Text 9"/>
          <p:cNvSpPr/>
          <p:nvPr/>
        </p:nvSpPr>
        <p:spPr>
          <a:xfrm>
            <a:off x="502920" y="257860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pic>
        <p:nvPicPr>
          <p:cNvPr id="14" name="Image 2" descr="/home/claude/wms_deck/assets/icons/bullseye_accent.png">    </p:cNvPr>
          <p:cNvPicPr>
            <a:picLocks noChangeAspect="1"/>
          </p:cNvPicPr>
          <p:nvPr/>
        </p:nvPicPr>
        <p:blipFill>
          <a:blip r:embed="rId3"/>
          <a:stretch>
            <a:fillRect/>
          </a:stretch>
        </p:blipFill>
        <p:spPr>
          <a:xfrm>
            <a:off x="1005840" y="2615184"/>
            <a:ext cx="292608" cy="292608"/>
          </a:xfrm>
          <a:prstGeom prst="rect">
            <a:avLst/>
          </a:prstGeom>
        </p:spPr>
      </p:pic>
      <p:sp>
        <p:nvSpPr>
          <p:cNvPr id="15" name="Text 10"/>
          <p:cNvSpPr/>
          <p:nvPr/>
        </p:nvSpPr>
        <p:spPr>
          <a:xfrm>
            <a:off x="1417320" y="2551176"/>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Project Objectives</a:t>
            </a:r>
            <a:endParaRPr lang="en-US" sz="1400" dirty="0"/>
          </a:p>
        </p:txBody>
      </p:sp>
      <p:sp>
        <p:nvSpPr>
          <p:cNvPr id="16" name="Shape 11"/>
          <p:cNvSpPr/>
          <p:nvPr/>
        </p:nvSpPr>
        <p:spPr>
          <a:xfrm>
            <a:off x="502920" y="3145536"/>
            <a:ext cx="365760" cy="365760"/>
          </a:xfrm>
          <a:prstGeom prst="roundRect">
            <a:avLst>
              <a:gd name="adj" fmla="val 15000"/>
            </a:avLst>
          </a:prstGeom>
          <a:solidFill>
            <a:srgbClr val="13294B"/>
          </a:solidFill>
          <a:ln/>
        </p:spPr>
      </p:sp>
      <p:sp>
        <p:nvSpPr>
          <p:cNvPr id="17" name="Text 12"/>
          <p:cNvSpPr/>
          <p:nvPr/>
        </p:nvSpPr>
        <p:spPr>
          <a:xfrm>
            <a:off x="502920" y="3145536"/>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pic>
        <p:nvPicPr>
          <p:cNvPr id="18" name="Image 3" descr="/home/claude/wms_deck/assets/icons/clipboardList_accent.png">    </p:cNvPr>
          <p:cNvPicPr>
            <a:picLocks noChangeAspect="1"/>
          </p:cNvPicPr>
          <p:nvPr/>
        </p:nvPicPr>
        <p:blipFill>
          <a:blip r:embed="rId4"/>
          <a:stretch>
            <a:fillRect/>
          </a:stretch>
        </p:blipFill>
        <p:spPr>
          <a:xfrm>
            <a:off x="1005840" y="3182112"/>
            <a:ext cx="292608" cy="292608"/>
          </a:xfrm>
          <a:prstGeom prst="rect">
            <a:avLst/>
          </a:prstGeom>
        </p:spPr>
      </p:pic>
      <p:sp>
        <p:nvSpPr>
          <p:cNvPr id="19" name="Text 13"/>
          <p:cNvSpPr/>
          <p:nvPr/>
        </p:nvSpPr>
        <p:spPr>
          <a:xfrm>
            <a:off x="1417320" y="3118104"/>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System Requirements</a:t>
            </a:r>
            <a:endParaRPr lang="en-US" sz="1400" dirty="0"/>
          </a:p>
        </p:txBody>
      </p:sp>
      <p:sp>
        <p:nvSpPr>
          <p:cNvPr id="20" name="Shape 14"/>
          <p:cNvSpPr/>
          <p:nvPr/>
        </p:nvSpPr>
        <p:spPr>
          <a:xfrm>
            <a:off x="502920" y="3712464"/>
            <a:ext cx="365760" cy="365760"/>
          </a:xfrm>
          <a:prstGeom prst="roundRect">
            <a:avLst>
              <a:gd name="adj" fmla="val 15000"/>
            </a:avLst>
          </a:prstGeom>
          <a:solidFill>
            <a:srgbClr val="13294B"/>
          </a:solidFill>
          <a:ln/>
        </p:spPr>
      </p:sp>
      <p:sp>
        <p:nvSpPr>
          <p:cNvPr id="21" name="Text 15"/>
          <p:cNvSpPr/>
          <p:nvPr/>
        </p:nvSpPr>
        <p:spPr>
          <a:xfrm>
            <a:off x="502920" y="371246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pic>
        <p:nvPicPr>
          <p:cNvPr id="22" name="Image 4" descr="/home/claude/wms_deck/assets/icons/network_accent.png">    </p:cNvPr>
          <p:cNvPicPr>
            <a:picLocks noChangeAspect="1"/>
          </p:cNvPicPr>
          <p:nvPr/>
        </p:nvPicPr>
        <p:blipFill>
          <a:blip r:embed="rId5"/>
          <a:stretch>
            <a:fillRect/>
          </a:stretch>
        </p:blipFill>
        <p:spPr>
          <a:xfrm>
            <a:off x="1005840" y="3749040"/>
            <a:ext cx="292608" cy="292608"/>
          </a:xfrm>
          <a:prstGeom prst="rect">
            <a:avLst/>
          </a:prstGeom>
        </p:spPr>
      </p:pic>
      <p:sp>
        <p:nvSpPr>
          <p:cNvPr id="23" name="Text 16"/>
          <p:cNvSpPr/>
          <p:nvPr/>
        </p:nvSpPr>
        <p:spPr>
          <a:xfrm>
            <a:off x="1417320" y="3685032"/>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Data Flow Diagram</a:t>
            </a:r>
            <a:endParaRPr lang="en-US" sz="1400" dirty="0"/>
          </a:p>
        </p:txBody>
      </p:sp>
      <p:sp>
        <p:nvSpPr>
          <p:cNvPr id="24" name="Shape 17"/>
          <p:cNvSpPr/>
          <p:nvPr/>
        </p:nvSpPr>
        <p:spPr>
          <a:xfrm>
            <a:off x="502920" y="4279392"/>
            <a:ext cx="365760" cy="365760"/>
          </a:xfrm>
          <a:prstGeom prst="roundRect">
            <a:avLst>
              <a:gd name="adj" fmla="val 15000"/>
            </a:avLst>
          </a:prstGeom>
          <a:solidFill>
            <a:srgbClr val="13294B"/>
          </a:solidFill>
          <a:ln/>
        </p:spPr>
      </p:sp>
      <p:sp>
        <p:nvSpPr>
          <p:cNvPr id="25" name="Text 18"/>
          <p:cNvSpPr/>
          <p:nvPr/>
        </p:nvSpPr>
        <p:spPr>
          <a:xfrm>
            <a:off x="502920" y="427939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pic>
        <p:nvPicPr>
          <p:cNvPr id="26" name="Image 5" descr="/home/claude/wms_deck/assets/icons/database_accent.png">    </p:cNvPr>
          <p:cNvPicPr>
            <a:picLocks noChangeAspect="1"/>
          </p:cNvPicPr>
          <p:nvPr/>
        </p:nvPicPr>
        <p:blipFill>
          <a:blip r:embed="rId6"/>
          <a:stretch>
            <a:fillRect/>
          </a:stretch>
        </p:blipFill>
        <p:spPr>
          <a:xfrm>
            <a:off x="1005840" y="4315968"/>
            <a:ext cx="292608" cy="292608"/>
          </a:xfrm>
          <a:prstGeom prst="rect">
            <a:avLst/>
          </a:prstGeom>
        </p:spPr>
      </p:pic>
      <p:sp>
        <p:nvSpPr>
          <p:cNvPr id="27" name="Text 19"/>
          <p:cNvSpPr/>
          <p:nvPr/>
        </p:nvSpPr>
        <p:spPr>
          <a:xfrm>
            <a:off x="1417320" y="4251960"/>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Database Design</a:t>
            </a:r>
            <a:endParaRPr lang="en-US" sz="1400" dirty="0"/>
          </a:p>
        </p:txBody>
      </p:sp>
      <p:sp>
        <p:nvSpPr>
          <p:cNvPr id="28" name="Shape 20"/>
          <p:cNvSpPr/>
          <p:nvPr/>
        </p:nvSpPr>
        <p:spPr>
          <a:xfrm>
            <a:off x="502920" y="4846320"/>
            <a:ext cx="365760" cy="365760"/>
          </a:xfrm>
          <a:prstGeom prst="roundRect">
            <a:avLst>
              <a:gd name="adj" fmla="val 15000"/>
            </a:avLst>
          </a:prstGeom>
          <a:solidFill>
            <a:srgbClr val="13294B"/>
          </a:solidFill>
          <a:ln/>
        </p:spPr>
      </p:sp>
      <p:sp>
        <p:nvSpPr>
          <p:cNvPr id="29" name="Text 21"/>
          <p:cNvSpPr/>
          <p:nvPr/>
        </p:nvSpPr>
        <p:spPr>
          <a:xfrm>
            <a:off x="502920" y="48463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pic>
        <p:nvPicPr>
          <p:cNvPr id="30" name="Image 6" descr="/home/claude/wms_deck/assets/icons/table_accent.png">    </p:cNvPr>
          <p:cNvPicPr>
            <a:picLocks noChangeAspect="1"/>
          </p:cNvPicPr>
          <p:nvPr/>
        </p:nvPicPr>
        <p:blipFill>
          <a:blip r:embed="rId7"/>
          <a:stretch>
            <a:fillRect/>
          </a:stretch>
        </p:blipFill>
        <p:spPr>
          <a:xfrm>
            <a:off x="1005840" y="4882896"/>
            <a:ext cx="292608" cy="292608"/>
          </a:xfrm>
          <a:prstGeom prst="rect">
            <a:avLst/>
          </a:prstGeom>
        </p:spPr>
      </p:pic>
      <p:sp>
        <p:nvSpPr>
          <p:cNvPr id="31" name="Text 22"/>
          <p:cNvSpPr/>
          <p:nvPr/>
        </p:nvSpPr>
        <p:spPr>
          <a:xfrm>
            <a:off x="1417320" y="4818888"/>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Database Tables</a:t>
            </a:r>
            <a:endParaRPr lang="en-US" sz="1400" dirty="0"/>
          </a:p>
        </p:txBody>
      </p:sp>
      <p:sp>
        <p:nvSpPr>
          <p:cNvPr id="32" name="Shape 23"/>
          <p:cNvSpPr/>
          <p:nvPr/>
        </p:nvSpPr>
        <p:spPr>
          <a:xfrm>
            <a:off x="502920" y="5413248"/>
            <a:ext cx="365760" cy="365760"/>
          </a:xfrm>
          <a:prstGeom prst="roundRect">
            <a:avLst>
              <a:gd name="adj" fmla="val 15000"/>
            </a:avLst>
          </a:prstGeom>
          <a:solidFill>
            <a:srgbClr val="13294B"/>
          </a:solidFill>
          <a:ln/>
        </p:spPr>
      </p:sp>
      <p:sp>
        <p:nvSpPr>
          <p:cNvPr id="33" name="Text 24"/>
          <p:cNvSpPr/>
          <p:nvPr/>
        </p:nvSpPr>
        <p:spPr>
          <a:xfrm>
            <a:off x="502920" y="541324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pic>
        <p:nvPicPr>
          <p:cNvPr id="34" name="Image 7" descr="/home/claude/wms_deck/assets/icons/sitemap_accent.png">    </p:cNvPr>
          <p:cNvPicPr>
            <a:picLocks noChangeAspect="1"/>
          </p:cNvPicPr>
          <p:nvPr/>
        </p:nvPicPr>
        <p:blipFill>
          <a:blip r:embed="rId8"/>
          <a:stretch>
            <a:fillRect/>
          </a:stretch>
        </p:blipFill>
        <p:spPr>
          <a:xfrm>
            <a:off x="1005840" y="5449824"/>
            <a:ext cx="292608" cy="292608"/>
          </a:xfrm>
          <a:prstGeom prst="rect">
            <a:avLst/>
          </a:prstGeom>
        </p:spPr>
      </p:pic>
      <p:sp>
        <p:nvSpPr>
          <p:cNvPr id="35" name="Text 25"/>
          <p:cNvSpPr/>
          <p:nvPr/>
        </p:nvSpPr>
        <p:spPr>
          <a:xfrm>
            <a:off x="1417320" y="5385816"/>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Entity Relationship Diagram</a:t>
            </a:r>
            <a:endParaRPr lang="en-US" sz="1400" dirty="0"/>
          </a:p>
        </p:txBody>
      </p:sp>
      <p:sp>
        <p:nvSpPr>
          <p:cNvPr id="36" name="Shape 26"/>
          <p:cNvSpPr/>
          <p:nvPr/>
        </p:nvSpPr>
        <p:spPr>
          <a:xfrm>
            <a:off x="6324448" y="1444752"/>
            <a:ext cx="365760" cy="365760"/>
          </a:xfrm>
          <a:prstGeom prst="roundRect">
            <a:avLst>
              <a:gd name="adj" fmla="val 15000"/>
            </a:avLst>
          </a:prstGeom>
          <a:solidFill>
            <a:srgbClr val="13294B"/>
          </a:solidFill>
          <a:ln/>
        </p:spPr>
      </p:sp>
      <p:sp>
        <p:nvSpPr>
          <p:cNvPr id="37" name="Text 27"/>
          <p:cNvSpPr/>
          <p:nvPr/>
        </p:nvSpPr>
        <p:spPr>
          <a:xfrm>
            <a:off x="6324448" y="144475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pic>
        <p:nvPicPr>
          <p:cNvPr id="38" name="Image 8" descr="/home/claude/wms_deck/assets/icons/code_accent.png">    </p:cNvPr>
          <p:cNvPicPr>
            <a:picLocks noChangeAspect="1"/>
          </p:cNvPicPr>
          <p:nvPr/>
        </p:nvPicPr>
        <p:blipFill>
          <a:blip r:embed="rId9"/>
          <a:stretch>
            <a:fillRect/>
          </a:stretch>
        </p:blipFill>
        <p:spPr>
          <a:xfrm>
            <a:off x="6827368" y="1481328"/>
            <a:ext cx="292608" cy="292608"/>
          </a:xfrm>
          <a:prstGeom prst="rect">
            <a:avLst/>
          </a:prstGeom>
        </p:spPr>
      </p:pic>
      <p:sp>
        <p:nvSpPr>
          <p:cNvPr id="39" name="Text 28"/>
          <p:cNvSpPr/>
          <p:nvPr/>
        </p:nvSpPr>
        <p:spPr>
          <a:xfrm>
            <a:off x="7238848" y="1417320"/>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SQL Implementation</a:t>
            </a:r>
            <a:endParaRPr lang="en-US" sz="1400" dirty="0"/>
          </a:p>
        </p:txBody>
      </p:sp>
      <p:sp>
        <p:nvSpPr>
          <p:cNvPr id="40" name="Shape 29"/>
          <p:cNvSpPr/>
          <p:nvPr/>
        </p:nvSpPr>
        <p:spPr>
          <a:xfrm>
            <a:off x="6324448" y="2011680"/>
            <a:ext cx="365760" cy="365760"/>
          </a:xfrm>
          <a:prstGeom prst="roundRect">
            <a:avLst>
              <a:gd name="adj" fmla="val 15000"/>
            </a:avLst>
          </a:prstGeom>
          <a:solidFill>
            <a:srgbClr val="13294B"/>
          </a:solidFill>
          <a:ln/>
        </p:spPr>
      </p:sp>
      <p:sp>
        <p:nvSpPr>
          <p:cNvPr id="41" name="Text 30"/>
          <p:cNvSpPr/>
          <p:nvPr/>
        </p:nvSpPr>
        <p:spPr>
          <a:xfrm>
            <a:off x="6324448" y="201168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pic>
        <p:nvPicPr>
          <p:cNvPr id="42" name="Image 9" descr="/home/claude/wms_deck/assets/icons/terminal_accent.png">    </p:cNvPr>
          <p:cNvPicPr>
            <a:picLocks noChangeAspect="1"/>
          </p:cNvPicPr>
          <p:nvPr/>
        </p:nvPicPr>
        <p:blipFill>
          <a:blip r:embed="rId10"/>
          <a:stretch>
            <a:fillRect/>
          </a:stretch>
        </p:blipFill>
        <p:spPr>
          <a:xfrm>
            <a:off x="6827368" y="2048256"/>
            <a:ext cx="292608" cy="292608"/>
          </a:xfrm>
          <a:prstGeom prst="rect">
            <a:avLst/>
          </a:prstGeom>
        </p:spPr>
      </p:pic>
      <p:sp>
        <p:nvSpPr>
          <p:cNvPr id="43" name="Text 31"/>
          <p:cNvSpPr/>
          <p:nvPr/>
        </p:nvSpPr>
        <p:spPr>
          <a:xfrm>
            <a:off x="7238848" y="1984248"/>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PL/SQL Implementation</a:t>
            </a:r>
            <a:endParaRPr lang="en-US" sz="1400" dirty="0"/>
          </a:p>
        </p:txBody>
      </p:sp>
      <p:sp>
        <p:nvSpPr>
          <p:cNvPr id="44" name="Shape 32"/>
          <p:cNvSpPr/>
          <p:nvPr/>
        </p:nvSpPr>
        <p:spPr>
          <a:xfrm>
            <a:off x="6324448" y="2578608"/>
            <a:ext cx="365760" cy="365760"/>
          </a:xfrm>
          <a:prstGeom prst="roundRect">
            <a:avLst>
              <a:gd name="adj" fmla="val 15000"/>
            </a:avLst>
          </a:prstGeom>
          <a:solidFill>
            <a:srgbClr val="13294B"/>
          </a:solidFill>
          <a:ln/>
        </p:spPr>
      </p:sp>
      <p:sp>
        <p:nvSpPr>
          <p:cNvPr id="45" name="Text 33"/>
          <p:cNvSpPr/>
          <p:nvPr/>
        </p:nvSpPr>
        <p:spPr>
          <a:xfrm>
            <a:off x="6324448" y="257860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pic>
        <p:nvPicPr>
          <p:cNvPr id="46" name="Image 10" descr="/home/claude/wms_deck/assets/icons/chartBar_accent.png">    </p:cNvPr>
          <p:cNvPicPr>
            <a:picLocks noChangeAspect="1"/>
          </p:cNvPicPr>
          <p:nvPr/>
        </p:nvPicPr>
        <p:blipFill>
          <a:blip r:embed="rId11"/>
          <a:stretch>
            <a:fillRect/>
          </a:stretch>
        </p:blipFill>
        <p:spPr>
          <a:xfrm>
            <a:off x="6827368" y="2615184"/>
            <a:ext cx="292608" cy="292608"/>
          </a:xfrm>
          <a:prstGeom prst="rect">
            <a:avLst/>
          </a:prstGeom>
        </p:spPr>
      </p:pic>
      <p:sp>
        <p:nvSpPr>
          <p:cNvPr id="47" name="Text 34"/>
          <p:cNvSpPr/>
          <p:nvPr/>
        </p:nvSpPr>
        <p:spPr>
          <a:xfrm>
            <a:off x="7238848" y="2551176"/>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Reports</a:t>
            </a:r>
            <a:endParaRPr lang="en-US" sz="1400" dirty="0"/>
          </a:p>
        </p:txBody>
      </p:sp>
      <p:sp>
        <p:nvSpPr>
          <p:cNvPr id="48" name="Shape 35"/>
          <p:cNvSpPr/>
          <p:nvPr/>
        </p:nvSpPr>
        <p:spPr>
          <a:xfrm>
            <a:off x="6324448" y="3145536"/>
            <a:ext cx="365760" cy="365760"/>
          </a:xfrm>
          <a:prstGeom prst="roundRect">
            <a:avLst>
              <a:gd name="adj" fmla="val 15000"/>
            </a:avLst>
          </a:prstGeom>
          <a:solidFill>
            <a:srgbClr val="13294B"/>
          </a:solidFill>
          <a:ln/>
        </p:spPr>
      </p:sp>
      <p:sp>
        <p:nvSpPr>
          <p:cNvPr id="49" name="Text 36"/>
          <p:cNvSpPr/>
          <p:nvPr/>
        </p:nvSpPr>
        <p:spPr>
          <a:xfrm>
            <a:off x="6324448" y="3145536"/>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pic>
        <p:nvPicPr>
          <p:cNvPr id="50" name="Image 11" descr="/home/claude/wms_deck/assets/icons/camera_accent.png">    </p:cNvPr>
          <p:cNvPicPr>
            <a:picLocks noChangeAspect="1"/>
          </p:cNvPicPr>
          <p:nvPr/>
        </p:nvPicPr>
        <p:blipFill>
          <a:blip r:embed="rId12"/>
          <a:stretch>
            <a:fillRect/>
          </a:stretch>
        </p:blipFill>
        <p:spPr>
          <a:xfrm>
            <a:off x="6827368" y="3182112"/>
            <a:ext cx="292608" cy="292608"/>
          </a:xfrm>
          <a:prstGeom prst="rect">
            <a:avLst/>
          </a:prstGeom>
        </p:spPr>
      </p:pic>
      <p:sp>
        <p:nvSpPr>
          <p:cNvPr id="51" name="Text 37"/>
          <p:cNvSpPr/>
          <p:nvPr/>
        </p:nvSpPr>
        <p:spPr>
          <a:xfrm>
            <a:off x="7238848" y="3118104"/>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Oracle SQL Developer Output</a:t>
            </a:r>
            <a:endParaRPr lang="en-US" sz="1400" dirty="0"/>
          </a:p>
        </p:txBody>
      </p:sp>
      <p:sp>
        <p:nvSpPr>
          <p:cNvPr id="52" name="Shape 38"/>
          <p:cNvSpPr/>
          <p:nvPr/>
        </p:nvSpPr>
        <p:spPr>
          <a:xfrm>
            <a:off x="6324448" y="3712464"/>
            <a:ext cx="365760" cy="365760"/>
          </a:xfrm>
          <a:prstGeom prst="roundRect">
            <a:avLst>
              <a:gd name="adj" fmla="val 15000"/>
            </a:avLst>
          </a:prstGeom>
          <a:solidFill>
            <a:srgbClr val="13294B"/>
          </a:solidFill>
          <a:ln/>
        </p:spPr>
      </p:sp>
      <p:sp>
        <p:nvSpPr>
          <p:cNvPr id="53" name="Text 39"/>
          <p:cNvSpPr/>
          <p:nvPr/>
        </p:nvSpPr>
        <p:spPr>
          <a:xfrm>
            <a:off x="6324448" y="3712464"/>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pic>
        <p:nvPicPr>
          <p:cNvPr id="54" name="Image 12" descr="/home/claude/wms_deck/assets/icons/vial_accent.png">    </p:cNvPr>
          <p:cNvPicPr>
            <a:picLocks noChangeAspect="1"/>
          </p:cNvPicPr>
          <p:nvPr/>
        </p:nvPicPr>
        <p:blipFill>
          <a:blip r:embed="rId13"/>
          <a:stretch>
            <a:fillRect/>
          </a:stretch>
        </p:blipFill>
        <p:spPr>
          <a:xfrm>
            <a:off x="6827368" y="3749040"/>
            <a:ext cx="292608" cy="292608"/>
          </a:xfrm>
          <a:prstGeom prst="rect">
            <a:avLst/>
          </a:prstGeom>
        </p:spPr>
      </p:pic>
      <p:sp>
        <p:nvSpPr>
          <p:cNvPr id="55" name="Text 40"/>
          <p:cNvSpPr/>
          <p:nvPr/>
        </p:nvSpPr>
        <p:spPr>
          <a:xfrm>
            <a:off x="7238848" y="3685032"/>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Testing</a:t>
            </a:r>
            <a:endParaRPr lang="en-US" sz="1400" dirty="0"/>
          </a:p>
        </p:txBody>
      </p:sp>
      <p:sp>
        <p:nvSpPr>
          <p:cNvPr id="56" name="Shape 41"/>
          <p:cNvSpPr/>
          <p:nvPr/>
        </p:nvSpPr>
        <p:spPr>
          <a:xfrm>
            <a:off x="6324448" y="4279392"/>
            <a:ext cx="365760" cy="365760"/>
          </a:xfrm>
          <a:prstGeom prst="roundRect">
            <a:avLst>
              <a:gd name="adj" fmla="val 15000"/>
            </a:avLst>
          </a:prstGeom>
          <a:solidFill>
            <a:srgbClr val="13294B"/>
          </a:solidFill>
          <a:ln/>
        </p:spPr>
      </p:sp>
      <p:sp>
        <p:nvSpPr>
          <p:cNvPr id="57" name="Text 42"/>
          <p:cNvSpPr/>
          <p:nvPr/>
        </p:nvSpPr>
        <p:spPr>
          <a:xfrm>
            <a:off x="6324448" y="4279392"/>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pic>
        <p:nvPicPr>
          <p:cNvPr id="58" name="Image 13" descr="/home/claude/wms_deck/assets/icons/mountain_accent.png">    </p:cNvPr>
          <p:cNvPicPr>
            <a:picLocks noChangeAspect="1"/>
          </p:cNvPicPr>
          <p:nvPr/>
        </p:nvPicPr>
        <p:blipFill>
          <a:blip r:embed="rId14"/>
          <a:stretch>
            <a:fillRect/>
          </a:stretch>
        </p:blipFill>
        <p:spPr>
          <a:xfrm>
            <a:off x="6827368" y="4315968"/>
            <a:ext cx="292608" cy="292608"/>
          </a:xfrm>
          <a:prstGeom prst="rect">
            <a:avLst/>
          </a:prstGeom>
        </p:spPr>
      </p:pic>
      <p:sp>
        <p:nvSpPr>
          <p:cNvPr id="59" name="Text 43"/>
          <p:cNvSpPr/>
          <p:nvPr/>
        </p:nvSpPr>
        <p:spPr>
          <a:xfrm>
            <a:off x="7238848" y="4251960"/>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Challenges</a:t>
            </a:r>
            <a:endParaRPr lang="en-US" sz="1400" dirty="0"/>
          </a:p>
        </p:txBody>
      </p:sp>
      <p:sp>
        <p:nvSpPr>
          <p:cNvPr id="60" name="Shape 44"/>
          <p:cNvSpPr/>
          <p:nvPr/>
        </p:nvSpPr>
        <p:spPr>
          <a:xfrm>
            <a:off x="6324448" y="4846320"/>
            <a:ext cx="365760" cy="365760"/>
          </a:xfrm>
          <a:prstGeom prst="roundRect">
            <a:avLst>
              <a:gd name="adj" fmla="val 15000"/>
            </a:avLst>
          </a:prstGeom>
          <a:solidFill>
            <a:srgbClr val="13294B"/>
          </a:solidFill>
          <a:ln/>
        </p:spPr>
      </p:sp>
      <p:sp>
        <p:nvSpPr>
          <p:cNvPr id="61" name="Text 45"/>
          <p:cNvSpPr/>
          <p:nvPr/>
        </p:nvSpPr>
        <p:spPr>
          <a:xfrm>
            <a:off x="6324448" y="48463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pic>
        <p:nvPicPr>
          <p:cNvPr id="62" name="Image 14" descr="/home/claude/wms_deck/assets/icons/rocket_accent.png">    </p:cNvPr>
          <p:cNvPicPr>
            <a:picLocks noChangeAspect="1"/>
          </p:cNvPicPr>
          <p:nvPr/>
        </p:nvPicPr>
        <p:blipFill>
          <a:blip r:embed="rId15"/>
          <a:stretch>
            <a:fillRect/>
          </a:stretch>
        </p:blipFill>
        <p:spPr>
          <a:xfrm>
            <a:off x="6827368" y="4882896"/>
            <a:ext cx="292608" cy="292608"/>
          </a:xfrm>
          <a:prstGeom prst="rect">
            <a:avLst/>
          </a:prstGeom>
        </p:spPr>
      </p:pic>
      <p:sp>
        <p:nvSpPr>
          <p:cNvPr id="63" name="Text 46"/>
          <p:cNvSpPr/>
          <p:nvPr/>
        </p:nvSpPr>
        <p:spPr>
          <a:xfrm>
            <a:off x="7238848" y="4818888"/>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Future Improvements</a:t>
            </a:r>
            <a:endParaRPr lang="en-US" sz="1400" dirty="0"/>
          </a:p>
        </p:txBody>
      </p:sp>
      <p:sp>
        <p:nvSpPr>
          <p:cNvPr id="64" name="Shape 47"/>
          <p:cNvSpPr/>
          <p:nvPr/>
        </p:nvSpPr>
        <p:spPr>
          <a:xfrm>
            <a:off x="6324448" y="5413248"/>
            <a:ext cx="365760" cy="365760"/>
          </a:xfrm>
          <a:prstGeom prst="roundRect">
            <a:avLst>
              <a:gd name="adj" fmla="val 15000"/>
            </a:avLst>
          </a:prstGeom>
          <a:solidFill>
            <a:srgbClr val="13294B"/>
          </a:solidFill>
          <a:ln/>
        </p:spPr>
      </p:sp>
      <p:sp>
        <p:nvSpPr>
          <p:cNvPr id="65" name="Text 48"/>
          <p:cNvSpPr/>
          <p:nvPr/>
        </p:nvSpPr>
        <p:spPr>
          <a:xfrm>
            <a:off x="6324448" y="5413248"/>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pic>
        <p:nvPicPr>
          <p:cNvPr id="66" name="Image 15" descr="/home/claude/wms_deck/assets/icons/flag_accent.png">    </p:cNvPr>
          <p:cNvPicPr>
            <a:picLocks noChangeAspect="1"/>
          </p:cNvPicPr>
          <p:nvPr/>
        </p:nvPicPr>
        <p:blipFill>
          <a:blip r:embed="rId16"/>
          <a:stretch>
            <a:fillRect/>
          </a:stretch>
        </p:blipFill>
        <p:spPr>
          <a:xfrm>
            <a:off x="6827368" y="5449824"/>
            <a:ext cx="292608" cy="292608"/>
          </a:xfrm>
          <a:prstGeom prst="rect">
            <a:avLst/>
          </a:prstGeom>
        </p:spPr>
      </p:pic>
      <p:sp>
        <p:nvSpPr>
          <p:cNvPr id="67" name="Text 49"/>
          <p:cNvSpPr/>
          <p:nvPr/>
        </p:nvSpPr>
        <p:spPr>
          <a:xfrm>
            <a:off x="7238848" y="5385816"/>
            <a:ext cx="4449928" cy="420624"/>
          </a:xfrm>
          <a:prstGeom prst="rect">
            <a:avLst/>
          </a:prstGeom>
          <a:noFill/>
          <a:ln/>
        </p:spPr>
        <p:txBody>
          <a:bodyPr wrap="square" rtlCol="0" anchor="ctr"/>
          <a:lstStyle/>
          <a:p>
            <a:pPr indent="0" marL="0">
              <a:buNone/>
            </a:pPr>
            <a:r>
              <a:rPr lang="en-US" sz="1400" dirty="0">
                <a:solidFill>
                  <a:srgbClr val="17212E"/>
                </a:solidFill>
                <a:latin typeface="Calibri" pitchFamily="34" charset="0"/>
                <a:ea typeface="Calibri" pitchFamily="34" charset="-122"/>
                <a:cs typeface="Calibri" pitchFamily="34" charset="-120"/>
              </a:rPr>
              <a:t>Conclusion</a:t>
            </a:r>
            <a:endParaRPr lang="en-US" sz="1400" dirty="0"/>
          </a:p>
        </p:txBody>
      </p:sp>
      <p:sp>
        <p:nvSpPr>
          <p:cNvPr id="68" name="Shape 50"/>
          <p:cNvSpPr/>
          <p:nvPr/>
        </p:nvSpPr>
        <p:spPr>
          <a:xfrm>
            <a:off x="11451031" y="6437376"/>
            <a:ext cx="237744" cy="237744"/>
          </a:xfrm>
          <a:prstGeom prst="ellipse">
            <a:avLst/>
          </a:prstGeom>
          <a:solidFill>
            <a:srgbClr val="EEF3F8"/>
          </a:solidFill>
          <a:ln/>
        </p:spPr>
      </p:sp>
      <p:pic>
        <p:nvPicPr>
          <p:cNvPr id="69" name="Image 16" descr="/home/claude/wms_deck/assets/icons/database_navy.png">    </p:cNvPr>
          <p:cNvPicPr>
            <a:picLocks noChangeAspect="1"/>
          </p:cNvPicPr>
          <p:nvPr/>
        </p:nvPicPr>
        <p:blipFill>
          <a:blip r:embed="rId17"/>
          <a:stretch>
            <a:fillRect/>
          </a:stretch>
        </p:blipFill>
        <p:spPr>
          <a:xfrm>
            <a:off x="11515222" y="6501567"/>
            <a:ext cx="109362" cy="109362"/>
          </a:xfrm>
          <a:prstGeom prst="rect">
            <a:avLst/>
          </a:prstGeom>
        </p:spPr>
      </p:pic>
      <p:sp>
        <p:nvSpPr>
          <p:cNvPr id="70" name="Text 51"/>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71" name="Text 52"/>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What Is a Warehouse Management System?</a:t>
            </a:r>
            <a:endParaRPr lang="en-US" sz="3000" dirty="0"/>
          </a:p>
        </p:txBody>
      </p:sp>
      <p:sp>
        <p:nvSpPr>
          <p:cNvPr id="4" name="Text 2"/>
          <p:cNvSpPr/>
          <p:nvPr/>
        </p:nvSpPr>
        <p:spPr>
          <a:xfrm>
            <a:off x="502920" y="1417320"/>
            <a:ext cx="5394960" cy="1097280"/>
          </a:xfrm>
          <a:prstGeom prst="rect">
            <a:avLst/>
          </a:prstGeom>
          <a:noFill/>
          <a:ln/>
        </p:spPr>
        <p:txBody>
          <a:bodyPr wrap="square" rtlCol="0" anchor="t"/>
          <a:lstStyle/>
          <a:p>
            <a:pPr indent="0" marL="0">
              <a:lnSpc>
                <a:spcPct val="125000"/>
              </a:lnSpc>
              <a:buNone/>
            </a:pPr>
            <a:r>
              <a:rPr lang="en-US" sz="1350" dirty="0">
                <a:solidFill>
                  <a:srgbClr val="17212E"/>
                </a:solidFill>
                <a:latin typeface="Calibri" pitchFamily="34" charset="0"/>
                <a:ea typeface="Calibri" pitchFamily="34" charset="-122"/>
                <a:cs typeface="Calibri" pitchFamily="34" charset="-120"/>
              </a:rPr>
              <a:t>A Warehouse Management System (WMS) is a database-driven application that controls and records the day-to-day operations of a warehouse — from goods arriving from suppliers to products being picked, sold, and dispatched to customers.</a:t>
            </a:r>
            <a:endParaRPr lang="en-US" sz="1350" dirty="0"/>
          </a:p>
        </p:txBody>
      </p:sp>
      <p:sp>
        <p:nvSpPr>
          <p:cNvPr id="5" name="Shape 3"/>
          <p:cNvSpPr/>
          <p:nvPr/>
        </p:nvSpPr>
        <p:spPr>
          <a:xfrm>
            <a:off x="502920" y="2697480"/>
            <a:ext cx="310896" cy="310896"/>
          </a:xfrm>
          <a:prstGeom prst="ellipse">
            <a:avLst/>
          </a:prstGeom>
          <a:solidFill>
            <a:srgbClr val="3D8EC9"/>
          </a:solidFill>
          <a:ln/>
        </p:spPr>
      </p:sp>
      <p:pic>
        <p:nvPicPr>
          <p:cNvPr id="6" name="Image 0" descr="/home/claude/wms_deck/assets/icons/checkCircle_white.png">    </p:cNvPr>
          <p:cNvPicPr>
            <a:picLocks noChangeAspect="1"/>
          </p:cNvPicPr>
          <p:nvPr/>
        </p:nvPicPr>
        <p:blipFill>
          <a:blip r:embed="rId1"/>
          <a:stretch>
            <a:fillRect/>
          </a:stretch>
        </p:blipFill>
        <p:spPr>
          <a:xfrm>
            <a:off x="586862" y="2781422"/>
            <a:ext cx="143012" cy="143012"/>
          </a:xfrm>
          <a:prstGeom prst="rect">
            <a:avLst/>
          </a:prstGeom>
        </p:spPr>
      </p:pic>
      <p:sp>
        <p:nvSpPr>
          <p:cNvPr id="7" name="Text 4"/>
          <p:cNvSpPr/>
          <p:nvPr/>
        </p:nvSpPr>
        <p:spPr>
          <a:xfrm>
            <a:off x="923544" y="2642616"/>
            <a:ext cx="5029200" cy="502920"/>
          </a:xfrm>
          <a:prstGeom prst="rect">
            <a:avLst/>
          </a:prstGeom>
          <a:noFill/>
          <a:ln/>
        </p:spPr>
        <p:txBody>
          <a:bodyPr wrap="square" rtlCol="0" anchor="t"/>
          <a:lstStyle/>
          <a:p>
            <a:pPr indent="0" marL="0">
              <a:lnSpc>
                <a:spcPct val="110000"/>
              </a:lnSpc>
              <a:buNone/>
            </a:pPr>
            <a:r>
              <a:rPr lang="en-US" sz="1250" b="1" dirty="0">
                <a:solidFill>
                  <a:srgbClr val="13294B"/>
                </a:solidFill>
                <a:latin typeface="Calibri" pitchFamily="34" charset="0"/>
                <a:ea typeface="Calibri" pitchFamily="34" charset="-122"/>
                <a:cs typeface="Calibri" pitchFamily="34" charset="-120"/>
              </a:rPr>
              <a:t>Accuracy. </a:t>
            </a:r>
            <a:pPr indent="0" marL="0">
              <a:lnSpc>
                <a:spcPct val="110000"/>
              </a:lnSpc>
              <a:buNone/>
            </a:pPr>
            <a:r>
              <a:rPr lang="en-US" sz="1250" dirty="0">
                <a:solidFill>
                  <a:srgbClr val="5B6B7C"/>
                </a:solidFill>
                <a:latin typeface="Calibri" pitchFamily="34" charset="0"/>
                <a:ea typeface="Calibri" pitchFamily="34" charset="-122"/>
                <a:cs typeface="Calibri" pitchFamily="34" charset="-120"/>
              </a:rPr>
              <a:t>Every stock movement is logged as a database transaction, not a paper note.</a:t>
            </a:r>
            <a:endParaRPr lang="en-US" sz="1250" dirty="0"/>
          </a:p>
        </p:txBody>
      </p:sp>
      <p:sp>
        <p:nvSpPr>
          <p:cNvPr id="8" name="Shape 5"/>
          <p:cNvSpPr/>
          <p:nvPr/>
        </p:nvSpPr>
        <p:spPr>
          <a:xfrm>
            <a:off x="502920" y="3355848"/>
            <a:ext cx="310896" cy="310896"/>
          </a:xfrm>
          <a:prstGeom prst="ellipse">
            <a:avLst/>
          </a:prstGeom>
          <a:solidFill>
            <a:srgbClr val="3D8EC9"/>
          </a:solidFill>
          <a:ln/>
        </p:spPr>
      </p:sp>
      <p:pic>
        <p:nvPicPr>
          <p:cNvPr id="9" name="Image 1" descr="/home/claude/wms_deck/assets/icons/checkCircle_white.png">    </p:cNvPr>
          <p:cNvPicPr>
            <a:picLocks noChangeAspect="1"/>
          </p:cNvPicPr>
          <p:nvPr/>
        </p:nvPicPr>
        <p:blipFill>
          <a:blip r:embed="rId2"/>
          <a:stretch>
            <a:fillRect/>
          </a:stretch>
        </p:blipFill>
        <p:spPr>
          <a:xfrm>
            <a:off x="586862" y="3439790"/>
            <a:ext cx="143012" cy="143012"/>
          </a:xfrm>
          <a:prstGeom prst="rect">
            <a:avLst/>
          </a:prstGeom>
        </p:spPr>
      </p:pic>
      <p:sp>
        <p:nvSpPr>
          <p:cNvPr id="10" name="Text 6"/>
          <p:cNvSpPr/>
          <p:nvPr/>
        </p:nvSpPr>
        <p:spPr>
          <a:xfrm>
            <a:off x="923544" y="3300984"/>
            <a:ext cx="5029200" cy="502920"/>
          </a:xfrm>
          <a:prstGeom prst="rect">
            <a:avLst/>
          </a:prstGeom>
          <a:noFill/>
          <a:ln/>
        </p:spPr>
        <p:txBody>
          <a:bodyPr wrap="square" rtlCol="0" anchor="t"/>
          <a:lstStyle/>
          <a:p>
            <a:pPr indent="0" marL="0">
              <a:lnSpc>
                <a:spcPct val="110000"/>
              </a:lnSpc>
              <a:buNone/>
            </a:pPr>
            <a:r>
              <a:rPr lang="en-US" sz="1250" b="1" dirty="0">
                <a:solidFill>
                  <a:srgbClr val="13294B"/>
                </a:solidFill>
                <a:latin typeface="Calibri" pitchFamily="34" charset="0"/>
                <a:ea typeface="Calibri" pitchFamily="34" charset="-122"/>
                <a:cs typeface="Calibri" pitchFamily="34" charset="-120"/>
              </a:rPr>
              <a:t>Efficiency. </a:t>
            </a:r>
            <a:pPr indent="0" marL="0">
              <a:lnSpc>
                <a:spcPct val="110000"/>
              </a:lnSpc>
              <a:buNone/>
            </a:pPr>
            <a:r>
              <a:rPr lang="en-US" sz="1250" dirty="0">
                <a:solidFill>
                  <a:srgbClr val="5B6B7C"/>
                </a:solidFill>
                <a:latin typeface="Calibri" pitchFamily="34" charset="0"/>
                <a:ea typeface="Calibri" pitchFamily="34" charset="-122"/>
                <a:cs typeface="Calibri" pitchFamily="34" charset="-120"/>
              </a:rPr>
              <a:t>Staff query live stock levels instantly instead of walking the aisles.</a:t>
            </a:r>
            <a:endParaRPr lang="en-US" sz="1250" dirty="0"/>
          </a:p>
        </p:txBody>
      </p:sp>
      <p:sp>
        <p:nvSpPr>
          <p:cNvPr id="11" name="Shape 7"/>
          <p:cNvSpPr/>
          <p:nvPr/>
        </p:nvSpPr>
        <p:spPr>
          <a:xfrm>
            <a:off x="502920" y="4014216"/>
            <a:ext cx="310896" cy="310896"/>
          </a:xfrm>
          <a:prstGeom prst="ellipse">
            <a:avLst/>
          </a:prstGeom>
          <a:solidFill>
            <a:srgbClr val="3D8EC9"/>
          </a:solidFill>
          <a:ln/>
        </p:spPr>
      </p:sp>
      <p:pic>
        <p:nvPicPr>
          <p:cNvPr id="12" name="Image 2" descr="/home/claude/wms_deck/assets/icons/checkCircle_white.png">    </p:cNvPr>
          <p:cNvPicPr>
            <a:picLocks noChangeAspect="1"/>
          </p:cNvPicPr>
          <p:nvPr/>
        </p:nvPicPr>
        <p:blipFill>
          <a:blip r:embed="rId3"/>
          <a:stretch>
            <a:fillRect/>
          </a:stretch>
        </p:blipFill>
        <p:spPr>
          <a:xfrm>
            <a:off x="586862" y="4098158"/>
            <a:ext cx="143012" cy="143012"/>
          </a:xfrm>
          <a:prstGeom prst="rect">
            <a:avLst/>
          </a:prstGeom>
        </p:spPr>
      </p:pic>
      <p:sp>
        <p:nvSpPr>
          <p:cNvPr id="13" name="Text 8"/>
          <p:cNvSpPr/>
          <p:nvPr/>
        </p:nvSpPr>
        <p:spPr>
          <a:xfrm>
            <a:off x="923544" y="3959352"/>
            <a:ext cx="5029200" cy="502920"/>
          </a:xfrm>
          <a:prstGeom prst="rect">
            <a:avLst/>
          </a:prstGeom>
          <a:noFill/>
          <a:ln/>
        </p:spPr>
        <p:txBody>
          <a:bodyPr wrap="square" rtlCol="0" anchor="t"/>
          <a:lstStyle/>
          <a:p>
            <a:pPr indent="0" marL="0">
              <a:lnSpc>
                <a:spcPct val="110000"/>
              </a:lnSpc>
              <a:buNone/>
            </a:pPr>
            <a:r>
              <a:rPr lang="en-US" sz="1250" b="1" dirty="0">
                <a:solidFill>
                  <a:srgbClr val="13294B"/>
                </a:solidFill>
                <a:latin typeface="Calibri" pitchFamily="34" charset="0"/>
                <a:ea typeface="Calibri" pitchFamily="34" charset="-122"/>
                <a:cs typeface="Calibri" pitchFamily="34" charset="-120"/>
              </a:rPr>
              <a:t>Accountability. </a:t>
            </a:r>
            <a:pPr indent="0" marL="0">
              <a:lnSpc>
                <a:spcPct val="110000"/>
              </a:lnSpc>
              <a:buNone/>
            </a:pPr>
            <a:r>
              <a:rPr lang="en-US" sz="1250" dirty="0">
                <a:solidFill>
                  <a:srgbClr val="5B6B7C"/>
                </a:solidFill>
                <a:latin typeface="Calibri" pitchFamily="34" charset="0"/>
                <a:ea typeface="Calibri" pitchFamily="34" charset="-122"/>
                <a:cs typeface="Calibri" pitchFamily="34" charset="-120"/>
              </a:rPr>
              <a:t>Suppliers, orders, and customers are all traceable through relational keys.</a:t>
            </a:r>
            <a:endParaRPr lang="en-US" sz="1250" dirty="0"/>
          </a:p>
        </p:txBody>
      </p:sp>
      <p:sp>
        <p:nvSpPr>
          <p:cNvPr id="14" name="Text 9"/>
          <p:cNvSpPr/>
          <p:nvPr/>
        </p:nvSpPr>
        <p:spPr>
          <a:xfrm>
            <a:off x="6126480" y="1417320"/>
            <a:ext cx="5120640" cy="256032"/>
          </a:xfrm>
          <a:prstGeom prst="rect">
            <a:avLst/>
          </a:prstGeom>
          <a:noFill/>
          <a:ln/>
        </p:spPr>
        <p:txBody>
          <a:bodyPr wrap="square" rtlCol="0" anchor="ctr"/>
          <a:lstStyle/>
          <a:p>
            <a:pPr indent="0" marL="0">
              <a:buNone/>
            </a:pPr>
            <a:r>
              <a:rPr lang="en-US" sz="1100" b="1" spc="100" kern="0" dirty="0">
                <a:solidFill>
                  <a:srgbClr val="3D8EC9"/>
                </a:solidFill>
                <a:latin typeface="Calibri" pitchFamily="34" charset="0"/>
                <a:ea typeface="Calibri" pitchFamily="34" charset="-122"/>
                <a:cs typeface="Calibri" pitchFamily="34" charset="-120"/>
              </a:rPr>
              <a:t>THE WAREHOUSE GOODS FLOW</a:t>
            </a:r>
            <a:endParaRPr lang="en-US" sz="1100" dirty="0"/>
          </a:p>
        </p:txBody>
      </p:sp>
      <p:sp>
        <p:nvSpPr>
          <p:cNvPr id="15" name="Shape 10"/>
          <p:cNvSpPr/>
          <p:nvPr/>
        </p:nvSpPr>
        <p:spPr>
          <a:xfrm>
            <a:off x="6126480" y="1874520"/>
            <a:ext cx="1170432" cy="1234440"/>
          </a:xfrm>
          <a:prstGeom prst="roundRect">
            <a:avLst>
              <a:gd name="adj" fmla="val 4688"/>
            </a:avLst>
          </a:prstGeom>
          <a:solidFill>
            <a:srgbClr val="F7FAFC"/>
          </a:solidFill>
          <a:ln w="12700">
            <a:solidFill>
              <a:srgbClr val="DCE4EC"/>
            </a:solidFill>
            <a:prstDash val="solid"/>
          </a:ln>
        </p:spPr>
      </p:sp>
      <p:sp>
        <p:nvSpPr>
          <p:cNvPr id="16" name="Text 11"/>
          <p:cNvSpPr/>
          <p:nvPr/>
        </p:nvSpPr>
        <p:spPr>
          <a:xfrm>
            <a:off x="6217920" y="1874520"/>
            <a:ext cx="987552" cy="1234440"/>
          </a:xfrm>
          <a:prstGeom prst="rect">
            <a:avLst/>
          </a:prstGeom>
          <a:noFill/>
          <a:ln/>
        </p:spPr>
        <p:txBody>
          <a:bodyPr wrap="square" rtlCol="0" anchor="ctr"/>
          <a:lstStyle/>
          <a:p>
            <a:pPr algn="ctr" indent="0" marL="0">
              <a:buNone/>
            </a:pPr>
            <a:r>
              <a:rPr lang="en-US" sz="1200" b="1" dirty="0">
                <a:solidFill>
                  <a:srgbClr val="13294B"/>
                </a:solidFill>
                <a:latin typeface="Calibri" pitchFamily="34" charset="0"/>
                <a:ea typeface="Calibri" pitchFamily="34" charset="-122"/>
                <a:cs typeface="Calibri" pitchFamily="34" charset="-120"/>
              </a:rPr>
              <a:t>Receive</a:t>
            </a:r>
            <a:endParaRPr lang="en-US" sz="1200" dirty="0"/>
          </a:p>
        </p:txBody>
      </p:sp>
      <p:pic>
        <p:nvPicPr>
          <p:cNvPr id="17" name="Image 3" descr="/home/claude/wms_deck/assets/icons/truckLoading_accent.png">    </p:cNvPr>
          <p:cNvPicPr>
            <a:picLocks noChangeAspect="1"/>
          </p:cNvPicPr>
          <p:nvPr/>
        </p:nvPicPr>
        <p:blipFill>
          <a:blip r:embed="rId4"/>
          <a:stretch>
            <a:fillRect/>
          </a:stretch>
        </p:blipFill>
        <p:spPr>
          <a:xfrm>
            <a:off x="6510528" y="2039112"/>
            <a:ext cx="402336" cy="402336"/>
          </a:xfrm>
          <a:prstGeom prst="rect">
            <a:avLst/>
          </a:prstGeom>
        </p:spPr>
      </p:pic>
      <p:sp>
        <p:nvSpPr>
          <p:cNvPr id="18" name="Text 12"/>
          <p:cNvSpPr/>
          <p:nvPr/>
        </p:nvSpPr>
        <p:spPr>
          <a:xfrm>
            <a:off x="6126480" y="2514600"/>
            <a:ext cx="1170432" cy="457200"/>
          </a:xfrm>
          <a:prstGeom prst="rect">
            <a:avLst/>
          </a:prstGeom>
          <a:noFill/>
          <a:ln/>
        </p:spPr>
        <p:txBody>
          <a:bodyPr wrap="square" rtlCol="0" anchor="t"/>
          <a:lstStyle/>
          <a:p>
            <a:pPr algn="ctr" indent="0" marL="0">
              <a:buNone/>
            </a:pPr>
            <a:r>
              <a:rPr lang="en-US" sz="1200" b="1" dirty="0">
                <a:solidFill>
                  <a:srgbClr val="13294B"/>
                </a:solidFill>
                <a:latin typeface="Calibri" pitchFamily="34" charset="0"/>
                <a:ea typeface="Calibri" pitchFamily="34" charset="-122"/>
                <a:cs typeface="Calibri" pitchFamily="34" charset="-120"/>
              </a:rPr>
              <a:t>Receive</a:t>
            </a:r>
            <a:endParaRPr lang="en-US" sz="1200" dirty="0"/>
          </a:p>
        </p:txBody>
      </p:sp>
      <p:sp>
        <p:nvSpPr>
          <p:cNvPr id="19" name="Shape 13"/>
          <p:cNvSpPr/>
          <p:nvPr/>
        </p:nvSpPr>
        <p:spPr>
          <a:xfrm>
            <a:off x="7315200" y="2491740"/>
            <a:ext cx="128016" cy="0"/>
          </a:xfrm>
          <a:prstGeom prst="line">
            <a:avLst/>
          </a:prstGeom>
          <a:noFill/>
          <a:ln w="28575">
            <a:solidFill>
              <a:srgbClr val="3D8EC9"/>
            </a:solidFill>
            <a:prstDash val="solid"/>
            <a:tailEnd type="triangle"/>
          </a:ln>
        </p:spPr>
      </p:sp>
      <p:sp>
        <p:nvSpPr>
          <p:cNvPr id="20" name="Shape 14"/>
          <p:cNvSpPr/>
          <p:nvPr/>
        </p:nvSpPr>
        <p:spPr>
          <a:xfrm>
            <a:off x="7461504" y="1874520"/>
            <a:ext cx="1170432" cy="1234440"/>
          </a:xfrm>
          <a:prstGeom prst="roundRect">
            <a:avLst>
              <a:gd name="adj" fmla="val 4688"/>
            </a:avLst>
          </a:prstGeom>
          <a:solidFill>
            <a:srgbClr val="F7FAFC"/>
          </a:solidFill>
          <a:ln w="12700">
            <a:solidFill>
              <a:srgbClr val="DCE4EC"/>
            </a:solidFill>
            <a:prstDash val="solid"/>
          </a:ln>
        </p:spPr>
      </p:sp>
      <p:sp>
        <p:nvSpPr>
          <p:cNvPr id="21" name="Text 15"/>
          <p:cNvSpPr/>
          <p:nvPr/>
        </p:nvSpPr>
        <p:spPr>
          <a:xfrm>
            <a:off x="7552944" y="1874520"/>
            <a:ext cx="987552" cy="1234440"/>
          </a:xfrm>
          <a:prstGeom prst="rect">
            <a:avLst/>
          </a:prstGeom>
          <a:noFill/>
          <a:ln/>
        </p:spPr>
        <p:txBody>
          <a:bodyPr wrap="square" rtlCol="0" anchor="ctr"/>
          <a:lstStyle/>
          <a:p>
            <a:pPr algn="ctr" indent="0" marL="0">
              <a:buNone/>
            </a:pPr>
            <a:r>
              <a:rPr lang="en-US" sz="1200" b="1" dirty="0">
                <a:solidFill>
                  <a:srgbClr val="13294B"/>
                </a:solidFill>
                <a:latin typeface="Calibri" pitchFamily="34" charset="0"/>
                <a:ea typeface="Calibri" pitchFamily="34" charset="-122"/>
                <a:cs typeface="Calibri" pitchFamily="34" charset="-120"/>
              </a:rPr>
              <a:t>Store</a:t>
            </a:r>
            <a:endParaRPr lang="en-US" sz="1200" dirty="0"/>
          </a:p>
        </p:txBody>
      </p:sp>
      <p:pic>
        <p:nvPicPr>
          <p:cNvPr id="22" name="Image 4" descr="/home/claude/wms_deck/assets/icons/warehouse_accent.png">    </p:cNvPr>
          <p:cNvPicPr>
            <a:picLocks noChangeAspect="1"/>
          </p:cNvPicPr>
          <p:nvPr/>
        </p:nvPicPr>
        <p:blipFill>
          <a:blip r:embed="rId5"/>
          <a:stretch>
            <a:fillRect/>
          </a:stretch>
        </p:blipFill>
        <p:spPr>
          <a:xfrm>
            <a:off x="7845552" y="2039112"/>
            <a:ext cx="402336" cy="402336"/>
          </a:xfrm>
          <a:prstGeom prst="rect">
            <a:avLst/>
          </a:prstGeom>
        </p:spPr>
      </p:pic>
      <p:sp>
        <p:nvSpPr>
          <p:cNvPr id="23" name="Text 16"/>
          <p:cNvSpPr/>
          <p:nvPr/>
        </p:nvSpPr>
        <p:spPr>
          <a:xfrm>
            <a:off x="7461504" y="2514600"/>
            <a:ext cx="1170432" cy="457200"/>
          </a:xfrm>
          <a:prstGeom prst="rect">
            <a:avLst/>
          </a:prstGeom>
          <a:noFill/>
          <a:ln/>
        </p:spPr>
        <p:txBody>
          <a:bodyPr wrap="square" rtlCol="0" anchor="t"/>
          <a:lstStyle/>
          <a:p>
            <a:pPr algn="ctr" indent="0" marL="0">
              <a:buNone/>
            </a:pPr>
            <a:r>
              <a:rPr lang="en-US" sz="1200" b="1" dirty="0">
                <a:solidFill>
                  <a:srgbClr val="13294B"/>
                </a:solidFill>
                <a:latin typeface="Calibri" pitchFamily="34" charset="0"/>
                <a:ea typeface="Calibri" pitchFamily="34" charset="-122"/>
                <a:cs typeface="Calibri" pitchFamily="34" charset="-120"/>
              </a:rPr>
              <a:t>Store</a:t>
            </a:r>
            <a:endParaRPr lang="en-US" sz="1200" dirty="0"/>
          </a:p>
        </p:txBody>
      </p:sp>
      <p:sp>
        <p:nvSpPr>
          <p:cNvPr id="24" name="Shape 17"/>
          <p:cNvSpPr/>
          <p:nvPr/>
        </p:nvSpPr>
        <p:spPr>
          <a:xfrm>
            <a:off x="8650224" y="2491740"/>
            <a:ext cx="128016" cy="0"/>
          </a:xfrm>
          <a:prstGeom prst="line">
            <a:avLst/>
          </a:prstGeom>
          <a:noFill/>
          <a:ln w="28575">
            <a:solidFill>
              <a:srgbClr val="3D8EC9"/>
            </a:solidFill>
            <a:prstDash val="solid"/>
            <a:tailEnd type="triangle"/>
          </a:ln>
        </p:spPr>
      </p:sp>
      <p:sp>
        <p:nvSpPr>
          <p:cNvPr id="25" name="Shape 18"/>
          <p:cNvSpPr/>
          <p:nvPr/>
        </p:nvSpPr>
        <p:spPr>
          <a:xfrm>
            <a:off x="8796528" y="1874520"/>
            <a:ext cx="1170432" cy="1234440"/>
          </a:xfrm>
          <a:prstGeom prst="roundRect">
            <a:avLst>
              <a:gd name="adj" fmla="val 4688"/>
            </a:avLst>
          </a:prstGeom>
          <a:solidFill>
            <a:srgbClr val="F7FAFC"/>
          </a:solidFill>
          <a:ln w="12700">
            <a:solidFill>
              <a:srgbClr val="DCE4EC"/>
            </a:solidFill>
            <a:prstDash val="solid"/>
          </a:ln>
        </p:spPr>
      </p:sp>
      <p:sp>
        <p:nvSpPr>
          <p:cNvPr id="26" name="Text 19"/>
          <p:cNvSpPr/>
          <p:nvPr/>
        </p:nvSpPr>
        <p:spPr>
          <a:xfrm>
            <a:off x="8887968" y="1874520"/>
            <a:ext cx="987552" cy="1234440"/>
          </a:xfrm>
          <a:prstGeom prst="rect">
            <a:avLst/>
          </a:prstGeom>
          <a:noFill/>
          <a:ln/>
        </p:spPr>
        <p:txBody>
          <a:bodyPr wrap="square" rtlCol="0" anchor="ctr"/>
          <a:lstStyle/>
          <a:p>
            <a:pPr algn="ctr" indent="0" marL="0">
              <a:buNone/>
            </a:pPr>
            <a:r>
              <a:rPr lang="en-US" sz="1200" b="1" dirty="0">
                <a:solidFill>
                  <a:srgbClr val="13294B"/>
                </a:solidFill>
                <a:latin typeface="Calibri" pitchFamily="34" charset="0"/>
                <a:ea typeface="Calibri" pitchFamily="34" charset="-122"/>
                <a:cs typeface="Calibri" pitchFamily="34" charset="-120"/>
              </a:rPr>
              <a:t>Manage</a:t>
            </a:r>
            <a:endParaRPr lang="en-US" sz="1200" dirty="0"/>
          </a:p>
        </p:txBody>
      </p:sp>
      <p:pic>
        <p:nvPicPr>
          <p:cNvPr id="27" name="Image 5" descr="/home/claude/wms_deck/assets/icons/boxes_accent.png">    </p:cNvPr>
          <p:cNvPicPr>
            <a:picLocks noChangeAspect="1"/>
          </p:cNvPicPr>
          <p:nvPr/>
        </p:nvPicPr>
        <p:blipFill>
          <a:blip r:embed="rId6"/>
          <a:stretch>
            <a:fillRect/>
          </a:stretch>
        </p:blipFill>
        <p:spPr>
          <a:xfrm>
            <a:off x="9180576" y="2039112"/>
            <a:ext cx="402336" cy="402336"/>
          </a:xfrm>
          <a:prstGeom prst="rect">
            <a:avLst/>
          </a:prstGeom>
        </p:spPr>
      </p:pic>
      <p:sp>
        <p:nvSpPr>
          <p:cNvPr id="28" name="Text 20"/>
          <p:cNvSpPr/>
          <p:nvPr/>
        </p:nvSpPr>
        <p:spPr>
          <a:xfrm>
            <a:off x="8796528" y="2514600"/>
            <a:ext cx="1170432" cy="457200"/>
          </a:xfrm>
          <a:prstGeom prst="rect">
            <a:avLst/>
          </a:prstGeom>
          <a:noFill/>
          <a:ln/>
        </p:spPr>
        <p:txBody>
          <a:bodyPr wrap="square" rtlCol="0" anchor="t"/>
          <a:lstStyle/>
          <a:p>
            <a:pPr algn="ctr" indent="0" marL="0">
              <a:buNone/>
            </a:pPr>
            <a:r>
              <a:rPr lang="en-US" sz="1200" b="1" dirty="0">
                <a:solidFill>
                  <a:srgbClr val="13294B"/>
                </a:solidFill>
                <a:latin typeface="Calibri" pitchFamily="34" charset="0"/>
                <a:ea typeface="Calibri" pitchFamily="34" charset="-122"/>
                <a:cs typeface="Calibri" pitchFamily="34" charset="-120"/>
              </a:rPr>
              <a:t>Manage</a:t>
            </a:r>
            <a:endParaRPr lang="en-US" sz="1200" dirty="0"/>
          </a:p>
        </p:txBody>
      </p:sp>
      <p:sp>
        <p:nvSpPr>
          <p:cNvPr id="29" name="Shape 21"/>
          <p:cNvSpPr/>
          <p:nvPr/>
        </p:nvSpPr>
        <p:spPr>
          <a:xfrm>
            <a:off x="9985248" y="2491740"/>
            <a:ext cx="128016" cy="0"/>
          </a:xfrm>
          <a:prstGeom prst="line">
            <a:avLst/>
          </a:prstGeom>
          <a:noFill/>
          <a:ln w="28575">
            <a:solidFill>
              <a:srgbClr val="3D8EC9"/>
            </a:solidFill>
            <a:prstDash val="solid"/>
            <a:tailEnd type="triangle"/>
          </a:ln>
        </p:spPr>
      </p:sp>
      <p:sp>
        <p:nvSpPr>
          <p:cNvPr id="30" name="Shape 22"/>
          <p:cNvSpPr/>
          <p:nvPr/>
        </p:nvSpPr>
        <p:spPr>
          <a:xfrm>
            <a:off x="10131552" y="1874520"/>
            <a:ext cx="1170432" cy="1234440"/>
          </a:xfrm>
          <a:prstGeom prst="roundRect">
            <a:avLst>
              <a:gd name="adj" fmla="val 4688"/>
            </a:avLst>
          </a:prstGeom>
          <a:solidFill>
            <a:srgbClr val="F7FAFC"/>
          </a:solidFill>
          <a:ln w="12700">
            <a:solidFill>
              <a:srgbClr val="DCE4EC"/>
            </a:solidFill>
            <a:prstDash val="solid"/>
          </a:ln>
        </p:spPr>
      </p:sp>
      <p:sp>
        <p:nvSpPr>
          <p:cNvPr id="31" name="Text 23"/>
          <p:cNvSpPr/>
          <p:nvPr/>
        </p:nvSpPr>
        <p:spPr>
          <a:xfrm>
            <a:off x="10222992" y="1874520"/>
            <a:ext cx="987552" cy="1234440"/>
          </a:xfrm>
          <a:prstGeom prst="rect">
            <a:avLst/>
          </a:prstGeom>
          <a:noFill/>
          <a:ln/>
        </p:spPr>
        <p:txBody>
          <a:bodyPr wrap="square" rtlCol="0" anchor="ctr"/>
          <a:lstStyle/>
          <a:p>
            <a:pPr algn="ctr" indent="0" marL="0">
              <a:buNone/>
            </a:pPr>
            <a:r>
              <a:rPr lang="en-US" sz="1200" b="1" dirty="0">
                <a:solidFill>
                  <a:srgbClr val="13294B"/>
                </a:solidFill>
                <a:latin typeface="Calibri" pitchFamily="34" charset="0"/>
                <a:ea typeface="Calibri" pitchFamily="34" charset="-122"/>
                <a:cs typeface="Calibri" pitchFamily="34" charset="-120"/>
              </a:rPr>
              <a:t>Dispatch</a:t>
            </a:r>
            <a:endParaRPr lang="en-US" sz="1200" dirty="0"/>
          </a:p>
        </p:txBody>
      </p:sp>
      <p:pic>
        <p:nvPicPr>
          <p:cNvPr id="32" name="Image 6" descr="/home/claude/wms_deck/assets/icons/truck_accent.png">    </p:cNvPr>
          <p:cNvPicPr>
            <a:picLocks noChangeAspect="1"/>
          </p:cNvPicPr>
          <p:nvPr/>
        </p:nvPicPr>
        <p:blipFill>
          <a:blip r:embed="rId7"/>
          <a:stretch>
            <a:fillRect/>
          </a:stretch>
        </p:blipFill>
        <p:spPr>
          <a:xfrm>
            <a:off x="10515600" y="2039112"/>
            <a:ext cx="402336" cy="402336"/>
          </a:xfrm>
          <a:prstGeom prst="rect">
            <a:avLst/>
          </a:prstGeom>
        </p:spPr>
      </p:pic>
      <p:sp>
        <p:nvSpPr>
          <p:cNvPr id="33" name="Text 24"/>
          <p:cNvSpPr/>
          <p:nvPr/>
        </p:nvSpPr>
        <p:spPr>
          <a:xfrm>
            <a:off x="10131552" y="2514600"/>
            <a:ext cx="1170432" cy="457200"/>
          </a:xfrm>
          <a:prstGeom prst="rect">
            <a:avLst/>
          </a:prstGeom>
          <a:noFill/>
          <a:ln/>
        </p:spPr>
        <p:txBody>
          <a:bodyPr wrap="square" rtlCol="0" anchor="t"/>
          <a:lstStyle/>
          <a:p>
            <a:pPr algn="ctr" indent="0" marL="0">
              <a:buNone/>
            </a:pPr>
            <a:r>
              <a:rPr lang="en-US" sz="1200" b="1" dirty="0">
                <a:solidFill>
                  <a:srgbClr val="13294B"/>
                </a:solidFill>
                <a:latin typeface="Calibri" pitchFamily="34" charset="0"/>
                <a:ea typeface="Calibri" pitchFamily="34" charset="-122"/>
                <a:cs typeface="Calibri" pitchFamily="34" charset="-120"/>
              </a:rPr>
              <a:t>Dispatch</a:t>
            </a:r>
            <a:endParaRPr lang="en-US" sz="1200" dirty="0"/>
          </a:p>
        </p:txBody>
      </p:sp>
      <p:sp>
        <p:nvSpPr>
          <p:cNvPr id="34" name="Shape 25"/>
          <p:cNvSpPr/>
          <p:nvPr/>
        </p:nvSpPr>
        <p:spPr>
          <a:xfrm>
            <a:off x="6126480" y="3429000"/>
            <a:ext cx="5120640" cy="2606040"/>
          </a:xfrm>
          <a:prstGeom prst="roundRect">
            <a:avLst>
              <a:gd name="adj" fmla="val 2807"/>
            </a:avLst>
          </a:prstGeom>
          <a:solidFill>
            <a:srgbClr val="EEF3F8"/>
          </a:solidFill>
          <a:ln/>
        </p:spPr>
      </p:sp>
      <p:sp>
        <p:nvSpPr>
          <p:cNvPr id="35" name="Text 26"/>
          <p:cNvSpPr/>
          <p:nvPr/>
        </p:nvSpPr>
        <p:spPr>
          <a:xfrm>
            <a:off x="6355080" y="3611880"/>
            <a:ext cx="4663440" cy="292608"/>
          </a:xfrm>
          <a:prstGeom prst="rect">
            <a:avLst/>
          </a:prstGeom>
          <a:noFill/>
          <a:ln/>
        </p:spPr>
        <p:txBody>
          <a:bodyPr wrap="square"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Why Organizations Use a WMS</a:t>
            </a:r>
            <a:endParaRPr lang="en-US" sz="1300" dirty="0"/>
          </a:p>
        </p:txBody>
      </p:sp>
      <p:sp>
        <p:nvSpPr>
          <p:cNvPr id="36" name="Text 27"/>
          <p:cNvSpPr/>
          <p:nvPr/>
        </p:nvSpPr>
        <p:spPr>
          <a:xfrm>
            <a:off x="6355080" y="3977640"/>
            <a:ext cx="4663440" cy="1920240"/>
          </a:xfrm>
          <a:prstGeom prst="rect">
            <a:avLst/>
          </a:prstGeom>
          <a:noFill/>
          <a:ln/>
        </p:spPr>
        <p:txBody>
          <a:bodyPr wrap="square" rtlCol="0" anchor="t"/>
          <a:lstStyle/>
          <a:p>
            <a:pPr marL="342900" indent="-342900">
              <a:lnSpc>
                <a:spcPct val="115000"/>
              </a:lnSpc>
              <a:spcAft>
                <a:spcPts val="576"/>
              </a:spcAft>
              <a:buSzPct val="100000"/>
              <a:buChar char="▪"/>
            </a:pPr>
            <a:r>
              <a:rPr lang="en-US" sz="1200" dirty="0">
                <a:solidFill>
                  <a:srgbClr val="17212E"/>
                </a:solidFill>
                <a:latin typeface="Calibri" pitchFamily="34" charset="0"/>
                <a:ea typeface="Calibri" pitchFamily="34" charset="-122"/>
                <a:cs typeface="Calibri" pitchFamily="34" charset="-120"/>
              </a:rPr>
              <a:t>Removes reliance on manual, paper-based stock records</a:t>
            </a:r>
            <a:endParaRPr lang="en-US" sz="1200" dirty="0"/>
          </a:p>
          <a:p>
            <a:pPr marL="342900" indent="-342900">
              <a:lnSpc>
                <a:spcPct val="115000"/>
              </a:lnSpc>
              <a:spcAft>
                <a:spcPts val="576"/>
              </a:spcAft>
              <a:buSzPct val="100000"/>
              <a:buChar char="▪"/>
            </a:pPr>
            <a:r>
              <a:rPr lang="en-US" sz="1200" dirty="0">
                <a:solidFill>
                  <a:srgbClr val="17212E"/>
                </a:solidFill>
                <a:latin typeface="Calibri" pitchFamily="34" charset="0"/>
                <a:ea typeface="Calibri" pitchFamily="34" charset="-122"/>
                <a:cs typeface="Calibri" pitchFamily="34" charset="-120"/>
              </a:rPr>
              <a:t>Gives real-time visibility into what is in stock, low, or out</a:t>
            </a:r>
            <a:endParaRPr lang="en-US" sz="1200" dirty="0"/>
          </a:p>
          <a:p>
            <a:pPr marL="342900" indent="-342900">
              <a:lnSpc>
                <a:spcPct val="115000"/>
              </a:lnSpc>
              <a:spcAft>
                <a:spcPts val="576"/>
              </a:spcAft>
              <a:buSzPct val="100000"/>
              <a:buChar char="▪"/>
            </a:pPr>
            <a:r>
              <a:rPr lang="en-US" sz="1200" dirty="0">
                <a:solidFill>
                  <a:srgbClr val="17212E"/>
                </a:solidFill>
                <a:latin typeface="Calibri" pitchFamily="34" charset="0"/>
                <a:ea typeface="Calibri" pitchFamily="34" charset="-122"/>
                <a:cs typeface="Calibri" pitchFamily="34" charset="-120"/>
              </a:rPr>
              <a:t>Speeds up order processing and customer service</a:t>
            </a:r>
            <a:endParaRPr lang="en-US" sz="1200" dirty="0"/>
          </a:p>
          <a:p>
            <a:pPr marL="342900" indent="-342900">
              <a:lnSpc>
                <a:spcPct val="115000"/>
              </a:lnSpc>
              <a:spcAft>
                <a:spcPts val="576"/>
              </a:spcAft>
              <a:buSzPct val="100000"/>
              <a:buChar char="▪"/>
            </a:pPr>
            <a:r>
              <a:rPr lang="en-US" sz="1200" dirty="0">
                <a:solidFill>
                  <a:srgbClr val="17212E"/>
                </a:solidFill>
                <a:latin typeface="Calibri" pitchFamily="34" charset="0"/>
                <a:ea typeface="Calibri" pitchFamily="34" charset="-122"/>
                <a:cs typeface="Calibri" pitchFamily="34" charset="-120"/>
              </a:rPr>
              <a:t>Improves reporting for purchasing and business decisions</a:t>
            </a:r>
            <a:endParaRPr lang="en-US" sz="1200" dirty="0"/>
          </a:p>
        </p:txBody>
      </p:sp>
      <p:sp>
        <p:nvSpPr>
          <p:cNvPr id="37" name="Shape 28"/>
          <p:cNvSpPr/>
          <p:nvPr/>
        </p:nvSpPr>
        <p:spPr>
          <a:xfrm>
            <a:off x="11451031" y="6437376"/>
            <a:ext cx="237744" cy="237744"/>
          </a:xfrm>
          <a:prstGeom prst="ellipse">
            <a:avLst/>
          </a:prstGeom>
          <a:solidFill>
            <a:srgbClr val="EEF3F8"/>
          </a:solidFill>
          <a:ln/>
        </p:spPr>
      </p:sp>
      <p:pic>
        <p:nvPicPr>
          <p:cNvPr id="38" name="Image 7" descr="/home/claude/wms_deck/assets/icons/database_navy.png">    </p:cNvPr>
          <p:cNvPicPr>
            <a:picLocks noChangeAspect="1"/>
          </p:cNvPicPr>
          <p:nvPr/>
        </p:nvPicPr>
        <p:blipFill>
          <a:blip r:embed="rId8"/>
          <a:stretch>
            <a:fillRect/>
          </a:stretch>
        </p:blipFill>
        <p:spPr>
          <a:xfrm>
            <a:off x="11515222" y="6501567"/>
            <a:ext cx="109362" cy="109362"/>
          </a:xfrm>
          <a:prstGeom prst="rect">
            <a:avLst/>
          </a:prstGeom>
        </p:spPr>
      </p:pic>
      <p:sp>
        <p:nvSpPr>
          <p:cNvPr id="39" name="Text 29"/>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40" name="Text 30"/>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THE PROBLEM</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Challenges of Manual Warehouse Management</a:t>
            </a:r>
            <a:endParaRPr lang="en-US" sz="3000" dirty="0"/>
          </a:p>
        </p:txBody>
      </p:sp>
      <p:sp>
        <p:nvSpPr>
          <p:cNvPr id="4" name="Shape 2"/>
          <p:cNvSpPr/>
          <p:nvPr/>
        </p:nvSpPr>
        <p:spPr>
          <a:xfrm>
            <a:off x="502920" y="1508760"/>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5" name="Shape 3"/>
          <p:cNvSpPr/>
          <p:nvPr/>
        </p:nvSpPr>
        <p:spPr>
          <a:xfrm>
            <a:off x="1361816" y="1655064"/>
            <a:ext cx="402336" cy="402336"/>
          </a:xfrm>
          <a:prstGeom prst="ellipse">
            <a:avLst/>
          </a:prstGeom>
          <a:solidFill>
            <a:srgbClr val="13294B"/>
          </a:solidFill>
          <a:ln/>
        </p:spPr>
      </p:sp>
      <p:pic>
        <p:nvPicPr>
          <p:cNvPr id="6" name="Image 0" descr="/home/claude/wms_deck/assets/icons/fileAlt_white.png">    </p:cNvPr>
          <p:cNvPicPr>
            <a:picLocks noChangeAspect="1"/>
          </p:cNvPicPr>
          <p:nvPr/>
        </p:nvPicPr>
        <p:blipFill>
          <a:blip r:embed="rId1"/>
          <a:stretch>
            <a:fillRect/>
          </a:stretch>
        </p:blipFill>
        <p:spPr>
          <a:xfrm>
            <a:off x="1470447" y="1763695"/>
            <a:ext cx="185075" cy="185075"/>
          </a:xfrm>
          <a:prstGeom prst="rect">
            <a:avLst/>
          </a:prstGeom>
        </p:spPr>
      </p:pic>
      <p:sp>
        <p:nvSpPr>
          <p:cNvPr id="7" name="Text 4"/>
          <p:cNvSpPr/>
          <p:nvPr/>
        </p:nvSpPr>
        <p:spPr>
          <a:xfrm>
            <a:off x="576072" y="2148840"/>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Manual Records</a:t>
            </a:r>
            <a:endParaRPr lang="en-US" sz="1080" dirty="0"/>
          </a:p>
        </p:txBody>
      </p:sp>
      <p:sp>
        <p:nvSpPr>
          <p:cNvPr id="8" name="Shape 5"/>
          <p:cNvSpPr/>
          <p:nvPr/>
        </p:nvSpPr>
        <p:spPr>
          <a:xfrm>
            <a:off x="2769352" y="1508760"/>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9" name="Shape 6"/>
          <p:cNvSpPr/>
          <p:nvPr/>
        </p:nvSpPr>
        <p:spPr>
          <a:xfrm>
            <a:off x="3628248" y="1655064"/>
            <a:ext cx="402336" cy="402336"/>
          </a:xfrm>
          <a:prstGeom prst="ellipse">
            <a:avLst/>
          </a:prstGeom>
          <a:solidFill>
            <a:srgbClr val="13294B"/>
          </a:solidFill>
          <a:ln/>
        </p:spPr>
      </p:sp>
      <p:pic>
        <p:nvPicPr>
          <p:cNvPr id="10" name="Image 1" descr="/home/claude/wms_deck/assets/icons/boxOpen_white.png">    </p:cNvPr>
          <p:cNvPicPr>
            <a:picLocks noChangeAspect="1"/>
          </p:cNvPicPr>
          <p:nvPr/>
        </p:nvPicPr>
        <p:blipFill>
          <a:blip r:embed="rId2"/>
          <a:stretch>
            <a:fillRect/>
          </a:stretch>
        </p:blipFill>
        <p:spPr>
          <a:xfrm>
            <a:off x="3736878" y="1763695"/>
            <a:ext cx="185075" cy="185075"/>
          </a:xfrm>
          <a:prstGeom prst="rect">
            <a:avLst/>
          </a:prstGeom>
        </p:spPr>
      </p:pic>
      <p:sp>
        <p:nvSpPr>
          <p:cNvPr id="11" name="Text 7"/>
          <p:cNvSpPr/>
          <p:nvPr/>
        </p:nvSpPr>
        <p:spPr>
          <a:xfrm>
            <a:off x="2842504" y="2148840"/>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Paper Files</a:t>
            </a:r>
            <a:endParaRPr lang="en-US" sz="1080" dirty="0"/>
          </a:p>
        </p:txBody>
      </p:sp>
      <p:sp>
        <p:nvSpPr>
          <p:cNvPr id="12" name="Shape 8"/>
          <p:cNvSpPr/>
          <p:nvPr/>
        </p:nvSpPr>
        <p:spPr>
          <a:xfrm>
            <a:off x="5035784" y="1508760"/>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13" name="Shape 9"/>
          <p:cNvSpPr/>
          <p:nvPr/>
        </p:nvSpPr>
        <p:spPr>
          <a:xfrm>
            <a:off x="5894680" y="1655064"/>
            <a:ext cx="402336" cy="402336"/>
          </a:xfrm>
          <a:prstGeom prst="ellipse">
            <a:avLst/>
          </a:prstGeom>
          <a:solidFill>
            <a:srgbClr val="13294B"/>
          </a:solidFill>
          <a:ln/>
        </p:spPr>
      </p:sp>
      <p:pic>
        <p:nvPicPr>
          <p:cNvPr id="14" name="Image 2" descr="/home/claude/wms_deck/assets/icons/exclamation_white.png">    </p:cNvPr>
          <p:cNvPicPr>
            <a:picLocks noChangeAspect="1"/>
          </p:cNvPicPr>
          <p:nvPr/>
        </p:nvPicPr>
        <p:blipFill>
          <a:blip r:embed="rId3"/>
          <a:stretch>
            <a:fillRect/>
          </a:stretch>
        </p:blipFill>
        <p:spPr>
          <a:xfrm>
            <a:off x="6003310" y="1763695"/>
            <a:ext cx="185075" cy="185075"/>
          </a:xfrm>
          <a:prstGeom prst="rect">
            <a:avLst/>
          </a:prstGeom>
        </p:spPr>
      </p:pic>
      <p:sp>
        <p:nvSpPr>
          <p:cNvPr id="15" name="Text 10"/>
          <p:cNvSpPr/>
          <p:nvPr/>
        </p:nvSpPr>
        <p:spPr>
          <a:xfrm>
            <a:off x="5108936" y="2148840"/>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Inventory Errors</a:t>
            </a:r>
            <a:endParaRPr lang="en-US" sz="1080" dirty="0"/>
          </a:p>
        </p:txBody>
      </p:sp>
      <p:sp>
        <p:nvSpPr>
          <p:cNvPr id="16" name="Shape 11"/>
          <p:cNvSpPr/>
          <p:nvPr/>
        </p:nvSpPr>
        <p:spPr>
          <a:xfrm>
            <a:off x="7302216" y="1508760"/>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17" name="Shape 12"/>
          <p:cNvSpPr/>
          <p:nvPr/>
        </p:nvSpPr>
        <p:spPr>
          <a:xfrm>
            <a:off x="8161111" y="1655064"/>
            <a:ext cx="402336" cy="402336"/>
          </a:xfrm>
          <a:prstGeom prst="ellipse">
            <a:avLst/>
          </a:prstGeom>
          <a:solidFill>
            <a:srgbClr val="13294B"/>
          </a:solidFill>
          <a:ln/>
        </p:spPr>
      </p:sp>
      <p:pic>
        <p:nvPicPr>
          <p:cNvPr id="18" name="Image 3" descr="/home/claude/wms_deck/assets/icons/layerGroup_white.png">    </p:cNvPr>
          <p:cNvPicPr>
            <a:picLocks noChangeAspect="1"/>
          </p:cNvPicPr>
          <p:nvPr/>
        </p:nvPicPr>
        <p:blipFill>
          <a:blip r:embed="rId4"/>
          <a:stretch>
            <a:fillRect/>
          </a:stretch>
        </p:blipFill>
        <p:spPr>
          <a:xfrm>
            <a:off x="8269742" y="1763695"/>
            <a:ext cx="185075" cy="185075"/>
          </a:xfrm>
          <a:prstGeom prst="rect">
            <a:avLst/>
          </a:prstGeom>
        </p:spPr>
      </p:pic>
      <p:sp>
        <p:nvSpPr>
          <p:cNvPr id="19" name="Text 13"/>
          <p:cNvSpPr/>
          <p:nvPr/>
        </p:nvSpPr>
        <p:spPr>
          <a:xfrm>
            <a:off x="7375368" y="2148840"/>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Duplicate Data</a:t>
            </a:r>
            <a:endParaRPr lang="en-US" sz="1080" dirty="0"/>
          </a:p>
        </p:txBody>
      </p:sp>
      <p:sp>
        <p:nvSpPr>
          <p:cNvPr id="20" name="Shape 14"/>
          <p:cNvSpPr/>
          <p:nvPr/>
        </p:nvSpPr>
        <p:spPr>
          <a:xfrm>
            <a:off x="9568647" y="1508760"/>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21" name="Shape 15"/>
          <p:cNvSpPr/>
          <p:nvPr/>
        </p:nvSpPr>
        <p:spPr>
          <a:xfrm>
            <a:off x="10427543" y="1655064"/>
            <a:ext cx="402336" cy="402336"/>
          </a:xfrm>
          <a:prstGeom prst="ellipse">
            <a:avLst/>
          </a:prstGeom>
          <a:solidFill>
            <a:srgbClr val="13294B"/>
          </a:solidFill>
          <a:ln/>
        </p:spPr>
      </p:sp>
      <p:pic>
        <p:nvPicPr>
          <p:cNvPr id="22" name="Image 4" descr="/home/claude/wms_deck/assets/icons/boxes_white.png">    </p:cNvPr>
          <p:cNvPicPr>
            <a:picLocks noChangeAspect="1"/>
          </p:cNvPicPr>
          <p:nvPr/>
        </p:nvPicPr>
        <p:blipFill>
          <a:blip r:embed="rId5"/>
          <a:stretch>
            <a:fillRect/>
          </a:stretch>
        </p:blipFill>
        <p:spPr>
          <a:xfrm>
            <a:off x="10536174" y="1763695"/>
            <a:ext cx="185075" cy="185075"/>
          </a:xfrm>
          <a:prstGeom prst="rect">
            <a:avLst/>
          </a:prstGeom>
        </p:spPr>
      </p:pic>
      <p:sp>
        <p:nvSpPr>
          <p:cNvPr id="23" name="Text 16"/>
          <p:cNvSpPr/>
          <p:nvPr/>
        </p:nvSpPr>
        <p:spPr>
          <a:xfrm>
            <a:off x="9641799" y="2148840"/>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Stock Loss</a:t>
            </a:r>
            <a:endParaRPr lang="en-US" sz="1080" dirty="0"/>
          </a:p>
        </p:txBody>
      </p:sp>
      <p:sp>
        <p:nvSpPr>
          <p:cNvPr id="24" name="Shape 17"/>
          <p:cNvSpPr/>
          <p:nvPr/>
        </p:nvSpPr>
        <p:spPr>
          <a:xfrm>
            <a:off x="502920" y="2706624"/>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25" name="Shape 18"/>
          <p:cNvSpPr/>
          <p:nvPr/>
        </p:nvSpPr>
        <p:spPr>
          <a:xfrm>
            <a:off x="1361816" y="2852928"/>
            <a:ext cx="402336" cy="402336"/>
          </a:xfrm>
          <a:prstGeom prst="ellipse">
            <a:avLst/>
          </a:prstGeom>
          <a:solidFill>
            <a:srgbClr val="13294B"/>
          </a:solidFill>
          <a:ln/>
        </p:spPr>
      </p:sp>
      <p:pic>
        <p:nvPicPr>
          <p:cNvPr id="26" name="Image 5" descr="/home/claude/wms_deck/assets/icons/chartBar_white.png">    </p:cNvPr>
          <p:cNvPicPr>
            <a:picLocks noChangeAspect="1"/>
          </p:cNvPicPr>
          <p:nvPr/>
        </p:nvPicPr>
        <p:blipFill>
          <a:blip r:embed="rId6"/>
          <a:stretch>
            <a:fillRect/>
          </a:stretch>
        </p:blipFill>
        <p:spPr>
          <a:xfrm>
            <a:off x="1470447" y="2961559"/>
            <a:ext cx="185075" cy="185075"/>
          </a:xfrm>
          <a:prstGeom prst="rect">
            <a:avLst/>
          </a:prstGeom>
        </p:spPr>
      </p:pic>
      <p:sp>
        <p:nvSpPr>
          <p:cNvPr id="27" name="Text 19"/>
          <p:cNvSpPr/>
          <p:nvPr/>
        </p:nvSpPr>
        <p:spPr>
          <a:xfrm>
            <a:off x="576072" y="3346704"/>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Poor Reporting</a:t>
            </a:r>
            <a:endParaRPr lang="en-US" sz="1080" dirty="0"/>
          </a:p>
        </p:txBody>
      </p:sp>
      <p:sp>
        <p:nvSpPr>
          <p:cNvPr id="28" name="Shape 20"/>
          <p:cNvSpPr/>
          <p:nvPr/>
        </p:nvSpPr>
        <p:spPr>
          <a:xfrm>
            <a:off x="2769352" y="2706624"/>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29" name="Shape 21"/>
          <p:cNvSpPr/>
          <p:nvPr/>
        </p:nvSpPr>
        <p:spPr>
          <a:xfrm>
            <a:off x="3628248" y="2852928"/>
            <a:ext cx="402336" cy="402336"/>
          </a:xfrm>
          <a:prstGeom prst="ellipse">
            <a:avLst/>
          </a:prstGeom>
          <a:solidFill>
            <a:srgbClr val="13294B"/>
          </a:solidFill>
          <a:ln/>
        </p:spPr>
      </p:sp>
      <p:pic>
        <p:nvPicPr>
          <p:cNvPr id="30" name="Image 6" descr="/home/claude/wms_deck/assets/icons/search_white.png">    </p:cNvPr>
          <p:cNvPicPr>
            <a:picLocks noChangeAspect="1"/>
          </p:cNvPicPr>
          <p:nvPr/>
        </p:nvPicPr>
        <p:blipFill>
          <a:blip r:embed="rId7"/>
          <a:stretch>
            <a:fillRect/>
          </a:stretch>
        </p:blipFill>
        <p:spPr>
          <a:xfrm>
            <a:off x="3736878" y="2961559"/>
            <a:ext cx="185075" cy="185075"/>
          </a:xfrm>
          <a:prstGeom prst="rect">
            <a:avLst/>
          </a:prstGeom>
        </p:spPr>
      </p:pic>
      <p:sp>
        <p:nvSpPr>
          <p:cNvPr id="31" name="Text 22"/>
          <p:cNvSpPr/>
          <p:nvPr/>
        </p:nvSpPr>
        <p:spPr>
          <a:xfrm>
            <a:off x="2842504" y="3346704"/>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Slow Searching</a:t>
            </a:r>
            <a:endParaRPr lang="en-US" sz="1080" dirty="0"/>
          </a:p>
        </p:txBody>
      </p:sp>
      <p:sp>
        <p:nvSpPr>
          <p:cNvPr id="32" name="Shape 23"/>
          <p:cNvSpPr/>
          <p:nvPr/>
        </p:nvSpPr>
        <p:spPr>
          <a:xfrm>
            <a:off x="5035784" y="2706624"/>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33" name="Shape 24"/>
          <p:cNvSpPr/>
          <p:nvPr/>
        </p:nvSpPr>
        <p:spPr>
          <a:xfrm>
            <a:off x="5894680" y="2852928"/>
            <a:ext cx="402336" cy="402336"/>
          </a:xfrm>
          <a:prstGeom prst="ellipse">
            <a:avLst/>
          </a:prstGeom>
          <a:solidFill>
            <a:srgbClr val="13294B"/>
          </a:solidFill>
          <a:ln/>
        </p:spPr>
      </p:sp>
      <p:pic>
        <p:nvPicPr>
          <p:cNvPr id="34" name="Image 7" descr="/home/claude/wms_deck/assets/icons/bug_white.png">    </p:cNvPr>
          <p:cNvPicPr>
            <a:picLocks noChangeAspect="1"/>
          </p:cNvPicPr>
          <p:nvPr/>
        </p:nvPicPr>
        <p:blipFill>
          <a:blip r:embed="rId8"/>
          <a:stretch>
            <a:fillRect/>
          </a:stretch>
        </p:blipFill>
        <p:spPr>
          <a:xfrm>
            <a:off x="6003310" y="2961559"/>
            <a:ext cx="185075" cy="185075"/>
          </a:xfrm>
          <a:prstGeom prst="rect">
            <a:avLst/>
          </a:prstGeom>
        </p:spPr>
      </p:pic>
      <p:sp>
        <p:nvSpPr>
          <p:cNvPr id="35" name="Text 25"/>
          <p:cNvSpPr/>
          <p:nvPr/>
        </p:nvSpPr>
        <p:spPr>
          <a:xfrm>
            <a:off x="5108936" y="3346704"/>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Human Errors</a:t>
            </a:r>
            <a:endParaRPr lang="en-US" sz="1080" dirty="0"/>
          </a:p>
        </p:txBody>
      </p:sp>
      <p:sp>
        <p:nvSpPr>
          <p:cNvPr id="36" name="Shape 26"/>
          <p:cNvSpPr/>
          <p:nvPr/>
        </p:nvSpPr>
        <p:spPr>
          <a:xfrm>
            <a:off x="7302216" y="2706624"/>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37" name="Shape 27"/>
          <p:cNvSpPr/>
          <p:nvPr/>
        </p:nvSpPr>
        <p:spPr>
          <a:xfrm>
            <a:off x="8161111" y="2852928"/>
            <a:ext cx="402336" cy="402336"/>
          </a:xfrm>
          <a:prstGeom prst="ellipse">
            <a:avLst/>
          </a:prstGeom>
          <a:solidFill>
            <a:srgbClr val="13294B"/>
          </a:solidFill>
          <a:ln/>
        </p:spPr>
      </p:sp>
      <p:pic>
        <p:nvPicPr>
          <p:cNvPr id="38" name="Image 8" descr="/home/claude/wms_deck/assets/icons/lock_white.png">    </p:cNvPr>
          <p:cNvPicPr>
            <a:picLocks noChangeAspect="1"/>
          </p:cNvPicPr>
          <p:nvPr/>
        </p:nvPicPr>
        <p:blipFill>
          <a:blip r:embed="rId9"/>
          <a:stretch>
            <a:fillRect/>
          </a:stretch>
        </p:blipFill>
        <p:spPr>
          <a:xfrm>
            <a:off x="8269742" y="2961559"/>
            <a:ext cx="185075" cy="185075"/>
          </a:xfrm>
          <a:prstGeom prst="rect">
            <a:avLst/>
          </a:prstGeom>
        </p:spPr>
      </p:pic>
      <p:sp>
        <p:nvSpPr>
          <p:cNvPr id="39" name="Text 28"/>
          <p:cNvSpPr/>
          <p:nvPr/>
        </p:nvSpPr>
        <p:spPr>
          <a:xfrm>
            <a:off x="7375368" y="3346704"/>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Poor Security</a:t>
            </a:r>
            <a:endParaRPr lang="en-US" sz="1080" dirty="0"/>
          </a:p>
        </p:txBody>
      </p:sp>
      <p:sp>
        <p:nvSpPr>
          <p:cNvPr id="40" name="Shape 29"/>
          <p:cNvSpPr/>
          <p:nvPr/>
        </p:nvSpPr>
        <p:spPr>
          <a:xfrm>
            <a:off x="9568647" y="2706624"/>
            <a:ext cx="2120128" cy="1051560"/>
          </a:xfrm>
          <a:prstGeom prst="roundRect">
            <a:avLst>
              <a:gd name="adj" fmla="val 6087"/>
            </a:avLst>
          </a:prstGeom>
          <a:solidFill>
            <a:srgbClr val="FFFFFF"/>
          </a:solidFill>
          <a:ln/>
          <a:effectLst>
            <a:outerShdw sx="100000" sy="100000" kx="0" ky="0" algn="bl" rotWithShape="0" blurRad="76200" dist="25400" dir="5400000">
              <a:srgbClr val="13294B">
                <a:alpha val="10000"/>
              </a:srgbClr>
            </a:outerShdw>
          </a:effectLst>
        </p:spPr>
      </p:sp>
      <p:sp>
        <p:nvSpPr>
          <p:cNvPr id="41" name="Shape 30"/>
          <p:cNvSpPr/>
          <p:nvPr/>
        </p:nvSpPr>
        <p:spPr>
          <a:xfrm>
            <a:off x="10427543" y="2852928"/>
            <a:ext cx="402336" cy="402336"/>
          </a:xfrm>
          <a:prstGeom prst="ellipse">
            <a:avLst/>
          </a:prstGeom>
          <a:solidFill>
            <a:srgbClr val="13294B"/>
          </a:solidFill>
          <a:ln/>
        </p:spPr>
      </p:sp>
      <p:pic>
        <p:nvPicPr>
          <p:cNvPr id="42" name="Image 9" descr="/home/claude/wms_deck/assets/icons/question_white.png">    </p:cNvPr>
          <p:cNvPicPr>
            <a:picLocks noChangeAspect="1"/>
          </p:cNvPicPr>
          <p:nvPr/>
        </p:nvPicPr>
        <p:blipFill>
          <a:blip r:embed="rId10"/>
          <a:stretch>
            <a:fillRect/>
          </a:stretch>
        </p:blipFill>
        <p:spPr>
          <a:xfrm>
            <a:off x="10536174" y="2961559"/>
            <a:ext cx="185075" cy="185075"/>
          </a:xfrm>
          <a:prstGeom prst="rect">
            <a:avLst/>
          </a:prstGeom>
        </p:spPr>
      </p:pic>
      <p:sp>
        <p:nvSpPr>
          <p:cNvPr id="43" name="Text 31"/>
          <p:cNvSpPr/>
          <p:nvPr/>
        </p:nvSpPr>
        <p:spPr>
          <a:xfrm>
            <a:off x="9641799" y="3346704"/>
            <a:ext cx="1973824" cy="365760"/>
          </a:xfrm>
          <a:prstGeom prst="rect">
            <a:avLst/>
          </a:prstGeom>
          <a:noFill/>
          <a:ln/>
        </p:spPr>
        <p:txBody>
          <a:bodyPr wrap="square" rtlCol="0" anchor="t"/>
          <a:lstStyle/>
          <a:p>
            <a:pPr algn="ctr" indent="0" marL="0">
              <a:lnSpc>
                <a:spcPct val="95000"/>
              </a:lnSpc>
              <a:buNone/>
            </a:pPr>
            <a:r>
              <a:rPr lang="en-US" sz="1080" b="1" dirty="0">
                <a:solidFill>
                  <a:srgbClr val="13294B"/>
                </a:solidFill>
                <a:latin typeface="Calibri" pitchFamily="34" charset="0"/>
                <a:ea typeface="Calibri" pitchFamily="34" charset="-122"/>
                <a:cs typeface="Calibri" pitchFamily="34" charset="-120"/>
              </a:rPr>
              <a:t>Difficulty Monitoring Stock</a:t>
            </a:r>
            <a:endParaRPr lang="en-US" sz="1080" dirty="0"/>
          </a:p>
        </p:txBody>
      </p:sp>
      <p:sp>
        <p:nvSpPr>
          <p:cNvPr id="44" name="Text 32"/>
          <p:cNvSpPr/>
          <p:nvPr/>
        </p:nvSpPr>
        <p:spPr>
          <a:xfrm>
            <a:off x="502920" y="3977640"/>
            <a:ext cx="11185855" cy="365760"/>
          </a:xfrm>
          <a:prstGeom prst="rect">
            <a:avLst/>
          </a:prstGeom>
          <a:noFill/>
          <a:ln/>
        </p:spPr>
        <p:txBody>
          <a:bodyPr wrap="square" rtlCol="0" anchor="ctr"/>
          <a:lstStyle/>
          <a:p>
            <a:pPr algn="ctr" indent="0" marL="0">
              <a:buNone/>
            </a:pPr>
            <a:r>
              <a:rPr lang="en-US" sz="1150" i="1" dirty="0">
                <a:solidFill>
                  <a:srgbClr val="5B6B7C"/>
                </a:solidFill>
                <a:latin typeface="Calibri" pitchFamily="34" charset="0"/>
                <a:ea typeface="Calibri" pitchFamily="34" charset="-122"/>
                <a:cs typeface="Calibri" pitchFamily="34" charset="-120"/>
              </a:rPr>
              <a:t>Each of these root causes traces back to one issue: data lives on paper or in disconnected spreadsheets instead of a single, validated database.</a:t>
            </a:r>
            <a:endParaRPr lang="en-US" sz="1150" dirty="0"/>
          </a:p>
        </p:txBody>
      </p:sp>
      <p:sp>
        <p:nvSpPr>
          <p:cNvPr id="45" name="Shape 33"/>
          <p:cNvSpPr/>
          <p:nvPr/>
        </p:nvSpPr>
        <p:spPr>
          <a:xfrm>
            <a:off x="11451031" y="6437376"/>
            <a:ext cx="237744" cy="237744"/>
          </a:xfrm>
          <a:prstGeom prst="ellipse">
            <a:avLst/>
          </a:prstGeom>
          <a:solidFill>
            <a:srgbClr val="EEF3F8"/>
          </a:solidFill>
          <a:ln/>
        </p:spPr>
      </p:sp>
      <p:pic>
        <p:nvPicPr>
          <p:cNvPr id="46" name="Image 10" descr="/home/claude/wms_deck/assets/icons/database_navy.png">    </p:cNvPr>
          <p:cNvPicPr>
            <a:picLocks noChangeAspect="1"/>
          </p:cNvPicPr>
          <p:nvPr/>
        </p:nvPicPr>
        <p:blipFill>
          <a:blip r:embed="rId11"/>
          <a:stretch>
            <a:fillRect/>
          </a:stretch>
        </p:blipFill>
        <p:spPr>
          <a:xfrm>
            <a:off x="11515222" y="6501567"/>
            <a:ext cx="109362" cy="109362"/>
          </a:xfrm>
          <a:prstGeom prst="rect">
            <a:avLst/>
          </a:prstGeom>
        </p:spPr>
      </p:pic>
      <p:sp>
        <p:nvSpPr>
          <p:cNvPr id="47" name="Text 3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48" name="Text 35"/>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OBJECTIVES</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Project Objectives</a:t>
            </a:r>
            <a:endParaRPr lang="en-US" sz="3000" dirty="0"/>
          </a:p>
        </p:txBody>
      </p:sp>
      <p:sp>
        <p:nvSpPr>
          <p:cNvPr id="4" name="Shape 2"/>
          <p:cNvSpPr/>
          <p:nvPr/>
        </p:nvSpPr>
        <p:spPr>
          <a:xfrm>
            <a:off x="502920" y="1417320"/>
            <a:ext cx="11185855" cy="960120"/>
          </a:xfrm>
          <a:prstGeom prst="roundRect">
            <a:avLst>
              <a:gd name="adj" fmla="val 7619"/>
            </a:avLst>
          </a:prstGeom>
          <a:solidFill>
            <a:srgbClr val="13294B"/>
          </a:solidFill>
          <a:ln/>
        </p:spPr>
      </p:sp>
      <p:sp>
        <p:nvSpPr>
          <p:cNvPr id="5" name="Shape 3"/>
          <p:cNvSpPr/>
          <p:nvPr/>
        </p:nvSpPr>
        <p:spPr>
          <a:xfrm>
            <a:off x="731520" y="1600200"/>
            <a:ext cx="566928" cy="566928"/>
          </a:xfrm>
          <a:prstGeom prst="ellipse">
            <a:avLst/>
          </a:prstGeom>
          <a:solidFill>
            <a:srgbClr val="3D8EC9"/>
          </a:solidFill>
          <a:ln/>
        </p:spPr>
      </p:sp>
      <p:pic>
        <p:nvPicPr>
          <p:cNvPr id="6" name="Image 0" descr="/home/claude/wms_deck/assets/icons/bullseye_white.png">    </p:cNvPr>
          <p:cNvPicPr>
            <a:picLocks noChangeAspect="1"/>
          </p:cNvPicPr>
          <p:nvPr/>
        </p:nvPicPr>
        <p:blipFill>
          <a:blip r:embed="rId1"/>
          <a:stretch>
            <a:fillRect/>
          </a:stretch>
        </p:blipFill>
        <p:spPr>
          <a:xfrm>
            <a:off x="884591" y="1753271"/>
            <a:ext cx="260787" cy="260787"/>
          </a:xfrm>
          <a:prstGeom prst="rect">
            <a:avLst/>
          </a:prstGeom>
        </p:spPr>
      </p:pic>
      <p:sp>
        <p:nvSpPr>
          <p:cNvPr id="7" name="Text 4"/>
          <p:cNvSpPr/>
          <p:nvPr/>
        </p:nvSpPr>
        <p:spPr>
          <a:xfrm>
            <a:off x="1508760" y="1536192"/>
            <a:ext cx="9997135" cy="237744"/>
          </a:xfrm>
          <a:prstGeom prst="rect">
            <a:avLst/>
          </a:prstGeom>
          <a:noFill/>
          <a:ln/>
        </p:spPr>
        <p:txBody>
          <a:bodyPr wrap="square" rtlCol="0" anchor="ctr"/>
          <a:lstStyle/>
          <a:p>
            <a:pPr indent="0" marL="0">
              <a:buNone/>
            </a:pPr>
            <a:r>
              <a:rPr lang="en-US" sz="1050" b="1" spc="150" kern="0" dirty="0">
                <a:solidFill>
                  <a:srgbClr val="AFD3EC"/>
                </a:solidFill>
                <a:latin typeface="Calibri" pitchFamily="34" charset="0"/>
                <a:ea typeface="Calibri" pitchFamily="34" charset="-122"/>
                <a:cs typeface="Calibri" pitchFamily="34" charset="-120"/>
              </a:rPr>
              <a:t>MAIN OBJECTIVE</a:t>
            </a:r>
            <a:endParaRPr lang="en-US" sz="1050" dirty="0"/>
          </a:p>
        </p:txBody>
      </p:sp>
      <p:sp>
        <p:nvSpPr>
          <p:cNvPr id="8" name="Text 5"/>
          <p:cNvSpPr/>
          <p:nvPr/>
        </p:nvSpPr>
        <p:spPr>
          <a:xfrm>
            <a:off x="1508760" y="1783080"/>
            <a:ext cx="9951415" cy="548640"/>
          </a:xfrm>
          <a:prstGeom prst="rect">
            <a:avLst/>
          </a:prstGeom>
          <a:noFill/>
          <a:ln/>
        </p:spPr>
        <p:txBody>
          <a:bodyPr wrap="square" rtlCol="0" anchor="t"/>
          <a:lstStyle/>
          <a:p>
            <a:pPr indent="0" marL="0">
              <a:lnSpc>
                <a:spcPct val="112000"/>
              </a:lnSpc>
              <a:buNone/>
            </a:pPr>
            <a:r>
              <a:rPr lang="en-US" sz="1250" dirty="0">
                <a:solidFill>
                  <a:srgbClr val="FFFFFF"/>
                </a:solidFill>
                <a:latin typeface="Calibri" pitchFamily="34" charset="0"/>
                <a:ea typeface="Calibri" pitchFamily="34" charset="-122"/>
                <a:cs typeface="Calibri" pitchFamily="34" charset="-120"/>
              </a:rPr>
              <a:t>To design and implement a relational database system, using Oracle SQL and PL/SQL, that automates and streamlines warehouse operations — inventory tracking, supplier and customer management, and order processing.</a:t>
            </a:r>
            <a:endParaRPr lang="en-US" sz="1250" dirty="0"/>
          </a:p>
        </p:txBody>
      </p:sp>
      <p:sp>
        <p:nvSpPr>
          <p:cNvPr id="9" name="Shape 6"/>
          <p:cNvSpPr/>
          <p:nvPr/>
        </p:nvSpPr>
        <p:spPr>
          <a:xfrm>
            <a:off x="502920" y="2606040"/>
            <a:ext cx="2105497" cy="3611880"/>
          </a:xfrm>
          <a:prstGeom prst="roundRect">
            <a:avLst>
              <a:gd name="adj" fmla="val 3040"/>
            </a:avLst>
          </a:prstGeom>
          <a:solidFill>
            <a:srgbClr val="F7FAFC"/>
          </a:solidFill>
          <a:ln/>
          <a:effectLst>
            <a:outerShdw sx="100000" sy="100000" kx="0" ky="0" algn="bl" rotWithShape="0" blurRad="101600" dist="25400" dir="5400000">
              <a:srgbClr val="13294B">
                <a:alpha val="12000"/>
              </a:srgbClr>
            </a:outerShdw>
          </a:effectLst>
        </p:spPr>
      </p:sp>
      <p:sp>
        <p:nvSpPr>
          <p:cNvPr id="10" name="Shape 7"/>
          <p:cNvSpPr/>
          <p:nvPr/>
        </p:nvSpPr>
        <p:spPr>
          <a:xfrm>
            <a:off x="704088" y="2788920"/>
            <a:ext cx="457200" cy="457200"/>
          </a:xfrm>
          <a:prstGeom prst="ellipse">
            <a:avLst/>
          </a:prstGeom>
          <a:solidFill>
            <a:srgbClr val="3D8EC9"/>
          </a:solidFill>
          <a:ln/>
        </p:spPr>
      </p:sp>
      <p:pic>
        <p:nvPicPr>
          <p:cNvPr id="11" name="Image 1" descr="/home/claude/wms_deck/assets/icons/sitemap_white.png">    </p:cNvPr>
          <p:cNvPicPr>
            <a:picLocks noChangeAspect="1"/>
          </p:cNvPicPr>
          <p:nvPr/>
        </p:nvPicPr>
        <p:blipFill>
          <a:blip r:embed="rId2"/>
          <a:stretch>
            <a:fillRect/>
          </a:stretch>
        </p:blipFill>
        <p:spPr>
          <a:xfrm>
            <a:off x="827532" y="2912364"/>
            <a:ext cx="210312" cy="210312"/>
          </a:xfrm>
          <a:prstGeom prst="rect">
            <a:avLst/>
          </a:prstGeom>
        </p:spPr>
      </p:pic>
      <p:sp>
        <p:nvSpPr>
          <p:cNvPr id="12" name="Text 8"/>
          <p:cNvSpPr/>
          <p:nvPr/>
        </p:nvSpPr>
        <p:spPr>
          <a:xfrm>
            <a:off x="1307592" y="2752344"/>
            <a:ext cx="1117945" cy="53035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Design a normalized schema</a:t>
            </a:r>
            <a:endParaRPr lang="en-US" sz="1200" dirty="0"/>
          </a:p>
        </p:txBody>
      </p:sp>
      <p:sp>
        <p:nvSpPr>
          <p:cNvPr id="13" name="Text 9"/>
          <p:cNvSpPr/>
          <p:nvPr/>
        </p:nvSpPr>
        <p:spPr>
          <a:xfrm>
            <a:off x="704088" y="3355848"/>
            <a:ext cx="1703161" cy="2715768"/>
          </a:xfrm>
          <a:prstGeom prst="rect">
            <a:avLst/>
          </a:prstGeom>
          <a:noFill/>
          <a:ln/>
        </p:spPr>
        <p:txBody>
          <a:bodyPr wrap="square" rtlCol="0" anchor="t"/>
          <a:lstStyle/>
          <a:p>
            <a:pPr indent="0" marL="0">
              <a:lnSpc>
                <a:spcPct val="112000"/>
              </a:lnSpc>
              <a:buNone/>
            </a:pPr>
            <a:r>
              <a:rPr lang="en-US" sz="1050" dirty="0">
                <a:solidFill>
                  <a:srgbClr val="5B6B7C"/>
                </a:solidFill>
                <a:latin typeface="Calibri" pitchFamily="34" charset="0"/>
                <a:ea typeface="Calibri" pitchFamily="34" charset="-122"/>
                <a:cs typeface="Calibri" pitchFamily="34" charset="-120"/>
              </a:rPr>
              <a:t>Model suppliers, categories, products, customers and orders with clean relationships.</a:t>
            </a:r>
            <a:endParaRPr lang="en-US" sz="1050" dirty="0"/>
          </a:p>
        </p:txBody>
      </p:sp>
      <p:sp>
        <p:nvSpPr>
          <p:cNvPr id="14" name="Shape 10"/>
          <p:cNvSpPr/>
          <p:nvPr/>
        </p:nvSpPr>
        <p:spPr>
          <a:xfrm>
            <a:off x="2773009" y="2606040"/>
            <a:ext cx="2105497" cy="3611880"/>
          </a:xfrm>
          <a:prstGeom prst="roundRect">
            <a:avLst>
              <a:gd name="adj" fmla="val 3040"/>
            </a:avLst>
          </a:prstGeom>
          <a:solidFill>
            <a:srgbClr val="F7FAFC"/>
          </a:solidFill>
          <a:ln/>
          <a:effectLst>
            <a:outerShdw sx="100000" sy="100000" kx="0" ky="0" algn="bl" rotWithShape="0" blurRad="101600" dist="25400" dir="5400000">
              <a:srgbClr val="13294B">
                <a:alpha val="12000"/>
              </a:srgbClr>
            </a:outerShdw>
          </a:effectLst>
        </p:spPr>
      </p:sp>
      <p:sp>
        <p:nvSpPr>
          <p:cNvPr id="15" name="Shape 11"/>
          <p:cNvSpPr/>
          <p:nvPr/>
        </p:nvSpPr>
        <p:spPr>
          <a:xfrm>
            <a:off x="2974177" y="2788920"/>
            <a:ext cx="457200" cy="457200"/>
          </a:xfrm>
          <a:prstGeom prst="ellipse">
            <a:avLst/>
          </a:prstGeom>
          <a:solidFill>
            <a:srgbClr val="3D8EC9"/>
          </a:solidFill>
          <a:ln/>
        </p:spPr>
      </p:sp>
      <p:pic>
        <p:nvPicPr>
          <p:cNvPr id="16" name="Image 2" descr="/home/claude/wms_deck/assets/icons/code_white.png">    </p:cNvPr>
          <p:cNvPicPr>
            <a:picLocks noChangeAspect="1"/>
          </p:cNvPicPr>
          <p:nvPr/>
        </p:nvPicPr>
        <p:blipFill>
          <a:blip r:embed="rId3"/>
          <a:stretch>
            <a:fillRect/>
          </a:stretch>
        </p:blipFill>
        <p:spPr>
          <a:xfrm>
            <a:off x="3097621" y="2912364"/>
            <a:ext cx="210312" cy="210312"/>
          </a:xfrm>
          <a:prstGeom prst="rect">
            <a:avLst/>
          </a:prstGeom>
        </p:spPr>
      </p:pic>
      <p:sp>
        <p:nvSpPr>
          <p:cNvPr id="17" name="Text 12"/>
          <p:cNvSpPr/>
          <p:nvPr/>
        </p:nvSpPr>
        <p:spPr>
          <a:xfrm>
            <a:off x="3577681" y="2752344"/>
            <a:ext cx="1117945" cy="53035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Implement SQL scripts</a:t>
            </a:r>
            <a:endParaRPr lang="en-US" sz="1200" dirty="0"/>
          </a:p>
        </p:txBody>
      </p:sp>
      <p:sp>
        <p:nvSpPr>
          <p:cNvPr id="18" name="Text 13"/>
          <p:cNvSpPr/>
          <p:nvPr/>
        </p:nvSpPr>
        <p:spPr>
          <a:xfrm>
            <a:off x="2974177" y="3355848"/>
            <a:ext cx="1703161" cy="2715768"/>
          </a:xfrm>
          <a:prstGeom prst="rect">
            <a:avLst/>
          </a:prstGeom>
          <a:noFill/>
          <a:ln/>
        </p:spPr>
        <p:txBody>
          <a:bodyPr wrap="square" rtlCol="0" anchor="t"/>
          <a:lstStyle/>
          <a:p>
            <a:pPr indent="0" marL="0">
              <a:lnSpc>
                <a:spcPct val="112000"/>
              </a:lnSpc>
              <a:buNone/>
            </a:pPr>
            <a:r>
              <a:rPr lang="en-US" sz="1050" dirty="0">
                <a:solidFill>
                  <a:srgbClr val="5B6B7C"/>
                </a:solidFill>
                <a:latin typeface="Calibri" pitchFamily="34" charset="0"/>
                <a:ea typeface="Calibri" pitchFamily="34" charset="-122"/>
                <a:cs typeface="Calibri" pitchFamily="34" charset="-120"/>
              </a:rPr>
              <a:t>Create, populate and maintain all database tables using standard SQL.</a:t>
            </a:r>
            <a:endParaRPr lang="en-US" sz="1050" dirty="0"/>
          </a:p>
        </p:txBody>
      </p:sp>
      <p:sp>
        <p:nvSpPr>
          <p:cNvPr id="19" name="Shape 14"/>
          <p:cNvSpPr/>
          <p:nvPr/>
        </p:nvSpPr>
        <p:spPr>
          <a:xfrm>
            <a:off x="5043099" y="2606040"/>
            <a:ext cx="2105497" cy="3611880"/>
          </a:xfrm>
          <a:prstGeom prst="roundRect">
            <a:avLst>
              <a:gd name="adj" fmla="val 3040"/>
            </a:avLst>
          </a:prstGeom>
          <a:solidFill>
            <a:srgbClr val="F7FAFC"/>
          </a:solidFill>
          <a:ln/>
          <a:effectLst>
            <a:outerShdw sx="100000" sy="100000" kx="0" ky="0" algn="bl" rotWithShape="0" blurRad="101600" dist="25400" dir="5400000">
              <a:srgbClr val="13294B">
                <a:alpha val="12000"/>
              </a:srgbClr>
            </a:outerShdw>
          </a:effectLst>
        </p:spPr>
      </p:sp>
      <p:sp>
        <p:nvSpPr>
          <p:cNvPr id="20" name="Shape 15"/>
          <p:cNvSpPr/>
          <p:nvPr/>
        </p:nvSpPr>
        <p:spPr>
          <a:xfrm>
            <a:off x="5244267" y="2788920"/>
            <a:ext cx="457200" cy="457200"/>
          </a:xfrm>
          <a:prstGeom prst="ellipse">
            <a:avLst/>
          </a:prstGeom>
          <a:solidFill>
            <a:srgbClr val="3D8EC9"/>
          </a:solidFill>
          <a:ln/>
        </p:spPr>
      </p:sp>
      <p:pic>
        <p:nvPicPr>
          <p:cNvPr id="21" name="Image 3" descr="/home/claude/wms_deck/assets/icons/terminal_white.png">    </p:cNvPr>
          <p:cNvPicPr>
            <a:picLocks noChangeAspect="1"/>
          </p:cNvPicPr>
          <p:nvPr/>
        </p:nvPicPr>
        <p:blipFill>
          <a:blip r:embed="rId4"/>
          <a:stretch>
            <a:fillRect/>
          </a:stretch>
        </p:blipFill>
        <p:spPr>
          <a:xfrm>
            <a:off x="5367711" y="2912364"/>
            <a:ext cx="210312" cy="210312"/>
          </a:xfrm>
          <a:prstGeom prst="rect">
            <a:avLst/>
          </a:prstGeom>
        </p:spPr>
      </p:pic>
      <p:sp>
        <p:nvSpPr>
          <p:cNvPr id="22" name="Text 16"/>
          <p:cNvSpPr/>
          <p:nvPr/>
        </p:nvSpPr>
        <p:spPr>
          <a:xfrm>
            <a:off x="5847771" y="2752344"/>
            <a:ext cx="1117945" cy="53035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Develop PL/SQL logic</a:t>
            </a:r>
            <a:endParaRPr lang="en-US" sz="1200" dirty="0"/>
          </a:p>
        </p:txBody>
      </p:sp>
      <p:sp>
        <p:nvSpPr>
          <p:cNvPr id="23" name="Text 17"/>
          <p:cNvSpPr/>
          <p:nvPr/>
        </p:nvSpPr>
        <p:spPr>
          <a:xfrm>
            <a:off x="5244267" y="3355848"/>
            <a:ext cx="1703161" cy="2715768"/>
          </a:xfrm>
          <a:prstGeom prst="rect">
            <a:avLst/>
          </a:prstGeom>
          <a:noFill/>
          <a:ln/>
        </p:spPr>
        <p:txBody>
          <a:bodyPr wrap="square" rtlCol="0" anchor="t"/>
          <a:lstStyle/>
          <a:p>
            <a:pPr indent="0" marL="0">
              <a:lnSpc>
                <a:spcPct val="112000"/>
              </a:lnSpc>
              <a:buNone/>
            </a:pPr>
            <a:r>
              <a:rPr lang="en-US" sz="1050" dirty="0">
                <a:solidFill>
                  <a:srgbClr val="5B6B7C"/>
                </a:solidFill>
                <a:latin typeface="Calibri" pitchFamily="34" charset="0"/>
                <a:ea typeface="Calibri" pitchFamily="34" charset="-122"/>
                <a:cs typeface="Calibri" pitchFamily="34" charset="-120"/>
              </a:rPr>
              <a:t>Build a procedure and function that encapsulate core business rules.</a:t>
            </a:r>
            <a:endParaRPr lang="en-US" sz="1050" dirty="0"/>
          </a:p>
        </p:txBody>
      </p:sp>
      <p:sp>
        <p:nvSpPr>
          <p:cNvPr id="24" name="Shape 18"/>
          <p:cNvSpPr/>
          <p:nvPr/>
        </p:nvSpPr>
        <p:spPr>
          <a:xfrm>
            <a:off x="7313188" y="2606040"/>
            <a:ext cx="2105497" cy="3611880"/>
          </a:xfrm>
          <a:prstGeom prst="roundRect">
            <a:avLst>
              <a:gd name="adj" fmla="val 3040"/>
            </a:avLst>
          </a:prstGeom>
          <a:solidFill>
            <a:srgbClr val="F7FAFC"/>
          </a:solidFill>
          <a:ln/>
          <a:effectLst>
            <a:outerShdw sx="100000" sy="100000" kx="0" ky="0" algn="bl" rotWithShape="0" blurRad="101600" dist="25400" dir="5400000">
              <a:srgbClr val="13294B">
                <a:alpha val="12000"/>
              </a:srgbClr>
            </a:outerShdw>
          </a:effectLst>
        </p:spPr>
      </p:sp>
      <p:sp>
        <p:nvSpPr>
          <p:cNvPr id="25" name="Shape 19"/>
          <p:cNvSpPr/>
          <p:nvPr/>
        </p:nvSpPr>
        <p:spPr>
          <a:xfrm>
            <a:off x="7514356" y="2788920"/>
            <a:ext cx="457200" cy="457200"/>
          </a:xfrm>
          <a:prstGeom prst="ellipse">
            <a:avLst/>
          </a:prstGeom>
          <a:solidFill>
            <a:srgbClr val="3D8EC9"/>
          </a:solidFill>
          <a:ln/>
        </p:spPr>
      </p:sp>
      <p:pic>
        <p:nvPicPr>
          <p:cNvPr id="26" name="Image 4" descr="/home/claude/wms_deck/assets/icons/chartBar_white.png">    </p:cNvPr>
          <p:cNvPicPr>
            <a:picLocks noChangeAspect="1"/>
          </p:cNvPicPr>
          <p:nvPr/>
        </p:nvPicPr>
        <p:blipFill>
          <a:blip r:embed="rId5"/>
          <a:stretch>
            <a:fillRect/>
          </a:stretch>
        </p:blipFill>
        <p:spPr>
          <a:xfrm>
            <a:off x="7637800" y="2912364"/>
            <a:ext cx="210312" cy="210312"/>
          </a:xfrm>
          <a:prstGeom prst="rect">
            <a:avLst/>
          </a:prstGeom>
        </p:spPr>
      </p:pic>
      <p:sp>
        <p:nvSpPr>
          <p:cNvPr id="27" name="Text 20"/>
          <p:cNvSpPr/>
          <p:nvPr/>
        </p:nvSpPr>
        <p:spPr>
          <a:xfrm>
            <a:off x="8117860" y="2752344"/>
            <a:ext cx="1117945" cy="53035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Generate reports</a:t>
            </a:r>
            <a:endParaRPr lang="en-US" sz="1200" dirty="0"/>
          </a:p>
        </p:txBody>
      </p:sp>
      <p:sp>
        <p:nvSpPr>
          <p:cNvPr id="28" name="Text 21"/>
          <p:cNvSpPr/>
          <p:nvPr/>
        </p:nvSpPr>
        <p:spPr>
          <a:xfrm>
            <a:off x="7514356" y="3355848"/>
            <a:ext cx="1703161" cy="2715768"/>
          </a:xfrm>
          <a:prstGeom prst="rect">
            <a:avLst/>
          </a:prstGeom>
          <a:noFill/>
          <a:ln/>
        </p:spPr>
        <p:txBody>
          <a:bodyPr wrap="square" rtlCol="0" anchor="t"/>
          <a:lstStyle/>
          <a:p>
            <a:pPr indent="0" marL="0">
              <a:lnSpc>
                <a:spcPct val="112000"/>
              </a:lnSpc>
              <a:buNone/>
            </a:pPr>
            <a:r>
              <a:rPr lang="en-US" sz="1050" dirty="0">
                <a:solidFill>
                  <a:srgbClr val="5B6B7C"/>
                </a:solidFill>
                <a:latin typeface="Calibri" pitchFamily="34" charset="0"/>
                <a:ea typeface="Calibri" pitchFamily="34" charset="-122"/>
                <a:cs typeface="Calibri" pitchFamily="34" charset="-120"/>
              </a:rPr>
              <a:t>Use queries and window functions to produce inventory and sales insight.</a:t>
            </a:r>
            <a:endParaRPr lang="en-US" sz="1050" dirty="0"/>
          </a:p>
        </p:txBody>
      </p:sp>
      <p:sp>
        <p:nvSpPr>
          <p:cNvPr id="29" name="Shape 22"/>
          <p:cNvSpPr/>
          <p:nvPr/>
        </p:nvSpPr>
        <p:spPr>
          <a:xfrm>
            <a:off x="9583278" y="2606040"/>
            <a:ext cx="2105497" cy="3611880"/>
          </a:xfrm>
          <a:prstGeom prst="roundRect">
            <a:avLst>
              <a:gd name="adj" fmla="val 3040"/>
            </a:avLst>
          </a:prstGeom>
          <a:solidFill>
            <a:srgbClr val="F7FAFC"/>
          </a:solidFill>
          <a:ln/>
          <a:effectLst>
            <a:outerShdw sx="100000" sy="100000" kx="0" ky="0" algn="bl" rotWithShape="0" blurRad="101600" dist="25400" dir="5400000">
              <a:srgbClr val="13294B">
                <a:alpha val="12000"/>
              </a:srgbClr>
            </a:outerShdw>
          </a:effectLst>
        </p:spPr>
      </p:sp>
      <p:sp>
        <p:nvSpPr>
          <p:cNvPr id="30" name="Shape 23"/>
          <p:cNvSpPr/>
          <p:nvPr/>
        </p:nvSpPr>
        <p:spPr>
          <a:xfrm>
            <a:off x="9784446" y="2788920"/>
            <a:ext cx="457200" cy="457200"/>
          </a:xfrm>
          <a:prstGeom prst="ellipse">
            <a:avLst/>
          </a:prstGeom>
          <a:solidFill>
            <a:srgbClr val="3D8EC9"/>
          </a:solidFill>
          <a:ln/>
        </p:spPr>
      </p:sp>
      <p:pic>
        <p:nvPicPr>
          <p:cNvPr id="31" name="Image 5" descr="/home/claude/wms_deck/assets/icons/vial_white.png">    </p:cNvPr>
          <p:cNvPicPr>
            <a:picLocks noChangeAspect="1"/>
          </p:cNvPicPr>
          <p:nvPr/>
        </p:nvPicPr>
        <p:blipFill>
          <a:blip r:embed="rId6"/>
          <a:stretch>
            <a:fillRect/>
          </a:stretch>
        </p:blipFill>
        <p:spPr>
          <a:xfrm>
            <a:off x="9907890" y="2912364"/>
            <a:ext cx="210312" cy="210312"/>
          </a:xfrm>
          <a:prstGeom prst="rect">
            <a:avLst/>
          </a:prstGeom>
        </p:spPr>
      </p:pic>
      <p:sp>
        <p:nvSpPr>
          <p:cNvPr id="32" name="Text 24"/>
          <p:cNvSpPr/>
          <p:nvPr/>
        </p:nvSpPr>
        <p:spPr>
          <a:xfrm>
            <a:off x="10387950" y="2752344"/>
            <a:ext cx="1117945" cy="53035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Test and validate</a:t>
            </a:r>
            <a:endParaRPr lang="en-US" sz="1200" dirty="0"/>
          </a:p>
        </p:txBody>
      </p:sp>
      <p:sp>
        <p:nvSpPr>
          <p:cNvPr id="33" name="Text 25"/>
          <p:cNvSpPr/>
          <p:nvPr/>
        </p:nvSpPr>
        <p:spPr>
          <a:xfrm>
            <a:off x="9784446" y="3355848"/>
            <a:ext cx="1703161" cy="2715768"/>
          </a:xfrm>
          <a:prstGeom prst="rect">
            <a:avLst/>
          </a:prstGeom>
          <a:noFill/>
          <a:ln/>
        </p:spPr>
        <p:txBody>
          <a:bodyPr wrap="square" rtlCol="0" anchor="t"/>
          <a:lstStyle/>
          <a:p>
            <a:pPr indent="0" marL="0">
              <a:lnSpc>
                <a:spcPct val="112000"/>
              </a:lnSpc>
              <a:buNone/>
            </a:pPr>
            <a:r>
              <a:rPr lang="en-US" sz="1050" dirty="0">
                <a:solidFill>
                  <a:srgbClr val="5B6B7C"/>
                </a:solidFill>
                <a:latin typeface="Calibri" pitchFamily="34" charset="0"/>
                <a:ea typeface="Calibri" pitchFamily="34" charset="-122"/>
                <a:cs typeface="Calibri" pitchFamily="34" charset="-120"/>
              </a:rPr>
              <a:t>Confirm data integrity, constraint enforcement, and correct output.</a:t>
            </a:r>
            <a:endParaRPr lang="en-US" sz="1050" dirty="0"/>
          </a:p>
        </p:txBody>
      </p:sp>
      <p:sp>
        <p:nvSpPr>
          <p:cNvPr id="34" name="Shape 26"/>
          <p:cNvSpPr/>
          <p:nvPr/>
        </p:nvSpPr>
        <p:spPr>
          <a:xfrm>
            <a:off x="11451031" y="6437376"/>
            <a:ext cx="237744" cy="237744"/>
          </a:xfrm>
          <a:prstGeom prst="ellipse">
            <a:avLst/>
          </a:prstGeom>
          <a:solidFill>
            <a:srgbClr val="EEF3F8"/>
          </a:solidFill>
          <a:ln/>
        </p:spPr>
      </p:sp>
      <p:pic>
        <p:nvPicPr>
          <p:cNvPr id="35" name="Image 6" descr="/home/claude/wms_deck/assets/icons/database_navy.png">    </p:cNvPr>
          <p:cNvPicPr>
            <a:picLocks noChangeAspect="1"/>
          </p:cNvPicPr>
          <p:nvPr/>
        </p:nvPicPr>
        <p:blipFill>
          <a:blip r:embed="rId7"/>
          <a:stretch>
            <a:fillRect/>
          </a:stretch>
        </p:blipFill>
        <p:spPr>
          <a:xfrm>
            <a:off x="11515222" y="6501567"/>
            <a:ext cx="109362" cy="109362"/>
          </a:xfrm>
          <a:prstGeom prst="rect">
            <a:avLst/>
          </a:prstGeom>
        </p:spPr>
      </p:pic>
      <p:sp>
        <p:nvSpPr>
          <p:cNvPr id="36" name="Text 27"/>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37" name="Text 28"/>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SYSTEM ANALYSIS</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System Requirements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4709160"/>
        </p:xfrm>
        <a:graphic>
          <a:graphicData uri="http://schemas.openxmlformats.org/drawingml/2006/table">
            <a:tbl>
              <a:tblPr/>
              <a:tblGrid>
                <a:gridCol w="2011680"/>
                <a:gridCol w="9174175"/>
              </a:tblGrid>
              <a:tr h="78486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Requirement Details</a:t>
                      </a:r>
                      <a:endParaRPr lang="en-US" sz="12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r>
              <a:tr h="78486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Functional</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Manage suppliers, categories, products and customers  ·  Record and process orders  ·  Validate stock before a sale  ·  Generate inventory and sales reports  ·  Rank products by sales performance</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8486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Non-Functional</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Data integrity through constraints  ·  Reasonable query performance  ·  Straightforward usability for warehouse staff  ·  Controlled, credentialed database access  ·  Maintainable PL/SQL code</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78486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Hardware</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PC or laptop, 4 GB RAM minimum  ·  20 GB free storage  ·  Stable network connection for shared database access</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78486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Software</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Oracle Database (11g / 19c / 21c XE)  ·  Oracle SQL Developer  ·  Windows, Linux, or macOS</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78486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User</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Basic computer literacy  ·  Valid database login credentials  ·  Familiarity with the SQL Developer interface for administrators</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5" name="Shape 2"/>
          <p:cNvSpPr/>
          <p:nvPr/>
        </p:nvSpPr>
        <p:spPr>
          <a:xfrm>
            <a:off x="11451031" y="6437376"/>
            <a:ext cx="237744" cy="237744"/>
          </a:xfrm>
          <a:prstGeom prst="ellipse">
            <a:avLst/>
          </a:prstGeom>
          <a:solidFill>
            <a:srgbClr val="EEF3F8"/>
          </a:solidFill>
          <a:ln/>
        </p:spPr>
      </p:sp>
      <p:pic>
        <p:nvPicPr>
          <p:cNvPr id="6" name="Image 0" descr="/home/claude/wms_deck/assets/icons/database_navy.png">    </p:cNvPr>
          <p:cNvPicPr>
            <a:picLocks noChangeAspect="1"/>
          </p:cNvPicPr>
          <p:nvPr/>
        </p:nvPicPr>
        <p:blipFill>
          <a:blip r:embed="rId1"/>
          <a:stretch>
            <a:fillRect/>
          </a:stretch>
        </p:blipFill>
        <p:spPr>
          <a:xfrm>
            <a:off x="11515222" y="6501567"/>
            <a:ext cx="109362" cy="109362"/>
          </a:xfrm>
          <a:prstGeom prst="rect">
            <a:avLst/>
          </a:prstGeom>
        </p:spPr>
      </p:pic>
      <p:sp>
        <p:nvSpPr>
          <p:cNvPr id="7" name="Text 3"/>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8" name="Text 4"/>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SYSTEM ANALYSIS</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Data Flow Diagram (DFD)</a:t>
            </a:r>
            <a:endParaRPr lang="en-US" sz="3000" dirty="0"/>
          </a:p>
        </p:txBody>
      </p:sp>
      <p:sp>
        <p:nvSpPr>
          <p:cNvPr id="4" name="Shape 2"/>
          <p:cNvSpPr/>
          <p:nvPr/>
        </p:nvSpPr>
        <p:spPr>
          <a:xfrm>
            <a:off x="2385670" y="1307592"/>
            <a:ext cx="7420356" cy="5020056"/>
          </a:xfrm>
          <a:prstGeom prst="roundRect">
            <a:avLst>
              <a:gd name="adj" fmla="val 1093"/>
            </a:avLst>
          </a:prstGeom>
          <a:solidFill>
            <a:srgbClr val="FFFFFF"/>
          </a:solidFill>
          <a:ln/>
          <a:effectLst>
            <a:outerShdw sx="100000" sy="100000" kx="0" ky="0" algn="bl" rotWithShape="0" blurRad="127000" dist="38100" dir="5400000">
              <a:srgbClr val="13294B">
                <a:alpha val="18000"/>
              </a:srgbClr>
            </a:outerShdw>
          </a:effectLst>
        </p:spPr>
      </p:sp>
      <p:pic>
        <p:nvPicPr>
          <p:cNvPr id="5" name="Image 0" descr="/home/claude/wms_deck/assets/uploaded/dfd_diagram.png">    </p:cNvPr>
          <p:cNvPicPr>
            <a:picLocks noChangeAspect="1"/>
          </p:cNvPicPr>
          <p:nvPr/>
        </p:nvPicPr>
        <p:blipFill>
          <a:blip r:embed="rId1"/>
          <a:stretch>
            <a:fillRect/>
          </a:stretch>
        </p:blipFill>
        <p:spPr>
          <a:xfrm>
            <a:off x="2495398" y="1417320"/>
            <a:ext cx="7200900" cy="4800600"/>
          </a:xfrm>
          <a:prstGeom prst="rect">
            <a:avLst/>
          </a:prstGeom>
        </p:spPr>
      </p:pic>
      <p:sp>
        <p:nvSpPr>
          <p:cNvPr id="6" name="Shape 3"/>
          <p:cNvSpPr/>
          <p:nvPr/>
        </p:nvSpPr>
        <p:spPr>
          <a:xfrm>
            <a:off x="11451031" y="6437376"/>
            <a:ext cx="237744" cy="237744"/>
          </a:xfrm>
          <a:prstGeom prst="ellipse">
            <a:avLst/>
          </a:prstGeom>
          <a:solidFill>
            <a:srgbClr val="EEF3F8"/>
          </a:solidFill>
          <a:ln/>
        </p:spPr>
      </p:sp>
      <p:pic>
        <p:nvPicPr>
          <p:cNvPr id="7" name="Image 1" descr="/home/claude/wms_deck/assets/icons/database_navy.png">    </p:cNvPr>
          <p:cNvPicPr>
            <a:picLocks noChangeAspect="1"/>
          </p:cNvPicPr>
          <p:nvPr/>
        </p:nvPicPr>
        <p:blipFill>
          <a:blip r:embed="rId2"/>
          <a:stretch>
            <a:fillRect/>
          </a:stretch>
        </p:blipFill>
        <p:spPr>
          <a:xfrm>
            <a:off x="11515222" y="6501567"/>
            <a:ext cx="109362" cy="109362"/>
          </a:xfrm>
          <a:prstGeom prst="rect">
            <a:avLst/>
          </a:prstGeom>
        </p:spPr>
      </p:pic>
      <p:sp>
        <p:nvSpPr>
          <p:cNvPr id="8"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9" name="Text 5"/>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DATABASE DESIGN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Relational Design Principles</a:t>
            </a:r>
            <a:endParaRPr lang="en-US" sz="3000" dirty="0"/>
          </a:p>
        </p:txBody>
      </p:sp>
      <p:sp>
        <p:nvSpPr>
          <p:cNvPr id="4" name="Shape 2"/>
          <p:cNvSpPr/>
          <p:nvPr/>
        </p:nvSpPr>
        <p:spPr>
          <a:xfrm>
            <a:off x="502920" y="1463040"/>
            <a:ext cx="3154680" cy="914400"/>
          </a:xfrm>
          <a:prstGeom prst="roundRect">
            <a:avLst>
              <a:gd name="adj" fmla="val 6000"/>
            </a:avLst>
          </a:prstGeom>
          <a:solidFill>
            <a:srgbClr val="F7FAFC"/>
          </a:solidFill>
          <a:ln w="9525">
            <a:solidFill>
              <a:srgbClr val="DCE4EC"/>
            </a:solidFill>
            <a:prstDash val="solid"/>
          </a:ln>
        </p:spPr>
      </p:sp>
      <p:sp>
        <p:nvSpPr>
          <p:cNvPr id="5" name="Shape 3"/>
          <p:cNvSpPr/>
          <p:nvPr/>
        </p:nvSpPr>
        <p:spPr>
          <a:xfrm>
            <a:off x="649224" y="1728216"/>
            <a:ext cx="384048" cy="384048"/>
          </a:xfrm>
          <a:prstGeom prst="ellipse">
            <a:avLst/>
          </a:prstGeom>
          <a:solidFill>
            <a:srgbClr val="3D8EC9"/>
          </a:solidFill>
          <a:ln/>
        </p:spPr>
      </p:sp>
      <p:pic>
        <p:nvPicPr>
          <p:cNvPr id="6" name="Image 0" descr="/home/claude/wms_deck/assets/icons/database_white.png">    </p:cNvPr>
          <p:cNvPicPr>
            <a:picLocks noChangeAspect="1"/>
          </p:cNvPicPr>
          <p:nvPr/>
        </p:nvPicPr>
        <p:blipFill>
          <a:blip r:embed="rId1"/>
          <a:stretch>
            <a:fillRect/>
          </a:stretch>
        </p:blipFill>
        <p:spPr>
          <a:xfrm>
            <a:off x="752917" y="1831909"/>
            <a:ext cx="176662" cy="176662"/>
          </a:xfrm>
          <a:prstGeom prst="rect">
            <a:avLst/>
          </a:prstGeom>
        </p:spPr>
      </p:pic>
      <p:sp>
        <p:nvSpPr>
          <p:cNvPr id="7" name="Text 4"/>
          <p:cNvSpPr/>
          <p:nvPr/>
        </p:nvSpPr>
        <p:spPr>
          <a:xfrm>
            <a:off x="1161288" y="1463040"/>
            <a:ext cx="2368296" cy="914400"/>
          </a:xfrm>
          <a:prstGeom prst="rect">
            <a:avLst/>
          </a:prstGeom>
          <a:noFill/>
          <a:ln/>
        </p:spPr>
        <p:txBody>
          <a:bodyPr wrap="square" rtlCol="0" anchor="ctr"/>
          <a:lstStyle/>
          <a:p>
            <a:pPr indent="0" marL="0">
              <a:lnSpc>
                <a:spcPct val="98000"/>
              </a:lnSpc>
              <a:buNone/>
            </a:pPr>
            <a:r>
              <a:rPr lang="en-US" sz="1150" b="1" dirty="0">
                <a:solidFill>
                  <a:srgbClr val="13294B"/>
                </a:solidFill>
                <a:latin typeface="Calibri" pitchFamily="34" charset="0"/>
                <a:ea typeface="Calibri" pitchFamily="34" charset="-122"/>
                <a:cs typeface="Calibri" pitchFamily="34" charset="-120"/>
              </a:rPr>
              <a:t>Relational Database</a:t>
            </a:r>
            <a:endParaRPr lang="en-US" sz="1150" dirty="0"/>
          </a:p>
        </p:txBody>
      </p:sp>
      <p:sp>
        <p:nvSpPr>
          <p:cNvPr id="8" name="Text 5"/>
          <p:cNvSpPr/>
          <p:nvPr/>
        </p:nvSpPr>
        <p:spPr>
          <a:xfrm>
            <a:off x="649224" y="1965960"/>
            <a:ext cx="2862072" cy="365760"/>
          </a:xfrm>
          <a:prstGeom prst="rect">
            <a:avLst/>
          </a:prstGeom>
          <a:noFill/>
          <a:ln/>
        </p:spPr>
        <p:txBody>
          <a:bodyPr wrap="square" rtlCol="0" anchor="t"/>
          <a:lstStyle/>
          <a:p>
            <a:pPr indent="0" marL="0">
              <a:lnSpc>
                <a:spcPct val="102000"/>
              </a:lnSpc>
              <a:buNone/>
            </a:pPr>
            <a:r>
              <a:rPr lang="en-US" sz="950" dirty="0">
                <a:solidFill>
                  <a:srgbClr val="5B6B7C"/>
                </a:solidFill>
                <a:latin typeface="Calibri" pitchFamily="34" charset="0"/>
                <a:ea typeface="Calibri" pitchFamily="34" charset="-122"/>
                <a:cs typeface="Calibri" pitchFamily="34" charset="-120"/>
              </a:rPr>
              <a:t>Data organized into related tables instead of flat files.</a:t>
            </a:r>
            <a:endParaRPr lang="en-US" sz="950" dirty="0"/>
          </a:p>
        </p:txBody>
      </p:sp>
      <p:sp>
        <p:nvSpPr>
          <p:cNvPr id="9" name="Shape 6"/>
          <p:cNvSpPr/>
          <p:nvPr/>
        </p:nvSpPr>
        <p:spPr>
          <a:xfrm>
            <a:off x="3840480" y="1463040"/>
            <a:ext cx="3154680" cy="914400"/>
          </a:xfrm>
          <a:prstGeom prst="roundRect">
            <a:avLst>
              <a:gd name="adj" fmla="val 6000"/>
            </a:avLst>
          </a:prstGeom>
          <a:solidFill>
            <a:srgbClr val="F7FAFC"/>
          </a:solidFill>
          <a:ln w="9525">
            <a:solidFill>
              <a:srgbClr val="DCE4EC"/>
            </a:solidFill>
            <a:prstDash val="solid"/>
          </a:ln>
        </p:spPr>
      </p:sp>
      <p:sp>
        <p:nvSpPr>
          <p:cNvPr id="10" name="Shape 7"/>
          <p:cNvSpPr/>
          <p:nvPr/>
        </p:nvSpPr>
        <p:spPr>
          <a:xfrm>
            <a:off x="3986784" y="1728216"/>
            <a:ext cx="384048" cy="384048"/>
          </a:xfrm>
          <a:prstGeom prst="ellipse">
            <a:avLst/>
          </a:prstGeom>
          <a:solidFill>
            <a:srgbClr val="3D8EC9"/>
          </a:solidFill>
          <a:ln/>
        </p:spPr>
      </p:sp>
      <p:pic>
        <p:nvPicPr>
          <p:cNvPr id="11" name="Image 1" descr="/home/claude/wms_deck/assets/icons/key_white.png">    </p:cNvPr>
          <p:cNvPicPr>
            <a:picLocks noChangeAspect="1"/>
          </p:cNvPicPr>
          <p:nvPr/>
        </p:nvPicPr>
        <p:blipFill>
          <a:blip r:embed="rId2"/>
          <a:stretch>
            <a:fillRect/>
          </a:stretch>
        </p:blipFill>
        <p:spPr>
          <a:xfrm>
            <a:off x="4090477" y="1831909"/>
            <a:ext cx="176662" cy="176662"/>
          </a:xfrm>
          <a:prstGeom prst="rect">
            <a:avLst/>
          </a:prstGeom>
        </p:spPr>
      </p:pic>
      <p:sp>
        <p:nvSpPr>
          <p:cNvPr id="12" name="Text 8"/>
          <p:cNvSpPr/>
          <p:nvPr/>
        </p:nvSpPr>
        <p:spPr>
          <a:xfrm>
            <a:off x="4498848" y="1463040"/>
            <a:ext cx="2368296" cy="914400"/>
          </a:xfrm>
          <a:prstGeom prst="rect">
            <a:avLst/>
          </a:prstGeom>
          <a:noFill/>
          <a:ln/>
        </p:spPr>
        <p:txBody>
          <a:bodyPr wrap="square" rtlCol="0" anchor="ctr"/>
          <a:lstStyle/>
          <a:p>
            <a:pPr indent="0" marL="0">
              <a:lnSpc>
                <a:spcPct val="98000"/>
              </a:lnSpc>
              <a:buNone/>
            </a:pPr>
            <a:r>
              <a:rPr lang="en-US" sz="1150" b="1" dirty="0">
                <a:solidFill>
                  <a:srgbClr val="13294B"/>
                </a:solidFill>
                <a:latin typeface="Calibri" pitchFamily="34" charset="0"/>
                <a:ea typeface="Calibri" pitchFamily="34" charset="-122"/>
                <a:cs typeface="Calibri" pitchFamily="34" charset="-120"/>
              </a:rPr>
              <a:t>Primary Keys</a:t>
            </a:r>
            <a:endParaRPr lang="en-US" sz="1150" dirty="0"/>
          </a:p>
        </p:txBody>
      </p:sp>
      <p:sp>
        <p:nvSpPr>
          <p:cNvPr id="13" name="Text 9"/>
          <p:cNvSpPr/>
          <p:nvPr/>
        </p:nvSpPr>
        <p:spPr>
          <a:xfrm>
            <a:off x="3986784" y="1965960"/>
            <a:ext cx="2862072" cy="365760"/>
          </a:xfrm>
          <a:prstGeom prst="rect">
            <a:avLst/>
          </a:prstGeom>
          <a:noFill/>
          <a:ln/>
        </p:spPr>
        <p:txBody>
          <a:bodyPr wrap="square" rtlCol="0" anchor="t"/>
          <a:lstStyle/>
          <a:p>
            <a:pPr indent="0" marL="0">
              <a:lnSpc>
                <a:spcPct val="102000"/>
              </a:lnSpc>
              <a:buNone/>
            </a:pPr>
            <a:r>
              <a:rPr lang="en-US" sz="950" dirty="0">
                <a:solidFill>
                  <a:srgbClr val="5B6B7C"/>
                </a:solidFill>
                <a:latin typeface="Calibri" pitchFamily="34" charset="0"/>
                <a:ea typeface="Calibri" pitchFamily="34" charset="-122"/>
                <a:cs typeface="Calibri" pitchFamily="34" charset="-120"/>
              </a:rPr>
              <a:t>A unique identifier for every row (e.g. Product_ID).</a:t>
            </a:r>
            <a:endParaRPr lang="en-US" sz="950" dirty="0"/>
          </a:p>
        </p:txBody>
      </p:sp>
      <p:sp>
        <p:nvSpPr>
          <p:cNvPr id="14" name="Shape 10"/>
          <p:cNvSpPr/>
          <p:nvPr/>
        </p:nvSpPr>
        <p:spPr>
          <a:xfrm>
            <a:off x="502920" y="2514600"/>
            <a:ext cx="3154680" cy="914400"/>
          </a:xfrm>
          <a:prstGeom prst="roundRect">
            <a:avLst>
              <a:gd name="adj" fmla="val 6000"/>
            </a:avLst>
          </a:prstGeom>
          <a:solidFill>
            <a:srgbClr val="F7FAFC"/>
          </a:solidFill>
          <a:ln w="9525">
            <a:solidFill>
              <a:srgbClr val="DCE4EC"/>
            </a:solidFill>
            <a:prstDash val="solid"/>
          </a:ln>
        </p:spPr>
      </p:sp>
      <p:sp>
        <p:nvSpPr>
          <p:cNvPr id="15" name="Shape 11"/>
          <p:cNvSpPr/>
          <p:nvPr/>
        </p:nvSpPr>
        <p:spPr>
          <a:xfrm>
            <a:off x="649224" y="2779776"/>
            <a:ext cx="384048" cy="384048"/>
          </a:xfrm>
          <a:prstGeom prst="ellipse">
            <a:avLst/>
          </a:prstGeom>
          <a:solidFill>
            <a:srgbClr val="3D8EC9"/>
          </a:solidFill>
          <a:ln/>
        </p:spPr>
      </p:sp>
      <p:pic>
        <p:nvPicPr>
          <p:cNvPr id="16" name="Image 2" descr="/home/claude/wms_deck/assets/icons/link_white.png">    </p:cNvPr>
          <p:cNvPicPr>
            <a:picLocks noChangeAspect="1"/>
          </p:cNvPicPr>
          <p:nvPr/>
        </p:nvPicPr>
        <p:blipFill>
          <a:blip r:embed="rId3"/>
          <a:stretch>
            <a:fillRect/>
          </a:stretch>
        </p:blipFill>
        <p:spPr>
          <a:xfrm>
            <a:off x="752917" y="2883469"/>
            <a:ext cx="176662" cy="176662"/>
          </a:xfrm>
          <a:prstGeom prst="rect">
            <a:avLst/>
          </a:prstGeom>
        </p:spPr>
      </p:pic>
      <p:sp>
        <p:nvSpPr>
          <p:cNvPr id="17" name="Text 12"/>
          <p:cNvSpPr/>
          <p:nvPr/>
        </p:nvSpPr>
        <p:spPr>
          <a:xfrm>
            <a:off x="1161288" y="2514600"/>
            <a:ext cx="2368296" cy="914400"/>
          </a:xfrm>
          <a:prstGeom prst="rect">
            <a:avLst/>
          </a:prstGeom>
          <a:noFill/>
          <a:ln/>
        </p:spPr>
        <p:txBody>
          <a:bodyPr wrap="square" rtlCol="0" anchor="ctr"/>
          <a:lstStyle/>
          <a:p>
            <a:pPr indent="0" marL="0">
              <a:lnSpc>
                <a:spcPct val="98000"/>
              </a:lnSpc>
              <a:buNone/>
            </a:pPr>
            <a:r>
              <a:rPr lang="en-US" sz="1150" b="1" dirty="0">
                <a:solidFill>
                  <a:srgbClr val="13294B"/>
                </a:solidFill>
                <a:latin typeface="Calibri" pitchFamily="34" charset="0"/>
                <a:ea typeface="Calibri" pitchFamily="34" charset="-122"/>
                <a:cs typeface="Calibri" pitchFamily="34" charset="-120"/>
              </a:rPr>
              <a:t>Foreign Keys</a:t>
            </a:r>
            <a:endParaRPr lang="en-US" sz="1150" dirty="0"/>
          </a:p>
        </p:txBody>
      </p:sp>
      <p:sp>
        <p:nvSpPr>
          <p:cNvPr id="18" name="Text 13"/>
          <p:cNvSpPr/>
          <p:nvPr/>
        </p:nvSpPr>
        <p:spPr>
          <a:xfrm>
            <a:off x="649224" y="3017520"/>
            <a:ext cx="2862072" cy="365760"/>
          </a:xfrm>
          <a:prstGeom prst="rect">
            <a:avLst/>
          </a:prstGeom>
          <a:noFill/>
          <a:ln/>
        </p:spPr>
        <p:txBody>
          <a:bodyPr wrap="square" rtlCol="0" anchor="t"/>
          <a:lstStyle/>
          <a:p>
            <a:pPr indent="0" marL="0">
              <a:lnSpc>
                <a:spcPct val="102000"/>
              </a:lnSpc>
              <a:buNone/>
            </a:pPr>
            <a:r>
              <a:rPr lang="en-US" sz="950" dirty="0">
                <a:solidFill>
                  <a:srgbClr val="5B6B7C"/>
                </a:solidFill>
                <a:latin typeface="Calibri" pitchFamily="34" charset="0"/>
                <a:ea typeface="Calibri" pitchFamily="34" charset="-122"/>
                <a:cs typeface="Calibri" pitchFamily="34" charset="-120"/>
              </a:rPr>
              <a:t>Columns that reference another table’s primary key.</a:t>
            </a:r>
            <a:endParaRPr lang="en-US" sz="950" dirty="0"/>
          </a:p>
        </p:txBody>
      </p:sp>
      <p:sp>
        <p:nvSpPr>
          <p:cNvPr id="19" name="Shape 14"/>
          <p:cNvSpPr/>
          <p:nvPr/>
        </p:nvSpPr>
        <p:spPr>
          <a:xfrm>
            <a:off x="3840480" y="2514600"/>
            <a:ext cx="3154680" cy="914400"/>
          </a:xfrm>
          <a:prstGeom prst="roundRect">
            <a:avLst>
              <a:gd name="adj" fmla="val 6000"/>
            </a:avLst>
          </a:prstGeom>
          <a:solidFill>
            <a:srgbClr val="F7FAFC"/>
          </a:solidFill>
          <a:ln w="9525">
            <a:solidFill>
              <a:srgbClr val="DCE4EC"/>
            </a:solidFill>
            <a:prstDash val="solid"/>
          </a:ln>
        </p:spPr>
      </p:sp>
      <p:sp>
        <p:nvSpPr>
          <p:cNvPr id="20" name="Shape 15"/>
          <p:cNvSpPr/>
          <p:nvPr/>
        </p:nvSpPr>
        <p:spPr>
          <a:xfrm>
            <a:off x="3986784" y="2779776"/>
            <a:ext cx="384048" cy="384048"/>
          </a:xfrm>
          <a:prstGeom prst="ellipse">
            <a:avLst/>
          </a:prstGeom>
          <a:solidFill>
            <a:srgbClr val="3D8EC9"/>
          </a:solidFill>
          <a:ln/>
        </p:spPr>
      </p:sp>
      <p:pic>
        <p:nvPicPr>
          <p:cNvPr id="21" name="Image 3" descr="/home/claude/wms_deck/assets/icons/exchangeAlt_white.png">    </p:cNvPr>
          <p:cNvPicPr>
            <a:picLocks noChangeAspect="1"/>
          </p:cNvPicPr>
          <p:nvPr/>
        </p:nvPicPr>
        <p:blipFill>
          <a:blip r:embed="rId4"/>
          <a:stretch>
            <a:fillRect/>
          </a:stretch>
        </p:blipFill>
        <p:spPr>
          <a:xfrm>
            <a:off x="4090477" y="2883469"/>
            <a:ext cx="176662" cy="176662"/>
          </a:xfrm>
          <a:prstGeom prst="rect">
            <a:avLst/>
          </a:prstGeom>
        </p:spPr>
      </p:pic>
      <p:sp>
        <p:nvSpPr>
          <p:cNvPr id="22" name="Text 16"/>
          <p:cNvSpPr/>
          <p:nvPr/>
        </p:nvSpPr>
        <p:spPr>
          <a:xfrm>
            <a:off x="4498848" y="2514600"/>
            <a:ext cx="2368296" cy="914400"/>
          </a:xfrm>
          <a:prstGeom prst="rect">
            <a:avLst/>
          </a:prstGeom>
          <a:noFill/>
          <a:ln/>
        </p:spPr>
        <p:txBody>
          <a:bodyPr wrap="square" rtlCol="0" anchor="ctr"/>
          <a:lstStyle/>
          <a:p>
            <a:pPr indent="0" marL="0">
              <a:lnSpc>
                <a:spcPct val="98000"/>
              </a:lnSpc>
              <a:buNone/>
            </a:pPr>
            <a:r>
              <a:rPr lang="en-US" sz="1150" b="1" dirty="0">
                <a:solidFill>
                  <a:srgbClr val="13294B"/>
                </a:solidFill>
                <a:latin typeface="Calibri" pitchFamily="34" charset="0"/>
                <a:ea typeface="Calibri" pitchFamily="34" charset="-122"/>
                <a:cs typeface="Calibri" pitchFamily="34" charset="-120"/>
              </a:rPr>
              <a:t>Relationships</a:t>
            </a:r>
            <a:endParaRPr lang="en-US" sz="1150" dirty="0"/>
          </a:p>
        </p:txBody>
      </p:sp>
      <p:sp>
        <p:nvSpPr>
          <p:cNvPr id="23" name="Text 17"/>
          <p:cNvSpPr/>
          <p:nvPr/>
        </p:nvSpPr>
        <p:spPr>
          <a:xfrm>
            <a:off x="3986784" y="3017520"/>
            <a:ext cx="2862072" cy="365760"/>
          </a:xfrm>
          <a:prstGeom prst="rect">
            <a:avLst/>
          </a:prstGeom>
          <a:noFill/>
          <a:ln/>
        </p:spPr>
        <p:txBody>
          <a:bodyPr wrap="square" rtlCol="0" anchor="t"/>
          <a:lstStyle/>
          <a:p>
            <a:pPr indent="0" marL="0">
              <a:lnSpc>
                <a:spcPct val="102000"/>
              </a:lnSpc>
              <a:buNone/>
            </a:pPr>
            <a:r>
              <a:rPr lang="en-US" sz="950" dirty="0">
                <a:solidFill>
                  <a:srgbClr val="5B6B7C"/>
                </a:solidFill>
                <a:latin typeface="Calibri" pitchFamily="34" charset="0"/>
                <a:ea typeface="Calibri" pitchFamily="34" charset="-122"/>
                <a:cs typeface="Calibri" pitchFamily="34" charset="-120"/>
              </a:rPr>
              <a:t>One-to-many links, e.g. one supplier → many products.</a:t>
            </a:r>
            <a:endParaRPr lang="en-US" sz="950" dirty="0"/>
          </a:p>
        </p:txBody>
      </p:sp>
      <p:sp>
        <p:nvSpPr>
          <p:cNvPr id="24" name="Shape 18"/>
          <p:cNvSpPr/>
          <p:nvPr/>
        </p:nvSpPr>
        <p:spPr>
          <a:xfrm>
            <a:off x="502920" y="3566160"/>
            <a:ext cx="3154680" cy="914400"/>
          </a:xfrm>
          <a:prstGeom prst="roundRect">
            <a:avLst>
              <a:gd name="adj" fmla="val 6000"/>
            </a:avLst>
          </a:prstGeom>
          <a:solidFill>
            <a:srgbClr val="F7FAFC"/>
          </a:solidFill>
          <a:ln w="9525">
            <a:solidFill>
              <a:srgbClr val="DCE4EC"/>
            </a:solidFill>
            <a:prstDash val="solid"/>
          </a:ln>
        </p:spPr>
      </p:sp>
      <p:sp>
        <p:nvSpPr>
          <p:cNvPr id="25" name="Shape 19"/>
          <p:cNvSpPr/>
          <p:nvPr/>
        </p:nvSpPr>
        <p:spPr>
          <a:xfrm>
            <a:off x="649224" y="3831336"/>
            <a:ext cx="384048" cy="384048"/>
          </a:xfrm>
          <a:prstGeom prst="ellipse">
            <a:avLst/>
          </a:prstGeom>
          <a:solidFill>
            <a:srgbClr val="3D8EC9"/>
          </a:solidFill>
          <a:ln/>
        </p:spPr>
      </p:sp>
      <p:pic>
        <p:nvPicPr>
          <p:cNvPr id="26" name="Image 4" descr="/home/claude/wms_deck/assets/icons/layerGroup_white.png">    </p:cNvPr>
          <p:cNvPicPr>
            <a:picLocks noChangeAspect="1"/>
          </p:cNvPicPr>
          <p:nvPr/>
        </p:nvPicPr>
        <p:blipFill>
          <a:blip r:embed="rId5"/>
          <a:stretch>
            <a:fillRect/>
          </a:stretch>
        </p:blipFill>
        <p:spPr>
          <a:xfrm>
            <a:off x="752917" y="3935029"/>
            <a:ext cx="176662" cy="176662"/>
          </a:xfrm>
          <a:prstGeom prst="rect">
            <a:avLst/>
          </a:prstGeom>
        </p:spPr>
      </p:pic>
      <p:sp>
        <p:nvSpPr>
          <p:cNvPr id="27" name="Text 20"/>
          <p:cNvSpPr/>
          <p:nvPr/>
        </p:nvSpPr>
        <p:spPr>
          <a:xfrm>
            <a:off x="1161288" y="3566160"/>
            <a:ext cx="2368296" cy="914400"/>
          </a:xfrm>
          <a:prstGeom prst="rect">
            <a:avLst/>
          </a:prstGeom>
          <a:noFill/>
          <a:ln/>
        </p:spPr>
        <p:txBody>
          <a:bodyPr wrap="square" rtlCol="0" anchor="ctr"/>
          <a:lstStyle/>
          <a:p>
            <a:pPr indent="0" marL="0">
              <a:lnSpc>
                <a:spcPct val="98000"/>
              </a:lnSpc>
              <a:buNone/>
            </a:pPr>
            <a:r>
              <a:rPr lang="en-US" sz="1150" b="1" dirty="0">
                <a:solidFill>
                  <a:srgbClr val="13294B"/>
                </a:solidFill>
                <a:latin typeface="Calibri" pitchFamily="34" charset="0"/>
                <a:ea typeface="Calibri" pitchFamily="34" charset="-122"/>
                <a:cs typeface="Calibri" pitchFamily="34" charset="-120"/>
              </a:rPr>
              <a:t>Normalization</a:t>
            </a:r>
            <a:endParaRPr lang="en-US" sz="1150" dirty="0"/>
          </a:p>
        </p:txBody>
      </p:sp>
      <p:sp>
        <p:nvSpPr>
          <p:cNvPr id="28" name="Text 21"/>
          <p:cNvSpPr/>
          <p:nvPr/>
        </p:nvSpPr>
        <p:spPr>
          <a:xfrm>
            <a:off x="649224" y="4069080"/>
            <a:ext cx="2862072" cy="365760"/>
          </a:xfrm>
          <a:prstGeom prst="rect">
            <a:avLst/>
          </a:prstGeom>
          <a:noFill/>
          <a:ln/>
        </p:spPr>
        <p:txBody>
          <a:bodyPr wrap="square" rtlCol="0" anchor="t"/>
          <a:lstStyle/>
          <a:p>
            <a:pPr indent="0" marL="0">
              <a:lnSpc>
                <a:spcPct val="102000"/>
              </a:lnSpc>
              <a:buNone/>
            </a:pPr>
            <a:r>
              <a:rPr lang="en-US" sz="950" dirty="0">
                <a:solidFill>
                  <a:srgbClr val="5B6B7C"/>
                </a:solidFill>
                <a:latin typeface="Calibri" pitchFamily="34" charset="0"/>
                <a:ea typeface="Calibri" pitchFamily="34" charset="-122"/>
                <a:cs typeface="Calibri" pitchFamily="34" charset="-120"/>
              </a:rPr>
              <a:t>Structuring tables to remove redundancy (1NF → 3NF).</a:t>
            </a:r>
            <a:endParaRPr lang="en-US" sz="950" dirty="0"/>
          </a:p>
        </p:txBody>
      </p:sp>
      <p:sp>
        <p:nvSpPr>
          <p:cNvPr id="29" name="Shape 22"/>
          <p:cNvSpPr/>
          <p:nvPr/>
        </p:nvSpPr>
        <p:spPr>
          <a:xfrm>
            <a:off x="3840480" y="3566160"/>
            <a:ext cx="3154680" cy="914400"/>
          </a:xfrm>
          <a:prstGeom prst="roundRect">
            <a:avLst>
              <a:gd name="adj" fmla="val 6000"/>
            </a:avLst>
          </a:prstGeom>
          <a:solidFill>
            <a:srgbClr val="F7FAFC"/>
          </a:solidFill>
          <a:ln w="9525">
            <a:solidFill>
              <a:srgbClr val="DCE4EC"/>
            </a:solidFill>
            <a:prstDash val="solid"/>
          </a:ln>
        </p:spPr>
      </p:sp>
      <p:sp>
        <p:nvSpPr>
          <p:cNvPr id="30" name="Shape 23"/>
          <p:cNvSpPr/>
          <p:nvPr/>
        </p:nvSpPr>
        <p:spPr>
          <a:xfrm>
            <a:off x="3986784" y="3831336"/>
            <a:ext cx="384048" cy="384048"/>
          </a:xfrm>
          <a:prstGeom prst="ellipse">
            <a:avLst/>
          </a:prstGeom>
          <a:solidFill>
            <a:srgbClr val="3D8EC9"/>
          </a:solidFill>
          <a:ln/>
        </p:spPr>
      </p:sp>
      <p:pic>
        <p:nvPicPr>
          <p:cNvPr id="31" name="Image 5" descr="/home/claude/wms_deck/assets/icons/shield_white.png">    </p:cNvPr>
          <p:cNvPicPr>
            <a:picLocks noChangeAspect="1"/>
          </p:cNvPicPr>
          <p:nvPr/>
        </p:nvPicPr>
        <p:blipFill>
          <a:blip r:embed="rId6"/>
          <a:stretch>
            <a:fillRect/>
          </a:stretch>
        </p:blipFill>
        <p:spPr>
          <a:xfrm>
            <a:off x="4090477" y="3935029"/>
            <a:ext cx="176662" cy="176662"/>
          </a:xfrm>
          <a:prstGeom prst="rect">
            <a:avLst/>
          </a:prstGeom>
        </p:spPr>
      </p:pic>
      <p:sp>
        <p:nvSpPr>
          <p:cNvPr id="32" name="Text 24"/>
          <p:cNvSpPr/>
          <p:nvPr/>
        </p:nvSpPr>
        <p:spPr>
          <a:xfrm>
            <a:off x="4498848" y="3566160"/>
            <a:ext cx="2368296" cy="914400"/>
          </a:xfrm>
          <a:prstGeom prst="rect">
            <a:avLst/>
          </a:prstGeom>
          <a:noFill/>
          <a:ln/>
        </p:spPr>
        <p:txBody>
          <a:bodyPr wrap="square" rtlCol="0" anchor="ctr"/>
          <a:lstStyle/>
          <a:p>
            <a:pPr indent="0" marL="0">
              <a:lnSpc>
                <a:spcPct val="98000"/>
              </a:lnSpc>
              <a:buNone/>
            </a:pPr>
            <a:r>
              <a:rPr lang="en-US" sz="1150" b="1" dirty="0">
                <a:solidFill>
                  <a:srgbClr val="13294B"/>
                </a:solidFill>
                <a:latin typeface="Calibri" pitchFamily="34" charset="0"/>
                <a:ea typeface="Calibri" pitchFamily="34" charset="-122"/>
                <a:cs typeface="Calibri" pitchFamily="34" charset="-120"/>
              </a:rPr>
              <a:t>Constraints &amp; Integrity</a:t>
            </a:r>
            <a:endParaRPr lang="en-US" sz="1150" dirty="0"/>
          </a:p>
        </p:txBody>
      </p:sp>
      <p:sp>
        <p:nvSpPr>
          <p:cNvPr id="33" name="Text 25"/>
          <p:cNvSpPr/>
          <p:nvPr/>
        </p:nvSpPr>
        <p:spPr>
          <a:xfrm>
            <a:off x="3986784" y="4069080"/>
            <a:ext cx="2862072" cy="365760"/>
          </a:xfrm>
          <a:prstGeom prst="rect">
            <a:avLst/>
          </a:prstGeom>
          <a:noFill/>
          <a:ln/>
        </p:spPr>
        <p:txBody>
          <a:bodyPr wrap="square" rtlCol="0" anchor="t"/>
          <a:lstStyle/>
          <a:p>
            <a:pPr indent="0" marL="0">
              <a:lnSpc>
                <a:spcPct val="102000"/>
              </a:lnSpc>
              <a:buNone/>
            </a:pPr>
            <a:r>
              <a:rPr lang="en-US" sz="950" dirty="0">
                <a:solidFill>
                  <a:srgbClr val="5B6B7C"/>
                </a:solidFill>
                <a:latin typeface="Calibri" pitchFamily="34" charset="0"/>
                <a:ea typeface="Calibri" pitchFamily="34" charset="-122"/>
                <a:cs typeface="Calibri" pitchFamily="34" charset="-120"/>
              </a:rPr>
              <a:t>NOT NULL, CHECK and FK rules keep data valid.</a:t>
            </a:r>
            <a:endParaRPr lang="en-US" sz="950" dirty="0"/>
          </a:p>
        </p:txBody>
      </p:sp>
      <p:sp>
        <p:nvSpPr>
          <p:cNvPr id="34" name="Shape 26"/>
          <p:cNvSpPr/>
          <p:nvPr/>
        </p:nvSpPr>
        <p:spPr>
          <a:xfrm>
            <a:off x="7360920" y="1463040"/>
            <a:ext cx="3886200" cy="3429000"/>
          </a:xfrm>
          <a:prstGeom prst="roundRect">
            <a:avLst>
              <a:gd name="adj" fmla="val 2133"/>
            </a:avLst>
          </a:prstGeom>
          <a:solidFill>
            <a:srgbClr val="13294B"/>
          </a:solidFill>
          <a:ln/>
        </p:spPr>
      </p:sp>
      <p:sp>
        <p:nvSpPr>
          <p:cNvPr id="35" name="Text 27"/>
          <p:cNvSpPr/>
          <p:nvPr/>
        </p:nvSpPr>
        <p:spPr>
          <a:xfrm>
            <a:off x="7589520" y="1645920"/>
            <a:ext cx="3474720" cy="256032"/>
          </a:xfrm>
          <a:prstGeom prst="rect">
            <a:avLst/>
          </a:prstGeom>
          <a:noFill/>
          <a:ln/>
        </p:spPr>
        <p:txBody>
          <a:bodyPr wrap="square" rtlCol="0" anchor="ctr"/>
          <a:lstStyle/>
          <a:p>
            <a:pPr indent="0" marL="0">
              <a:buNone/>
            </a:pPr>
            <a:r>
              <a:rPr lang="en-US" sz="1100" b="1" spc="100" kern="0" dirty="0">
                <a:solidFill>
                  <a:srgbClr val="AFD3EC"/>
                </a:solidFill>
                <a:latin typeface="Calibri" pitchFamily="34" charset="0"/>
                <a:ea typeface="Calibri" pitchFamily="34" charset="-122"/>
                <a:cs typeface="Calibri" pitchFamily="34" charset="-120"/>
              </a:rPr>
              <a:t>NORMALIZATION APPLIED</a:t>
            </a:r>
            <a:endParaRPr lang="en-US" sz="1100" dirty="0"/>
          </a:p>
        </p:txBody>
      </p:sp>
      <p:sp>
        <p:nvSpPr>
          <p:cNvPr id="36" name="Shape 28"/>
          <p:cNvSpPr/>
          <p:nvPr/>
        </p:nvSpPr>
        <p:spPr>
          <a:xfrm>
            <a:off x="7589520" y="2011680"/>
            <a:ext cx="566928" cy="365760"/>
          </a:xfrm>
          <a:prstGeom prst="roundRect">
            <a:avLst>
              <a:gd name="adj" fmla="val 15000"/>
            </a:avLst>
          </a:prstGeom>
          <a:solidFill>
            <a:srgbClr val="3D8EC9"/>
          </a:solidFill>
          <a:ln/>
        </p:spPr>
      </p:sp>
      <p:sp>
        <p:nvSpPr>
          <p:cNvPr id="37" name="Text 29"/>
          <p:cNvSpPr/>
          <p:nvPr/>
        </p:nvSpPr>
        <p:spPr>
          <a:xfrm>
            <a:off x="7589520" y="2011680"/>
            <a:ext cx="56692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1NF</a:t>
            </a:r>
            <a:endParaRPr lang="en-US" sz="1200" dirty="0"/>
          </a:p>
        </p:txBody>
      </p:sp>
      <p:sp>
        <p:nvSpPr>
          <p:cNvPr id="38" name="Text 30"/>
          <p:cNvSpPr/>
          <p:nvPr/>
        </p:nvSpPr>
        <p:spPr>
          <a:xfrm>
            <a:off x="8275320" y="1984248"/>
            <a:ext cx="2788920" cy="548640"/>
          </a:xfrm>
          <a:prstGeom prst="rect">
            <a:avLst/>
          </a:prstGeom>
          <a:noFill/>
          <a:ln/>
        </p:spPr>
        <p:txBody>
          <a:bodyPr wrap="square" rtlCol="0" anchor="t"/>
          <a:lstStyle/>
          <a:p>
            <a:pPr indent="0" marL="0">
              <a:lnSpc>
                <a:spcPct val="108000"/>
              </a:lnSpc>
              <a:buNone/>
            </a:pPr>
            <a:r>
              <a:rPr lang="en-US" sz="980" dirty="0">
                <a:solidFill>
                  <a:srgbClr val="D8E6F2"/>
                </a:solidFill>
                <a:latin typeface="Calibri" pitchFamily="34" charset="0"/>
                <a:ea typeface="Calibri" pitchFamily="34" charset="-122"/>
                <a:cs typeface="Calibri" pitchFamily="34" charset="-120"/>
              </a:rPr>
              <a:t>Atomic columns — no repeating groups (e.g. one phone number per field).</a:t>
            </a:r>
            <a:endParaRPr lang="en-US" sz="980" dirty="0"/>
          </a:p>
        </p:txBody>
      </p:sp>
      <p:sp>
        <p:nvSpPr>
          <p:cNvPr id="39" name="Shape 31"/>
          <p:cNvSpPr/>
          <p:nvPr/>
        </p:nvSpPr>
        <p:spPr>
          <a:xfrm>
            <a:off x="7872984" y="2395728"/>
            <a:ext cx="0" cy="256032"/>
          </a:xfrm>
          <a:prstGeom prst="line">
            <a:avLst/>
          </a:prstGeom>
          <a:noFill/>
          <a:ln w="28575">
            <a:solidFill>
              <a:srgbClr val="AFD3EC"/>
            </a:solidFill>
            <a:prstDash val="solid"/>
            <a:tailEnd type="triangle"/>
          </a:ln>
        </p:spPr>
      </p:sp>
      <p:sp>
        <p:nvSpPr>
          <p:cNvPr id="40" name="Shape 32"/>
          <p:cNvSpPr/>
          <p:nvPr/>
        </p:nvSpPr>
        <p:spPr>
          <a:xfrm>
            <a:off x="7589520" y="2907792"/>
            <a:ext cx="566928" cy="365760"/>
          </a:xfrm>
          <a:prstGeom prst="roundRect">
            <a:avLst>
              <a:gd name="adj" fmla="val 15000"/>
            </a:avLst>
          </a:prstGeom>
          <a:solidFill>
            <a:srgbClr val="3D8EC9"/>
          </a:solidFill>
          <a:ln/>
        </p:spPr>
      </p:sp>
      <p:sp>
        <p:nvSpPr>
          <p:cNvPr id="41" name="Text 33"/>
          <p:cNvSpPr/>
          <p:nvPr/>
        </p:nvSpPr>
        <p:spPr>
          <a:xfrm>
            <a:off x="7589520" y="2907792"/>
            <a:ext cx="56692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2NF</a:t>
            </a:r>
            <a:endParaRPr lang="en-US" sz="1200" dirty="0"/>
          </a:p>
        </p:txBody>
      </p:sp>
      <p:sp>
        <p:nvSpPr>
          <p:cNvPr id="42" name="Text 34"/>
          <p:cNvSpPr/>
          <p:nvPr/>
        </p:nvSpPr>
        <p:spPr>
          <a:xfrm>
            <a:off x="8275320" y="2880360"/>
            <a:ext cx="2788920" cy="548640"/>
          </a:xfrm>
          <a:prstGeom prst="rect">
            <a:avLst/>
          </a:prstGeom>
          <a:noFill/>
          <a:ln/>
        </p:spPr>
        <p:txBody>
          <a:bodyPr wrap="square" rtlCol="0" anchor="t"/>
          <a:lstStyle/>
          <a:p>
            <a:pPr indent="0" marL="0">
              <a:lnSpc>
                <a:spcPct val="108000"/>
              </a:lnSpc>
              <a:buNone/>
            </a:pPr>
            <a:r>
              <a:rPr lang="en-US" sz="980" dirty="0">
                <a:solidFill>
                  <a:srgbClr val="D8E6F2"/>
                </a:solidFill>
                <a:latin typeface="Calibri" pitchFamily="34" charset="0"/>
                <a:ea typeface="Calibri" pitchFamily="34" charset="-122"/>
                <a:cs typeface="Calibri" pitchFamily="34" charset="-120"/>
              </a:rPr>
              <a:t>Every non-key attribute depends on the whole primary key.</a:t>
            </a:r>
            <a:endParaRPr lang="en-US" sz="980" dirty="0"/>
          </a:p>
        </p:txBody>
      </p:sp>
      <p:sp>
        <p:nvSpPr>
          <p:cNvPr id="43" name="Shape 35"/>
          <p:cNvSpPr/>
          <p:nvPr/>
        </p:nvSpPr>
        <p:spPr>
          <a:xfrm>
            <a:off x="7872984" y="3291840"/>
            <a:ext cx="0" cy="256032"/>
          </a:xfrm>
          <a:prstGeom prst="line">
            <a:avLst/>
          </a:prstGeom>
          <a:noFill/>
          <a:ln w="28575">
            <a:solidFill>
              <a:srgbClr val="AFD3EC"/>
            </a:solidFill>
            <a:prstDash val="solid"/>
            <a:tailEnd type="triangle"/>
          </a:ln>
        </p:spPr>
      </p:sp>
      <p:sp>
        <p:nvSpPr>
          <p:cNvPr id="44" name="Shape 36"/>
          <p:cNvSpPr/>
          <p:nvPr/>
        </p:nvSpPr>
        <p:spPr>
          <a:xfrm>
            <a:off x="7589520" y="3803904"/>
            <a:ext cx="566928" cy="365760"/>
          </a:xfrm>
          <a:prstGeom prst="roundRect">
            <a:avLst>
              <a:gd name="adj" fmla="val 15000"/>
            </a:avLst>
          </a:prstGeom>
          <a:solidFill>
            <a:srgbClr val="3D8EC9"/>
          </a:solidFill>
          <a:ln/>
        </p:spPr>
      </p:sp>
      <p:sp>
        <p:nvSpPr>
          <p:cNvPr id="45" name="Text 37"/>
          <p:cNvSpPr/>
          <p:nvPr/>
        </p:nvSpPr>
        <p:spPr>
          <a:xfrm>
            <a:off x="7589520" y="3803904"/>
            <a:ext cx="566928"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3NF</a:t>
            </a:r>
            <a:endParaRPr lang="en-US" sz="1200" dirty="0"/>
          </a:p>
        </p:txBody>
      </p:sp>
      <p:sp>
        <p:nvSpPr>
          <p:cNvPr id="46" name="Text 38"/>
          <p:cNvSpPr/>
          <p:nvPr/>
        </p:nvSpPr>
        <p:spPr>
          <a:xfrm>
            <a:off x="8275320" y="3776472"/>
            <a:ext cx="2788920" cy="548640"/>
          </a:xfrm>
          <a:prstGeom prst="rect">
            <a:avLst/>
          </a:prstGeom>
          <a:noFill/>
          <a:ln/>
        </p:spPr>
        <p:txBody>
          <a:bodyPr wrap="square" rtlCol="0" anchor="t"/>
          <a:lstStyle/>
          <a:p>
            <a:pPr indent="0" marL="0">
              <a:lnSpc>
                <a:spcPct val="108000"/>
              </a:lnSpc>
              <a:buNone/>
            </a:pPr>
            <a:r>
              <a:rPr lang="en-US" sz="980" dirty="0">
                <a:solidFill>
                  <a:srgbClr val="D8E6F2"/>
                </a:solidFill>
                <a:latin typeface="Calibri" pitchFamily="34" charset="0"/>
                <a:ea typeface="Calibri" pitchFamily="34" charset="-122"/>
                <a:cs typeface="Calibri" pitchFamily="34" charset="-120"/>
              </a:rPr>
              <a:t>No attribute depends on another non-key attribute (e.g. supplier address stored once, in Suppliers).</a:t>
            </a:r>
            <a:endParaRPr lang="en-US" sz="980" dirty="0"/>
          </a:p>
        </p:txBody>
      </p:sp>
      <p:sp>
        <p:nvSpPr>
          <p:cNvPr id="47" name="Shape 39"/>
          <p:cNvSpPr/>
          <p:nvPr/>
        </p:nvSpPr>
        <p:spPr>
          <a:xfrm>
            <a:off x="11451031" y="6437376"/>
            <a:ext cx="237744" cy="237744"/>
          </a:xfrm>
          <a:prstGeom prst="ellipse">
            <a:avLst/>
          </a:prstGeom>
          <a:solidFill>
            <a:srgbClr val="EEF3F8"/>
          </a:solidFill>
          <a:ln/>
        </p:spPr>
      </p:sp>
      <p:pic>
        <p:nvPicPr>
          <p:cNvPr id="48" name="Image 6" descr="/home/claude/wms_deck/assets/icons/database_navy.png">    </p:cNvPr>
          <p:cNvPicPr>
            <a:picLocks noChangeAspect="1"/>
          </p:cNvPicPr>
          <p:nvPr/>
        </p:nvPicPr>
        <p:blipFill>
          <a:blip r:embed="rId7"/>
          <a:stretch>
            <a:fillRect/>
          </a:stretch>
        </p:blipFill>
        <p:spPr>
          <a:xfrm>
            <a:off x="11515222" y="6501567"/>
            <a:ext cx="109362" cy="109362"/>
          </a:xfrm>
          <a:prstGeom prst="rect">
            <a:avLst/>
          </a:prstGeom>
        </p:spPr>
      </p:pic>
      <p:sp>
        <p:nvSpPr>
          <p:cNvPr id="49" name="Text 40"/>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50" name="Text 41"/>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SCHEMA OVERVIEW</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Database Tables</a:t>
            </a:r>
            <a:endParaRPr lang="en-US" sz="3000" dirty="0"/>
          </a:p>
        </p:txBody>
      </p:sp>
      <p:sp>
        <p:nvSpPr>
          <p:cNvPr id="4" name="Shape 2"/>
          <p:cNvSpPr/>
          <p:nvPr/>
        </p:nvSpPr>
        <p:spPr>
          <a:xfrm>
            <a:off x="502920" y="1554480"/>
            <a:ext cx="2105497" cy="4434840"/>
          </a:xfrm>
          <a:prstGeom prst="roundRect">
            <a:avLst>
              <a:gd name="adj" fmla="val 3474"/>
            </a:avLst>
          </a:prstGeom>
          <a:solidFill>
            <a:srgbClr val="FFFFFF"/>
          </a:solidFill>
          <a:ln/>
          <a:effectLst>
            <a:outerShdw sx="100000" sy="100000" kx="0" ky="0" algn="bl" rotWithShape="0" blurRad="101600" dist="25400" dir="5400000">
              <a:srgbClr val="13294B">
                <a:alpha val="12000"/>
              </a:srgbClr>
            </a:outerShdw>
          </a:effectLst>
        </p:spPr>
      </p:sp>
      <p:sp>
        <p:nvSpPr>
          <p:cNvPr id="5" name="Shape 3"/>
          <p:cNvSpPr/>
          <p:nvPr/>
        </p:nvSpPr>
        <p:spPr>
          <a:xfrm>
            <a:off x="1290493" y="1755648"/>
            <a:ext cx="530352" cy="530352"/>
          </a:xfrm>
          <a:prstGeom prst="ellipse">
            <a:avLst/>
          </a:prstGeom>
          <a:solidFill>
            <a:srgbClr val="13294B"/>
          </a:solidFill>
          <a:ln/>
        </p:spPr>
      </p:sp>
      <p:pic>
        <p:nvPicPr>
          <p:cNvPr id="6" name="Image 0" descr="/home/claude/wms_deck/assets/icons/handshake_white.png">    </p:cNvPr>
          <p:cNvPicPr>
            <a:picLocks noChangeAspect="1"/>
          </p:cNvPicPr>
          <p:nvPr/>
        </p:nvPicPr>
        <p:blipFill>
          <a:blip r:embed="rId1"/>
          <a:stretch>
            <a:fillRect/>
          </a:stretch>
        </p:blipFill>
        <p:spPr>
          <a:xfrm>
            <a:off x="1433688" y="1898843"/>
            <a:ext cx="243962" cy="243962"/>
          </a:xfrm>
          <a:prstGeom prst="rect">
            <a:avLst/>
          </a:prstGeom>
        </p:spPr>
      </p:pic>
      <p:sp>
        <p:nvSpPr>
          <p:cNvPr id="7" name="Text 4"/>
          <p:cNvSpPr/>
          <p:nvPr/>
        </p:nvSpPr>
        <p:spPr>
          <a:xfrm>
            <a:off x="576072" y="2377440"/>
            <a:ext cx="1959193" cy="320040"/>
          </a:xfrm>
          <a:prstGeom prst="rect">
            <a:avLst/>
          </a:prstGeom>
          <a:noFill/>
          <a:ln/>
        </p:spPr>
        <p:txBody>
          <a:bodyPr wrap="square" rtlCol="0" anchor="ctr"/>
          <a:lstStyle/>
          <a:p>
            <a:pPr algn="ctr" indent="0" marL="0">
              <a:buNone/>
            </a:pPr>
            <a:r>
              <a:rPr lang="en-US" sz="1250" b="1" dirty="0">
                <a:solidFill>
                  <a:srgbClr val="13294B"/>
                </a:solidFill>
                <a:latin typeface="Calibri" pitchFamily="34" charset="0"/>
                <a:ea typeface="Calibri" pitchFamily="34" charset="-122"/>
                <a:cs typeface="Calibri" pitchFamily="34" charset="-120"/>
              </a:rPr>
              <a:t>SUPPLIERS</a:t>
            </a:r>
            <a:endParaRPr lang="en-US" sz="1250" dirty="0"/>
          </a:p>
        </p:txBody>
      </p:sp>
      <p:sp>
        <p:nvSpPr>
          <p:cNvPr id="8" name="Shape 5"/>
          <p:cNvSpPr/>
          <p:nvPr/>
        </p:nvSpPr>
        <p:spPr>
          <a:xfrm>
            <a:off x="777240" y="2761488"/>
            <a:ext cx="1556857" cy="0"/>
          </a:xfrm>
          <a:prstGeom prst="line">
            <a:avLst/>
          </a:prstGeom>
          <a:noFill/>
          <a:ln w="12700">
            <a:solidFill>
              <a:srgbClr val="DCE4EC"/>
            </a:solidFill>
            <a:prstDash val="solid"/>
          </a:ln>
        </p:spPr>
      </p:sp>
      <p:sp>
        <p:nvSpPr>
          <p:cNvPr id="9" name="Text 6"/>
          <p:cNvSpPr/>
          <p:nvPr/>
        </p:nvSpPr>
        <p:spPr>
          <a:xfrm>
            <a:off x="594360" y="2852928"/>
            <a:ext cx="1922617" cy="274320"/>
          </a:xfrm>
          <a:prstGeom prst="rect">
            <a:avLst/>
          </a:prstGeom>
          <a:noFill/>
          <a:ln/>
        </p:spPr>
        <p:txBody>
          <a:bodyPr wrap="square" rtlCol="0" anchor="ctr"/>
          <a:lstStyle/>
          <a:p>
            <a:pPr algn="ctr" indent="0" marL="0">
              <a:buNone/>
            </a:pPr>
            <a:r>
              <a:rPr lang="en-US" sz="1000" b="1" dirty="0">
                <a:solidFill>
                  <a:srgbClr val="3D8EC9"/>
                </a:solidFill>
                <a:latin typeface="Calibri" pitchFamily="34" charset="0"/>
                <a:ea typeface="Calibri" pitchFamily="34" charset="-122"/>
                <a:cs typeface="Calibri" pitchFamily="34" charset="-120"/>
              </a:rPr>
              <a:t>PK: Supplier_ID</a:t>
            </a:r>
            <a:endParaRPr lang="en-US" sz="1000" dirty="0"/>
          </a:p>
        </p:txBody>
      </p:sp>
      <p:sp>
        <p:nvSpPr>
          <p:cNvPr id="10" name="Text 7"/>
          <p:cNvSpPr/>
          <p:nvPr/>
        </p:nvSpPr>
        <p:spPr>
          <a:xfrm>
            <a:off x="667512" y="3246120"/>
            <a:ext cx="1776313" cy="2606040"/>
          </a:xfrm>
          <a:prstGeom prst="rect">
            <a:avLst/>
          </a:prstGeom>
          <a:noFill/>
          <a:ln/>
        </p:spPr>
        <p:txBody>
          <a:bodyPr wrap="square" rtlCol="0" anchor="t"/>
          <a:lstStyle/>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supplier_name</a:t>
            </a:r>
            <a:endParaRPr lang="en-US" sz="930" dirty="0"/>
          </a:p>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contact_person</a:t>
            </a:r>
            <a:endParaRPr lang="en-US" sz="930" dirty="0"/>
          </a:p>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phone, email</a:t>
            </a:r>
            <a:endParaRPr lang="en-US" sz="930" dirty="0"/>
          </a:p>
        </p:txBody>
      </p:sp>
      <p:sp>
        <p:nvSpPr>
          <p:cNvPr id="11" name="Shape 8"/>
          <p:cNvSpPr/>
          <p:nvPr/>
        </p:nvSpPr>
        <p:spPr>
          <a:xfrm>
            <a:off x="2773009" y="1554480"/>
            <a:ext cx="2105497" cy="4434840"/>
          </a:xfrm>
          <a:prstGeom prst="roundRect">
            <a:avLst>
              <a:gd name="adj" fmla="val 3474"/>
            </a:avLst>
          </a:prstGeom>
          <a:solidFill>
            <a:srgbClr val="FFFFFF"/>
          </a:solidFill>
          <a:ln/>
          <a:effectLst>
            <a:outerShdw sx="100000" sy="100000" kx="0" ky="0" algn="bl" rotWithShape="0" blurRad="101600" dist="25400" dir="5400000">
              <a:srgbClr val="13294B">
                <a:alpha val="12000"/>
              </a:srgbClr>
            </a:outerShdw>
          </a:effectLst>
        </p:spPr>
      </p:sp>
      <p:sp>
        <p:nvSpPr>
          <p:cNvPr id="12" name="Shape 9"/>
          <p:cNvSpPr/>
          <p:nvPr/>
        </p:nvSpPr>
        <p:spPr>
          <a:xfrm>
            <a:off x="3560582" y="1755648"/>
            <a:ext cx="530352" cy="530352"/>
          </a:xfrm>
          <a:prstGeom prst="ellipse">
            <a:avLst/>
          </a:prstGeom>
          <a:solidFill>
            <a:srgbClr val="13294B"/>
          </a:solidFill>
          <a:ln/>
        </p:spPr>
      </p:sp>
      <p:pic>
        <p:nvPicPr>
          <p:cNvPr id="13" name="Image 1" descr="/home/claude/wms_deck/assets/icons/tags_white.png">    </p:cNvPr>
          <p:cNvPicPr>
            <a:picLocks noChangeAspect="1"/>
          </p:cNvPicPr>
          <p:nvPr/>
        </p:nvPicPr>
        <p:blipFill>
          <a:blip r:embed="rId2"/>
          <a:stretch>
            <a:fillRect/>
          </a:stretch>
        </p:blipFill>
        <p:spPr>
          <a:xfrm>
            <a:off x="3703777" y="1898843"/>
            <a:ext cx="243962" cy="243962"/>
          </a:xfrm>
          <a:prstGeom prst="rect">
            <a:avLst/>
          </a:prstGeom>
        </p:spPr>
      </p:pic>
      <p:sp>
        <p:nvSpPr>
          <p:cNvPr id="14" name="Text 10"/>
          <p:cNvSpPr/>
          <p:nvPr/>
        </p:nvSpPr>
        <p:spPr>
          <a:xfrm>
            <a:off x="2846161" y="2377440"/>
            <a:ext cx="1959193" cy="320040"/>
          </a:xfrm>
          <a:prstGeom prst="rect">
            <a:avLst/>
          </a:prstGeom>
          <a:noFill/>
          <a:ln/>
        </p:spPr>
        <p:txBody>
          <a:bodyPr wrap="square" rtlCol="0" anchor="ctr"/>
          <a:lstStyle/>
          <a:p>
            <a:pPr algn="ctr" indent="0" marL="0">
              <a:buNone/>
            </a:pPr>
            <a:r>
              <a:rPr lang="en-US" sz="1250" b="1" dirty="0">
                <a:solidFill>
                  <a:srgbClr val="13294B"/>
                </a:solidFill>
                <a:latin typeface="Calibri" pitchFamily="34" charset="0"/>
                <a:ea typeface="Calibri" pitchFamily="34" charset="-122"/>
                <a:cs typeface="Calibri" pitchFamily="34" charset="-120"/>
              </a:rPr>
              <a:t>CATEGORIES</a:t>
            </a:r>
            <a:endParaRPr lang="en-US" sz="1250" dirty="0"/>
          </a:p>
        </p:txBody>
      </p:sp>
      <p:sp>
        <p:nvSpPr>
          <p:cNvPr id="15" name="Shape 11"/>
          <p:cNvSpPr/>
          <p:nvPr/>
        </p:nvSpPr>
        <p:spPr>
          <a:xfrm>
            <a:off x="3047329" y="2761488"/>
            <a:ext cx="1556857" cy="0"/>
          </a:xfrm>
          <a:prstGeom prst="line">
            <a:avLst/>
          </a:prstGeom>
          <a:noFill/>
          <a:ln w="12700">
            <a:solidFill>
              <a:srgbClr val="DCE4EC"/>
            </a:solidFill>
            <a:prstDash val="solid"/>
          </a:ln>
        </p:spPr>
      </p:sp>
      <p:sp>
        <p:nvSpPr>
          <p:cNvPr id="16" name="Text 12"/>
          <p:cNvSpPr/>
          <p:nvPr/>
        </p:nvSpPr>
        <p:spPr>
          <a:xfrm>
            <a:off x="2864449" y="2852928"/>
            <a:ext cx="1922617" cy="274320"/>
          </a:xfrm>
          <a:prstGeom prst="rect">
            <a:avLst/>
          </a:prstGeom>
          <a:noFill/>
          <a:ln/>
        </p:spPr>
        <p:txBody>
          <a:bodyPr wrap="square" rtlCol="0" anchor="ctr"/>
          <a:lstStyle/>
          <a:p>
            <a:pPr algn="ctr" indent="0" marL="0">
              <a:buNone/>
            </a:pPr>
            <a:r>
              <a:rPr lang="en-US" sz="1000" b="1" dirty="0">
                <a:solidFill>
                  <a:srgbClr val="3D8EC9"/>
                </a:solidFill>
                <a:latin typeface="Calibri" pitchFamily="34" charset="0"/>
                <a:ea typeface="Calibri" pitchFamily="34" charset="-122"/>
                <a:cs typeface="Calibri" pitchFamily="34" charset="-120"/>
              </a:rPr>
              <a:t>PK: Category_ID</a:t>
            </a:r>
            <a:endParaRPr lang="en-US" sz="1000" dirty="0"/>
          </a:p>
        </p:txBody>
      </p:sp>
      <p:sp>
        <p:nvSpPr>
          <p:cNvPr id="17" name="Text 13"/>
          <p:cNvSpPr/>
          <p:nvPr/>
        </p:nvSpPr>
        <p:spPr>
          <a:xfrm>
            <a:off x="2937601" y="3246120"/>
            <a:ext cx="1776313" cy="2606040"/>
          </a:xfrm>
          <a:prstGeom prst="rect">
            <a:avLst/>
          </a:prstGeom>
          <a:noFill/>
          <a:ln/>
        </p:spPr>
        <p:txBody>
          <a:bodyPr wrap="square" rtlCol="0" anchor="t"/>
          <a:lstStyle/>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category_name</a:t>
            </a:r>
            <a:endParaRPr lang="en-US" sz="930" dirty="0"/>
          </a:p>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description</a:t>
            </a:r>
            <a:endParaRPr lang="en-US" sz="930" dirty="0"/>
          </a:p>
        </p:txBody>
      </p:sp>
      <p:sp>
        <p:nvSpPr>
          <p:cNvPr id="18" name="Shape 14"/>
          <p:cNvSpPr/>
          <p:nvPr/>
        </p:nvSpPr>
        <p:spPr>
          <a:xfrm>
            <a:off x="5043099" y="1554480"/>
            <a:ext cx="2105497" cy="4434840"/>
          </a:xfrm>
          <a:prstGeom prst="roundRect">
            <a:avLst>
              <a:gd name="adj" fmla="val 3474"/>
            </a:avLst>
          </a:prstGeom>
          <a:solidFill>
            <a:srgbClr val="FFFFFF"/>
          </a:solidFill>
          <a:ln/>
          <a:effectLst>
            <a:outerShdw sx="100000" sy="100000" kx="0" ky="0" algn="bl" rotWithShape="0" blurRad="101600" dist="25400" dir="5400000">
              <a:srgbClr val="13294B">
                <a:alpha val="12000"/>
              </a:srgbClr>
            </a:outerShdw>
          </a:effectLst>
        </p:spPr>
      </p:sp>
      <p:sp>
        <p:nvSpPr>
          <p:cNvPr id="19" name="Shape 15"/>
          <p:cNvSpPr/>
          <p:nvPr/>
        </p:nvSpPr>
        <p:spPr>
          <a:xfrm>
            <a:off x="5830672" y="1755648"/>
            <a:ext cx="530352" cy="530352"/>
          </a:xfrm>
          <a:prstGeom prst="ellipse">
            <a:avLst/>
          </a:prstGeom>
          <a:solidFill>
            <a:srgbClr val="13294B"/>
          </a:solidFill>
          <a:ln/>
        </p:spPr>
      </p:sp>
      <p:pic>
        <p:nvPicPr>
          <p:cNvPr id="20" name="Image 2" descr="/home/claude/wms_deck/assets/icons/boxes_white.png">    </p:cNvPr>
          <p:cNvPicPr>
            <a:picLocks noChangeAspect="1"/>
          </p:cNvPicPr>
          <p:nvPr/>
        </p:nvPicPr>
        <p:blipFill>
          <a:blip r:embed="rId3"/>
          <a:stretch>
            <a:fillRect/>
          </a:stretch>
        </p:blipFill>
        <p:spPr>
          <a:xfrm>
            <a:off x="5973867" y="1898843"/>
            <a:ext cx="243962" cy="243962"/>
          </a:xfrm>
          <a:prstGeom prst="rect">
            <a:avLst/>
          </a:prstGeom>
        </p:spPr>
      </p:pic>
      <p:sp>
        <p:nvSpPr>
          <p:cNvPr id="21" name="Text 16"/>
          <p:cNvSpPr/>
          <p:nvPr/>
        </p:nvSpPr>
        <p:spPr>
          <a:xfrm>
            <a:off x="5116251" y="2377440"/>
            <a:ext cx="1959193" cy="320040"/>
          </a:xfrm>
          <a:prstGeom prst="rect">
            <a:avLst/>
          </a:prstGeom>
          <a:noFill/>
          <a:ln/>
        </p:spPr>
        <p:txBody>
          <a:bodyPr wrap="square" rtlCol="0" anchor="ctr"/>
          <a:lstStyle/>
          <a:p>
            <a:pPr algn="ctr" indent="0" marL="0">
              <a:buNone/>
            </a:pPr>
            <a:r>
              <a:rPr lang="en-US" sz="1250" b="1" dirty="0">
                <a:solidFill>
                  <a:srgbClr val="13294B"/>
                </a:solidFill>
                <a:latin typeface="Calibri" pitchFamily="34" charset="0"/>
                <a:ea typeface="Calibri" pitchFamily="34" charset="-122"/>
                <a:cs typeface="Calibri" pitchFamily="34" charset="-120"/>
              </a:rPr>
              <a:t>PRODUCTS</a:t>
            </a:r>
            <a:endParaRPr lang="en-US" sz="1250" dirty="0"/>
          </a:p>
        </p:txBody>
      </p:sp>
      <p:sp>
        <p:nvSpPr>
          <p:cNvPr id="22" name="Shape 17"/>
          <p:cNvSpPr/>
          <p:nvPr/>
        </p:nvSpPr>
        <p:spPr>
          <a:xfrm>
            <a:off x="5317419" y="2761488"/>
            <a:ext cx="1556857" cy="0"/>
          </a:xfrm>
          <a:prstGeom prst="line">
            <a:avLst/>
          </a:prstGeom>
          <a:noFill/>
          <a:ln w="12700">
            <a:solidFill>
              <a:srgbClr val="DCE4EC"/>
            </a:solidFill>
            <a:prstDash val="solid"/>
          </a:ln>
        </p:spPr>
      </p:sp>
      <p:sp>
        <p:nvSpPr>
          <p:cNvPr id="23" name="Text 18"/>
          <p:cNvSpPr/>
          <p:nvPr/>
        </p:nvSpPr>
        <p:spPr>
          <a:xfrm>
            <a:off x="5134539" y="2852928"/>
            <a:ext cx="1922617" cy="274320"/>
          </a:xfrm>
          <a:prstGeom prst="rect">
            <a:avLst/>
          </a:prstGeom>
          <a:noFill/>
          <a:ln/>
        </p:spPr>
        <p:txBody>
          <a:bodyPr wrap="square" rtlCol="0" anchor="ctr"/>
          <a:lstStyle/>
          <a:p>
            <a:pPr algn="ctr" indent="0" marL="0">
              <a:buNone/>
            </a:pPr>
            <a:r>
              <a:rPr lang="en-US" sz="1000" b="1" dirty="0">
                <a:solidFill>
                  <a:srgbClr val="3D8EC9"/>
                </a:solidFill>
                <a:latin typeface="Calibri" pitchFamily="34" charset="0"/>
                <a:ea typeface="Calibri" pitchFamily="34" charset="-122"/>
                <a:cs typeface="Calibri" pitchFamily="34" charset="-120"/>
              </a:rPr>
              <a:t>PK: Product_ID</a:t>
            </a:r>
            <a:endParaRPr lang="en-US" sz="1000" dirty="0"/>
          </a:p>
        </p:txBody>
      </p:sp>
      <p:sp>
        <p:nvSpPr>
          <p:cNvPr id="24" name="Text 19"/>
          <p:cNvSpPr/>
          <p:nvPr/>
        </p:nvSpPr>
        <p:spPr>
          <a:xfrm>
            <a:off x="5207691" y="3246120"/>
            <a:ext cx="1776313" cy="2606040"/>
          </a:xfrm>
          <a:prstGeom prst="rect">
            <a:avLst/>
          </a:prstGeom>
          <a:noFill/>
          <a:ln/>
        </p:spPr>
        <p:txBody>
          <a:bodyPr wrap="square" rtlCol="0" anchor="t"/>
          <a:lstStyle/>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product_name, unit_price</a:t>
            </a:r>
            <a:endParaRPr lang="en-US" sz="930" dirty="0"/>
          </a:p>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FK: Category_ID, Supplier_ID</a:t>
            </a:r>
            <a:endParaRPr lang="en-US" sz="930" dirty="0"/>
          </a:p>
        </p:txBody>
      </p:sp>
      <p:sp>
        <p:nvSpPr>
          <p:cNvPr id="25" name="Shape 20"/>
          <p:cNvSpPr/>
          <p:nvPr/>
        </p:nvSpPr>
        <p:spPr>
          <a:xfrm>
            <a:off x="7313188" y="1554480"/>
            <a:ext cx="2105497" cy="4434840"/>
          </a:xfrm>
          <a:prstGeom prst="roundRect">
            <a:avLst>
              <a:gd name="adj" fmla="val 3474"/>
            </a:avLst>
          </a:prstGeom>
          <a:solidFill>
            <a:srgbClr val="FFFFFF"/>
          </a:solidFill>
          <a:ln/>
          <a:effectLst>
            <a:outerShdw sx="100000" sy="100000" kx="0" ky="0" algn="bl" rotWithShape="0" blurRad="101600" dist="25400" dir="5400000">
              <a:srgbClr val="13294B">
                <a:alpha val="12000"/>
              </a:srgbClr>
            </a:outerShdw>
          </a:effectLst>
        </p:spPr>
      </p:sp>
      <p:sp>
        <p:nvSpPr>
          <p:cNvPr id="26" name="Shape 21"/>
          <p:cNvSpPr/>
          <p:nvPr/>
        </p:nvSpPr>
        <p:spPr>
          <a:xfrm>
            <a:off x="8100761" y="1755648"/>
            <a:ext cx="530352" cy="530352"/>
          </a:xfrm>
          <a:prstGeom prst="ellipse">
            <a:avLst/>
          </a:prstGeom>
          <a:solidFill>
            <a:srgbClr val="13294B"/>
          </a:solidFill>
          <a:ln/>
        </p:spPr>
      </p:sp>
      <p:pic>
        <p:nvPicPr>
          <p:cNvPr id="27" name="Image 3" descr="/home/claude/wms_deck/assets/icons/users_white.png">    </p:cNvPr>
          <p:cNvPicPr>
            <a:picLocks noChangeAspect="1"/>
          </p:cNvPicPr>
          <p:nvPr/>
        </p:nvPicPr>
        <p:blipFill>
          <a:blip r:embed="rId4"/>
          <a:stretch>
            <a:fillRect/>
          </a:stretch>
        </p:blipFill>
        <p:spPr>
          <a:xfrm>
            <a:off x="8243956" y="1898843"/>
            <a:ext cx="243962" cy="243962"/>
          </a:xfrm>
          <a:prstGeom prst="rect">
            <a:avLst/>
          </a:prstGeom>
        </p:spPr>
      </p:pic>
      <p:sp>
        <p:nvSpPr>
          <p:cNvPr id="28" name="Text 22"/>
          <p:cNvSpPr/>
          <p:nvPr/>
        </p:nvSpPr>
        <p:spPr>
          <a:xfrm>
            <a:off x="7386340" y="2377440"/>
            <a:ext cx="1959193" cy="320040"/>
          </a:xfrm>
          <a:prstGeom prst="rect">
            <a:avLst/>
          </a:prstGeom>
          <a:noFill/>
          <a:ln/>
        </p:spPr>
        <p:txBody>
          <a:bodyPr wrap="square" rtlCol="0" anchor="ctr"/>
          <a:lstStyle/>
          <a:p>
            <a:pPr algn="ctr" indent="0" marL="0">
              <a:buNone/>
            </a:pPr>
            <a:r>
              <a:rPr lang="en-US" sz="1250" b="1" dirty="0">
                <a:solidFill>
                  <a:srgbClr val="13294B"/>
                </a:solidFill>
                <a:latin typeface="Calibri" pitchFamily="34" charset="0"/>
                <a:ea typeface="Calibri" pitchFamily="34" charset="-122"/>
                <a:cs typeface="Calibri" pitchFamily="34" charset="-120"/>
              </a:rPr>
              <a:t>CUSTOMERS</a:t>
            </a:r>
            <a:endParaRPr lang="en-US" sz="1250" dirty="0"/>
          </a:p>
        </p:txBody>
      </p:sp>
      <p:sp>
        <p:nvSpPr>
          <p:cNvPr id="29" name="Shape 23"/>
          <p:cNvSpPr/>
          <p:nvPr/>
        </p:nvSpPr>
        <p:spPr>
          <a:xfrm>
            <a:off x="7587508" y="2761488"/>
            <a:ext cx="1556857" cy="0"/>
          </a:xfrm>
          <a:prstGeom prst="line">
            <a:avLst/>
          </a:prstGeom>
          <a:noFill/>
          <a:ln w="12700">
            <a:solidFill>
              <a:srgbClr val="DCE4EC"/>
            </a:solidFill>
            <a:prstDash val="solid"/>
          </a:ln>
        </p:spPr>
      </p:sp>
      <p:sp>
        <p:nvSpPr>
          <p:cNvPr id="30" name="Text 24"/>
          <p:cNvSpPr/>
          <p:nvPr/>
        </p:nvSpPr>
        <p:spPr>
          <a:xfrm>
            <a:off x="7404628" y="2852928"/>
            <a:ext cx="1922617" cy="274320"/>
          </a:xfrm>
          <a:prstGeom prst="rect">
            <a:avLst/>
          </a:prstGeom>
          <a:noFill/>
          <a:ln/>
        </p:spPr>
        <p:txBody>
          <a:bodyPr wrap="square" rtlCol="0" anchor="ctr"/>
          <a:lstStyle/>
          <a:p>
            <a:pPr algn="ctr" indent="0" marL="0">
              <a:buNone/>
            </a:pPr>
            <a:r>
              <a:rPr lang="en-US" sz="1000" b="1" dirty="0">
                <a:solidFill>
                  <a:srgbClr val="3D8EC9"/>
                </a:solidFill>
                <a:latin typeface="Calibri" pitchFamily="34" charset="0"/>
                <a:ea typeface="Calibri" pitchFamily="34" charset="-122"/>
                <a:cs typeface="Calibri" pitchFamily="34" charset="-120"/>
              </a:rPr>
              <a:t>PK: Customer_ID</a:t>
            </a:r>
            <a:endParaRPr lang="en-US" sz="1000" dirty="0"/>
          </a:p>
        </p:txBody>
      </p:sp>
      <p:sp>
        <p:nvSpPr>
          <p:cNvPr id="31" name="Text 25"/>
          <p:cNvSpPr/>
          <p:nvPr/>
        </p:nvSpPr>
        <p:spPr>
          <a:xfrm>
            <a:off x="7477780" y="3246120"/>
            <a:ext cx="1776313" cy="2606040"/>
          </a:xfrm>
          <a:prstGeom prst="rect">
            <a:avLst/>
          </a:prstGeom>
          <a:noFill/>
          <a:ln/>
        </p:spPr>
        <p:txBody>
          <a:bodyPr wrap="square" rtlCol="0" anchor="t"/>
          <a:lstStyle/>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customer_name</a:t>
            </a:r>
            <a:endParaRPr lang="en-US" sz="930" dirty="0"/>
          </a:p>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phone, email, address</a:t>
            </a:r>
            <a:endParaRPr lang="en-US" sz="930" dirty="0"/>
          </a:p>
        </p:txBody>
      </p:sp>
      <p:sp>
        <p:nvSpPr>
          <p:cNvPr id="32" name="Shape 26"/>
          <p:cNvSpPr/>
          <p:nvPr/>
        </p:nvSpPr>
        <p:spPr>
          <a:xfrm>
            <a:off x="9583278" y="1554480"/>
            <a:ext cx="2105497" cy="4434840"/>
          </a:xfrm>
          <a:prstGeom prst="roundRect">
            <a:avLst>
              <a:gd name="adj" fmla="val 3474"/>
            </a:avLst>
          </a:prstGeom>
          <a:solidFill>
            <a:srgbClr val="FFFFFF"/>
          </a:solidFill>
          <a:ln/>
          <a:effectLst>
            <a:outerShdw sx="100000" sy="100000" kx="0" ky="0" algn="bl" rotWithShape="0" blurRad="101600" dist="25400" dir="5400000">
              <a:srgbClr val="13294B">
                <a:alpha val="12000"/>
              </a:srgbClr>
            </a:outerShdw>
          </a:effectLst>
        </p:spPr>
      </p:sp>
      <p:sp>
        <p:nvSpPr>
          <p:cNvPr id="33" name="Shape 27"/>
          <p:cNvSpPr/>
          <p:nvPr/>
        </p:nvSpPr>
        <p:spPr>
          <a:xfrm>
            <a:off x="10370850" y="1755648"/>
            <a:ext cx="530352" cy="530352"/>
          </a:xfrm>
          <a:prstGeom prst="ellipse">
            <a:avLst/>
          </a:prstGeom>
          <a:solidFill>
            <a:srgbClr val="13294B"/>
          </a:solidFill>
          <a:ln/>
        </p:spPr>
      </p:sp>
      <p:pic>
        <p:nvPicPr>
          <p:cNvPr id="34" name="Image 4" descr="/home/claude/wms_deck/assets/icons/receipt_white.png">    </p:cNvPr>
          <p:cNvPicPr>
            <a:picLocks noChangeAspect="1"/>
          </p:cNvPicPr>
          <p:nvPr/>
        </p:nvPicPr>
        <p:blipFill>
          <a:blip r:embed="rId5"/>
          <a:stretch>
            <a:fillRect/>
          </a:stretch>
        </p:blipFill>
        <p:spPr>
          <a:xfrm>
            <a:off x="10514046" y="1898843"/>
            <a:ext cx="243962" cy="243962"/>
          </a:xfrm>
          <a:prstGeom prst="rect">
            <a:avLst/>
          </a:prstGeom>
        </p:spPr>
      </p:pic>
      <p:sp>
        <p:nvSpPr>
          <p:cNvPr id="35" name="Text 28"/>
          <p:cNvSpPr/>
          <p:nvPr/>
        </p:nvSpPr>
        <p:spPr>
          <a:xfrm>
            <a:off x="9656430" y="2377440"/>
            <a:ext cx="1959193" cy="320040"/>
          </a:xfrm>
          <a:prstGeom prst="rect">
            <a:avLst/>
          </a:prstGeom>
          <a:noFill/>
          <a:ln/>
        </p:spPr>
        <p:txBody>
          <a:bodyPr wrap="square" rtlCol="0" anchor="ctr"/>
          <a:lstStyle/>
          <a:p>
            <a:pPr algn="ctr" indent="0" marL="0">
              <a:buNone/>
            </a:pPr>
            <a:r>
              <a:rPr lang="en-US" sz="1250" b="1" dirty="0">
                <a:solidFill>
                  <a:srgbClr val="13294B"/>
                </a:solidFill>
                <a:latin typeface="Calibri" pitchFamily="34" charset="0"/>
                <a:ea typeface="Calibri" pitchFamily="34" charset="-122"/>
                <a:cs typeface="Calibri" pitchFamily="34" charset="-120"/>
              </a:rPr>
              <a:t>ORDERS</a:t>
            </a:r>
            <a:endParaRPr lang="en-US" sz="1250" dirty="0"/>
          </a:p>
        </p:txBody>
      </p:sp>
      <p:sp>
        <p:nvSpPr>
          <p:cNvPr id="36" name="Shape 29"/>
          <p:cNvSpPr/>
          <p:nvPr/>
        </p:nvSpPr>
        <p:spPr>
          <a:xfrm>
            <a:off x="9857598" y="2761488"/>
            <a:ext cx="1556857" cy="0"/>
          </a:xfrm>
          <a:prstGeom prst="line">
            <a:avLst/>
          </a:prstGeom>
          <a:noFill/>
          <a:ln w="12700">
            <a:solidFill>
              <a:srgbClr val="DCE4EC"/>
            </a:solidFill>
            <a:prstDash val="solid"/>
          </a:ln>
        </p:spPr>
      </p:sp>
      <p:sp>
        <p:nvSpPr>
          <p:cNvPr id="37" name="Text 30"/>
          <p:cNvSpPr/>
          <p:nvPr/>
        </p:nvSpPr>
        <p:spPr>
          <a:xfrm>
            <a:off x="9674718" y="2852928"/>
            <a:ext cx="1922617" cy="274320"/>
          </a:xfrm>
          <a:prstGeom prst="rect">
            <a:avLst/>
          </a:prstGeom>
          <a:noFill/>
          <a:ln/>
        </p:spPr>
        <p:txBody>
          <a:bodyPr wrap="square" rtlCol="0" anchor="ctr"/>
          <a:lstStyle/>
          <a:p>
            <a:pPr algn="ctr" indent="0" marL="0">
              <a:buNone/>
            </a:pPr>
            <a:r>
              <a:rPr lang="en-US" sz="1000" b="1" dirty="0">
                <a:solidFill>
                  <a:srgbClr val="3D8EC9"/>
                </a:solidFill>
                <a:latin typeface="Calibri" pitchFamily="34" charset="0"/>
                <a:ea typeface="Calibri" pitchFamily="34" charset="-122"/>
                <a:cs typeface="Calibri" pitchFamily="34" charset="-120"/>
              </a:rPr>
              <a:t>PK: Order_ID</a:t>
            </a:r>
            <a:endParaRPr lang="en-US" sz="1000" dirty="0"/>
          </a:p>
        </p:txBody>
      </p:sp>
      <p:sp>
        <p:nvSpPr>
          <p:cNvPr id="38" name="Text 31"/>
          <p:cNvSpPr/>
          <p:nvPr/>
        </p:nvSpPr>
        <p:spPr>
          <a:xfrm>
            <a:off x="9747870" y="3246120"/>
            <a:ext cx="1776313" cy="2606040"/>
          </a:xfrm>
          <a:prstGeom prst="rect">
            <a:avLst/>
          </a:prstGeom>
          <a:noFill/>
          <a:ln/>
        </p:spPr>
        <p:txBody>
          <a:bodyPr wrap="square" rtlCol="0" anchor="t"/>
          <a:lstStyle/>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quantity, order_date</a:t>
            </a:r>
            <a:endParaRPr lang="en-US" sz="930" dirty="0"/>
          </a:p>
          <a:p>
            <a:pPr marL="342900" indent="-342900">
              <a:lnSpc>
                <a:spcPct val="110000"/>
              </a:lnSpc>
              <a:spcAft>
                <a:spcPts val="500"/>
              </a:spcAft>
              <a:buSzPct val="100000"/>
              <a:buChar char="▪"/>
            </a:pPr>
            <a:r>
              <a:rPr lang="en-US" sz="930" dirty="0">
                <a:solidFill>
                  <a:srgbClr val="5B6B7C"/>
                </a:solidFill>
                <a:latin typeface="Calibri" pitchFamily="34" charset="0"/>
                <a:ea typeface="Calibri" pitchFamily="34" charset="-122"/>
                <a:cs typeface="Calibri" pitchFamily="34" charset="-120"/>
              </a:rPr>
              <a:t>FK: Customer_ID, Product_ID</a:t>
            </a:r>
            <a:endParaRPr lang="en-US" sz="930" dirty="0"/>
          </a:p>
        </p:txBody>
      </p:sp>
      <p:sp>
        <p:nvSpPr>
          <p:cNvPr id="39" name="Shape 32"/>
          <p:cNvSpPr/>
          <p:nvPr/>
        </p:nvSpPr>
        <p:spPr>
          <a:xfrm>
            <a:off x="11451031" y="6437376"/>
            <a:ext cx="237744" cy="237744"/>
          </a:xfrm>
          <a:prstGeom prst="ellipse">
            <a:avLst/>
          </a:prstGeom>
          <a:solidFill>
            <a:srgbClr val="EEF3F8"/>
          </a:solidFill>
          <a:ln/>
        </p:spPr>
      </p:sp>
      <p:pic>
        <p:nvPicPr>
          <p:cNvPr id="40" name="Image 5" descr="/home/claude/wms_deck/assets/icons/database_navy.png">    </p:cNvPr>
          <p:cNvPicPr>
            <a:picLocks noChangeAspect="1"/>
          </p:cNvPicPr>
          <p:nvPr/>
        </p:nvPicPr>
        <p:blipFill>
          <a:blip r:embed="rId6"/>
          <a:stretch>
            <a:fillRect/>
          </a:stretch>
        </p:blipFill>
        <p:spPr>
          <a:xfrm>
            <a:off x="11515222" y="6501567"/>
            <a:ext cx="109362" cy="109362"/>
          </a:xfrm>
          <a:prstGeom prst="rect">
            <a:avLst/>
          </a:prstGeom>
        </p:spPr>
      </p:pic>
      <p:sp>
        <p:nvSpPr>
          <p:cNvPr id="41" name="Text 33"/>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42" name="Text 34"/>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DATABASE DESIGN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Entity Relationship Diagram</a:t>
            </a:r>
            <a:endParaRPr lang="en-US" sz="3000" dirty="0"/>
          </a:p>
        </p:txBody>
      </p:sp>
      <p:sp>
        <p:nvSpPr>
          <p:cNvPr id="4" name="Shape 2"/>
          <p:cNvSpPr/>
          <p:nvPr/>
        </p:nvSpPr>
        <p:spPr>
          <a:xfrm>
            <a:off x="2865730" y="1216152"/>
            <a:ext cx="6460236" cy="4379976"/>
          </a:xfrm>
          <a:prstGeom prst="roundRect">
            <a:avLst>
              <a:gd name="adj" fmla="val 1253"/>
            </a:avLst>
          </a:prstGeom>
          <a:solidFill>
            <a:srgbClr val="FFFFFF"/>
          </a:solidFill>
          <a:ln w="12700">
            <a:solidFill>
              <a:srgbClr val="DCE4EC"/>
            </a:solidFill>
            <a:prstDash val="solid"/>
          </a:ln>
          <a:effectLst>
            <a:outerShdw sx="100000" sy="100000" kx="0" ky="0" algn="bl" rotWithShape="0" blurRad="127000" dist="38100" dir="5400000">
              <a:srgbClr val="13294B">
                <a:alpha val="16000"/>
              </a:srgbClr>
            </a:outerShdw>
          </a:effectLst>
        </p:spPr>
      </p:sp>
      <p:pic>
        <p:nvPicPr>
          <p:cNvPr id="5" name="Image 0" descr="/home/claude/wms_deck/assets/uploaded/er_diagram_colored.png">    </p:cNvPr>
          <p:cNvPicPr>
            <a:picLocks noChangeAspect="1"/>
          </p:cNvPicPr>
          <p:nvPr/>
        </p:nvPicPr>
        <p:blipFill>
          <a:blip r:embed="rId1"/>
          <a:stretch>
            <a:fillRect/>
          </a:stretch>
        </p:blipFill>
        <p:spPr>
          <a:xfrm>
            <a:off x="2975458" y="1325880"/>
            <a:ext cx="6240780" cy="4160520"/>
          </a:xfrm>
          <a:prstGeom prst="rect">
            <a:avLst/>
          </a:prstGeom>
        </p:spPr>
      </p:pic>
      <p:sp>
        <p:nvSpPr>
          <p:cNvPr id="6" name="Text 3"/>
          <p:cNvSpPr/>
          <p:nvPr/>
        </p:nvSpPr>
        <p:spPr>
          <a:xfrm>
            <a:off x="685800" y="5806440"/>
            <a:ext cx="9905695" cy="502920"/>
          </a:xfrm>
          <a:prstGeom prst="rect">
            <a:avLst/>
          </a:prstGeom>
          <a:noFill/>
          <a:ln/>
        </p:spPr>
        <p:txBody>
          <a:bodyPr wrap="square" rtlCol="0" anchor="t"/>
          <a:lstStyle/>
          <a:p>
            <a:pPr algn="ctr" indent="0" marL="0">
              <a:lnSpc>
                <a:spcPct val="115000"/>
              </a:lnSpc>
              <a:buNone/>
            </a:pPr>
            <a:r>
              <a:rPr lang="en-US" sz="1050" b="1" dirty="0">
                <a:solidFill>
                  <a:srgbClr val="13294B"/>
                </a:solidFill>
                <a:latin typeface="Calibri" pitchFamily="34" charset="0"/>
                <a:ea typeface="Calibri" pitchFamily="34" charset="-122"/>
                <a:cs typeface="Calibri" pitchFamily="34" charset="-120"/>
              </a:rPr>
              <a:t>How to read it:  </a:t>
            </a:r>
            <a:pPr algn="ctr" indent="0" marL="0">
              <a:lnSpc>
                <a:spcPct val="115000"/>
              </a:lnSpc>
              <a:buNone/>
            </a:pPr>
            <a:r>
              <a:rPr lang="en-US" sz="1050" dirty="0">
                <a:solidFill>
                  <a:srgbClr val="5B6B7C"/>
                </a:solidFill>
                <a:latin typeface="Calibri" pitchFamily="34" charset="0"/>
                <a:ea typeface="Calibri" pitchFamily="34" charset="-122"/>
                <a:cs typeface="Calibri" pitchFamily="34" charset="-120"/>
              </a:rPr>
              <a:t>a Supplier supplies many Products (1–M); a Category groups many Products (1–M); each Order references exactly one Product and one Customer, so one Customer can place many Orders (M–1).</a:t>
            </a:r>
            <a:endParaRPr lang="en-US" sz="1050" dirty="0"/>
          </a:p>
        </p:txBody>
      </p:sp>
      <p:sp>
        <p:nvSpPr>
          <p:cNvPr id="7" name="Shape 4"/>
          <p:cNvSpPr/>
          <p:nvPr/>
        </p:nvSpPr>
        <p:spPr>
          <a:xfrm>
            <a:off x="11451031" y="6437376"/>
            <a:ext cx="237744" cy="237744"/>
          </a:xfrm>
          <a:prstGeom prst="ellipse">
            <a:avLst/>
          </a:prstGeom>
          <a:solidFill>
            <a:srgbClr val="EEF3F8"/>
          </a:solidFill>
          <a:ln/>
        </p:spPr>
      </p:sp>
      <p:pic>
        <p:nvPicPr>
          <p:cNvPr id="8" name="Image 1" descr="/home/claude/wms_deck/assets/icons/database_navy.png">    </p:cNvPr>
          <p:cNvPicPr>
            <a:picLocks noChangeAspect="1"/>
          </p:cNvPicPr>
          <p:nvPr/>
        </p:nvPicPr>
        <p:blipFill>
          <a:blip r:embed="rId2"/>
          <a:stretch>
            <a:fillRect/>
          </a:stretch>
        </p:blipFill>
        <p:spPr>
          <a:xfrm>
            <a:off x="11515222" y="6501567"/>
            <a:ext cx="109362" cy="109362"/>
          </a:xfrm>
          <a:prstGeom prst="rect">
            <a:avLst/>
          </a:prstGeom>
        </p:spPr>
      </p:pic>
      <p:sp>
        <p:nvSpPr>
          <p:cNvPr id="9" name="Text 5"/>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10" name="Text 6"/>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DATABASE DESIGN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Database Schema — Design Tool View</a:t>
            </a:r>
            <a:endParaRPr lang="en-US" sz="3000" dirty="0"/>
          </a:p>
        </p:txBody>
      </p:sp>
      <p:sp>
        <p:nvSpPr>
          <p:cNvPr id="4" name="Shape 2"/>
          <p:cNvSpPr/>
          <p:nvPr/>
        </p:nvSpPr>
        <p:spPr>
          <a:xfrm>
            <a:off x="2317090" y="1216152"/>
            <a:ext cx="7557516" cy="5111496"/>
          </a:xfrm>
          <a:prstGeom prst="roundRect">
            <a:avLst>
              <a:gd name="adj" fmla="val 1073"/>
            </a:avLst>
          </a:prstGeom>
          <a:solidFill>
            <a:srgbClr val="FFFFFF"/>
          </a:solidFill>
          <a:ln/>
          <a:effectLst>
            <a:outerShdw sx="100000" sy="100000" kx="0" ky="0" algn="bl" rotWithShape="0" blurRad="127000" dist="38100" dir="5400000">
              <a:srgbClr val="13294B">
                <a:alpha val="18000"/>
              </a:srgbClr>
            </a:outerShdw>
          </a:effectLst>
        </p:spPr>
      </p:sp>
      <p:pic>
        <p:nvPicPr>
          <p:cNvPr id="5" name="Image 0" descr="/home/claude/wms_deck/assets/uploaded/db_schema_designer.png">    </p:cNvPr>
          <p:cNvPicPr>
            <a:picLocks noChangeAspect="1"/>
          </p:cNvPicPr>
          <p:nvPr/>
        </p:nvPicPr>
        <p:blipFill>
          <a:blip r:embed="rId1"/>
          <a:stretch>
            <a:fillRect/>
          </a:stretch>
        </p:blipFill>
        <p:spPr>
          <a:xfrm>
            <a:off x="2426818" y="1325880"/>
            <a:ext cx="7338060" cy="4892040"/>
          </a:xfrm>
          <a:prstGeom prst="rect">
            <a:avLst/>
          </a:prstGeom>
        </p:spPr>
      </p:pic>
      <p:sp>
        <p:nvSpPr>
          <p:cNvPr id="6" name="Shape 3"/>
          <p:cNvSpPr/>
          <p:nvPr/>
        </p:nvSpPr>
        <p:spPr>
          <a:xfrm>
            <a:off x="11451031" y="6437376"/>
            <a:ext cx="237744" cy="237744"/>
          </a:xfrm>
          <a:prstGeom prst="ellipse">
            <a:avLst/>
          </a:prstGeom>
          <a:solidFill>
            <a:srgbClr val="EEF3F8"/>
          </a:solidFill>
          <a:ln/>
        </p:spPr>
      </p:sp>
      <p:pic>
        <p:nvPicPr>
          <p:cNvPr id="7" name="Image 1" descr="/home/claude/wms_deck/assets/icons/database_navy.png">    </p:cNvPr>
          <p:cNvPicPr>
            <a:picLocks noChangeAspect="1"/>
          </p:cNvPicPr>
          <p:nvPr/>
        </p:nvPicPr>
        <p:blipFill>
          <a:blip r:embed="rId2"/>
          <a:stretch>
            <a:fillRect/>
          </a:stretch>
        </p:blipFill>
        <p:spPr>
          <a:xfrm>
            <a:off x="11515222" y="6501567"/>
            <a:ext cx="109362" cy="109362"/>
          </a:xfrm>
          <a:prstGeom prst="rect">
            <a:avLst/>
          </a:prstGeom>
        </p:spPr>
      </p:pic>
      <p:sp>
        <p:nvSpPr>
          <p:cNvPr id="8" name="Text 4"/>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9" name="Text 5"/>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SQL IMPLEMENTATION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Defining &amp; Loading Data</a:t>
            </a:r>
            <a:endParaRPr lang="en-US" sz="3000" dirty="0"/>
          </a:p>
        </p:txBody>
      </p:sp>
      <p:sp>
        <p:nvSpPr>
          <p:cNvPr id="4" name="Shape 2"/>
          <p:cNvSpPr/>
          <p:nvPr/>
        </p:nvSpPr>
        <p:spPr>
          <a:xfrm>
            <a:off x="502920" y="1371600"/>
            <a:ext cx="5806440" cy="2788920"/>
          </a:xfrm>
          <a:prstGeom prst="roundRect">
            <a:avLst>
              <a:gd name="adj" fmla="val 1967"/>
            </a:avLst>
          </a:prstGeom>
          <a:solidFill>
            <a:srgbClr val="0C1B33"/>
          </a:solidFill>
          <a:ln/>
          <a:effectLst>
            <a:outerShdw sx="100000" sy="100000" kx="0" ky="0" algn="bl" rotWithShape="0" blurRad="127000" dist="38100" dir="5400000">
              <a:srgbClr val="000000">
                <a:alpha val="25000"/>
              </a:srgbClr>
            </a:outerShdw>
          </a:effectLst>
        </p:spPr>
      </p:sp>
      <p:sp>
        <p:nvSpPr>
          <p:cNvPr id="5" name="Shape 3"/>
          <p:cNvSpPr/>
          <p:nvPr/>
        </p:nvSpPr>
        <p:spPr>
          <a:xfrm>
            <a:off x="667512" y="1517904"/>
            <a:ext cx="100584" cy="100584"/>
          </a:xfrm>
          <a:prstGeom prst="ellipse">
            <a:avLst/>
          </a:prstGeom>
          <a:solidFill>
            <a:srgbClr val="B54A45"/>
          </a:solidFill>
          <a:ln/>
        </p:spPr>
      </p:sp>
      <p:sp>
        <p:nvSpPr>
          <p:cNvPr id="6" name="Shape 4"/>
          <p:cNvSpPr/>
          <p:nvPr/>
        </p:nvSpPr>
        <p:spPr>
          <a:xfrm>
            <a:off x="868680" y="1517904"/>
            <a:ext cx="100584" cy="100584"/>
          </a:xfrm>
          <a:prstGeom prst="ellipse">
            <a:avLst/>
          </a:prstGeom>
          <a:solidFill>
            <a:srgbClr val="C9962E"/>
          </a:solidFill>
          <a:ln/>
        </p:spPr>
      </p:sp>
      <p:sp>
        <p:nvSpPr>
          <p:cNvPr id="7" name="Shape 5"/>
          <p:cNvSpPr/>
          <p:nvPr/>
        </p:nvSpPr>
        <p:spPr>
          <a:xfrm>
            <a:off x="1069848" y="1517904"/>
            <a:ext cx="100584" cy="100584"/>
          </a:xfrm>
          <a:prstGeom prst="ellipse">
            <a:avLst/>
          </a:prstGeom>
          <a:solidFill>
            <a:srgbClr val="2F8F5B"/>
          </a:solidFill>
          <a:ln/>
        </p:spPr>
      </p:sp>
      <p:sp>
        <p:nvSpPr>
          <p:cNvPr id="8" name="Text 6"/>
          <p:cNvSpPr/>
          <p:nvPr/>
        </p:nvSpPr>
        <p:spPr>
          <a:xfrm>
            <a:off x="1417320" y="1463040"/>
            <a:ext cx="470916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create_products.sql</a:t>
            </a:r>
            <a:endParaRPr lang="en-US" sz="950" dirty="0"/>
          </a:p>
        </p:txBody>
      </p:sp>
      <p:sp>
        <p:nvSpPr>
          <p:cNvPr id="9" name="Text 7"/>
          <p:cNvSpPr/>
          <p:nvPr/>
        </p:nvSpPr>
        <p:spPr>
          <a:xfrm>
            <a:off x="758952" y="1755648"/>
            <a:ext cx="5294376" cy="2240280"/>
          </a:xfrm>
          <a:prstGeom prst="rect">
            <a:avLst/>
          </a:prstGeom>
          <a:noFill/>
          <a:ln/>
        </p:spPr>
        <p:txBody>
          <a:bodyPr wrap="square" rtlCol="0" anchor="t"/>
          <a:lstStyle/>
          <a:p>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CREATE</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TABLE</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Products (</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Product_ID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PRIMARY</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KEY</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Product_Name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VARCHAR2</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(100)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NOT</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NULL</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Category_ID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Supplier_ID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Unit_Price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(10,2),</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Quantity_In_Stock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DEFAULT</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0,</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CONSTRAINT</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FK_Product_Category</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FOREIGN</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KEY</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(Category_ID)</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REFERENCES</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Categories(Category_ID),</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CONSTRAINT</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FK_Product_Supplier</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FOREIGN</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KEY</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(Supplier_ID)</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REFERENCES</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Suppliers(Supplier_ID)</a:t>
            </a:r>
            <a:endParaRPr lang="en-US" sz="1000" dirty="0"/>
          </a:p>
          <a:p>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502920" y="4297680"/>
            <a:ext cx="5806440" cy="1920240"/>
          </a:xfrm>
          <a:prstGeom prst="roundRect">
            <a:avLst>
              <a:gd name="adj" fmla="val 2857"/>
            </a:avLst>
          </a:prstGeom>
          <a:solidFill>
            <a:srgbClr val="0C1B33"/>
          </a:solidFill>
          <a:ln/>
          <a:effectLst>
            <a:outerShdw sx="100000" sy="100000" kx="0" ky="0" algn="bl" rotWithShape="0" blurRad="127000" dist="38100" dir="5400000">
              <a:srgbClr val="000000">
                <a:alpha val="25000"/>
              </a:srgbClr>
            </a:outerShdw>
          </a:effectLst>
        </p:spPr>
      </p:sp>
      <p:sp>
        <p:nvSpPr>
          <p:cNvPr id="11" name="Shape 9"/>
          <p:cNvSpPr/>
          <p:nvPr/>
        </p:nvSpPr>
        <p:spPr>
          <a:xfrm>
            <a:off x="667512" y="4443984"/>
            <a:ext cx="100584" cy="100584"/>
          </a:xfrm>
          <a:prstGeom prst="ellipse">
            <a:avLst/>
          </a:prstGeom>
          <a:solidFill>
            <a:srgbClr val="B54A45"/>
          </a:solidFill>
          <a:ln/>
        </p:spPr>
      </p:sp>
      <p:sp>
        <p:nvSpPr>
          <p:cNvPr id="12" name="Shape 10"/>
          <p:cNvSpPr/>
          <p:nvPr/>
        </p:nvSpPr>
        <p:spPr>
          <a:xfrm>
            <a:off x="868680" y="4443984"/>
            <a:ext cx="100584" cy="100584"/>
          </a:xfrm>
          <a:prstGeom prst="ellipse">
            <a:avLst/>
          </a:prstGeom>
          <a:solidFill>
            <a:srgbClr val="C9962E"/>
          </a:solidFill>
          <a:ln/>
        </p:spPr>
      </p:sp>
      <p:sp>
        <p:nvSpPr>
          <p:cNvPr id="13" name="Shape 11"/>
          <p:cNvSpPr/>
          <p:nvPr/>
        </p:nvSpPr>
        <p:spPr>
          <a:xfrm>
            <a:off x="1069848" y="4443984"/>
            <a:ext cx="100584" cy="100584"/>
          </a:xfrm>
          <a:prstGeom prst="ellipse">
            <a:avLst/>
          </a:prstGeom>
          <a:solidFill>
            <a:srgbClr val="2F8F5B"/>
          </a:solidFill>
          <a:ln/>
        </p:spPr>
      </p:sp>
      <p:sp>
        <p:nvSpPr>
          <p:cNvPr id="14" name="Text 12"/>
          <p:cNvSpPr/>
          <p:nvPr/>
        </p:nvSpPr>
        <p:spPr>
          <a:xfrm>
            <a:off x="1417320" y="4389120"/>
            <a:ext cx="470916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insert_product.sql</a:t>
            </a:r>
            <a:endParaRPr lang="en-US" sz="950" dirty="0"/>
          </a:p>
        </p:txBody>
      </p:sp>
      <p:sp>
        <p:nvSpPr>
          <p:cNvPr id="15" name="Text 13"/>
          <p:cNvSpPr/>
          <p:nvPr/>
        </p:nvSpPr>
        <p:spPr>
          <a:xfrm>
            <a:off x="758952" y="4681728"/>
            <a:ext cx="5294376" cy="1371600"/>
          </a:xfrm>
          <a:prstGeom prst="rect">
            <a:avLst/>
          </a:prstGeom>
          <a:noFill/>
          <a:ln/>
        </p:spPr>
        <p:txBody>
          <a:bodyPr wrap="square" rtlCol="0" anchor="t"/>
          <a:lstStyle/>
          <a:p>
            <a:pPr indent="0" marL="0">
              <a:lnSpc>
                <a:spcPct val="118000"/>
              </a:lnSpc>
              <a:buNone/>
            </a:pPr>
            <a:r>
              <a:rPr lang="en-US" sz="950" b="1" dirty="0">
                <a:solidFill>
                  <a:srgbClr val="6FC3E8"/>
                </a:solidFill>
                <a:latin typeface="Courier New" pitchFamily="34" charset="0"/>
                <a:ea typeface="Courier New" pitchFamily="34" charset="-122"/>
                <a:cs typeface="Courier New" pitchFamily="34" charset="-120"/>
              </a:rPr>
              <a:t>INSERT</a:t>
            </a:r>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950" b="1" dirty="0">
                <a:solidFill>
                  <a:srgbClr val="6FC3E8"/>
                </a:solidFill>
                <a:latin typeface="Courier New" pitchFamily="34" charset="0"/>
                <a:ea typeface="Courier New" pitchFamily="34" charset="-122"/>
                <a:cs typeface="Courier New" pitchFamily="34" charset="-120"/>
              </a:rPr>
              <a:t>INTO</a:t>
            </a:r>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Products </a:t>
            </a:r>
            <a:pPr indent="0" marL="0">
              <a:lnSpc>
                <a:spcPct val="118000"/>
              </a:lnSpc>
              <a:buNone/>
            </a:pPr>
            <a:r>
              <a:rPr lang="en-US" sz="950" b="1" dirty="0">
                <a:solidFill>
                  <a:srgbClr val="6FC3E8"/>
                </a:solidFill>
                <a:latin typeface="Courier New" pitchFamily="34" charset="0"/>
                <a:ea typeface="Courier New" pitchFamily="34" charset="-122"/>
                <a:cs typeface="Courier New" pitchFamily="34" charset="-120"/>
              </a:rPr>
              <a:t>VALUES</a:t>
            </a:r>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a:t>
            </a:r>
            <a:endParaRPr lang="en-US" sz="950" dirty="0"/>
          </a:p>
          <a:p>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2001,</a:t>
            </a:r>
            <a:endParaRPr lang="en-US" sz="950" dirty="0"/>
          </a:p>
          <a:p>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'HP Laptop',</a:t>
            </a:r>
            <a:endParaRPr lang="en-US" sz="950" dirty="0"/>
          </a:p>
          <a:p>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1,</a:t>
            </a:r>
            <a:endParaRPr lang="en-US" sz="950" dirty="0"/>
          </a:p>
          <a:p>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101,</a:t>
            </a:r>
            <a:endParaRPr lang="en-US" sz="950" dirty="0"/>
          </a:p>
          <a:p>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1200,</a:t>
            </a:r>
            <a:endParaRPr lang="en-US" sz="950" dirty="0"/>
          </a:p>
          <a:p>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    20</a:t>
            </a:r>
            <a:endParaRPr lang="en-US" sz="950" dirty="0"/>
          </a:p>
          <a:p>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a:t>
            </a:r>
            <a:endParaRPr lang="en-US" sz="950" dirty="0"/>
          </a:p>
          <a:p>
            <a:pPr indent="0" marL="0">
              <a:lnSpc>
                <a:spcPct val="118000"/>
              </a:lnSpc>
              <a:buNone/>
            </a:pPr>
            <a:r>
              <a:rPr lang="en-US" sz="950" b="1" dirty="0">
                <a:solidFill>
                  <a:srgbClr val="6FC3E8"/>
                </a:solidFill>
                <a:latin typeface="Courier New" pitchFamily="34" charset="0"/>
                <a:ea typeface="Courier New" pitchFamily="34" charset="-122"/>
                <a:cs typeface="Courier New" pitchFamily="34" charset="-120"/>
              </a:rPr>
              <a:t>COMMIT</a:t>
            </a:r>
            <a:pPr indent="0" marL="0">
              <a:lnSpc>
                <a:spcPct val="118000"/>
              </a:lnSpc>
              <a:buNone/>
            </a:pPr>
            <a:r>
              <a:rPr lang="en-US" sz="950" dirty="0">
                <a:solidFill>
                  <a:srgbClr val="E7EEF5"/>
                </a:solidFill>
                <a:latin typeface="Courier New" pitchFamily="34" charset="0"/>
                <a:ea typeface="Courier New" pitchFamily="34" charset="-122"/>
                <a:cs typeface="Courier New" pitchFamily="34" charset="-120"/>
              </a:rPr>
              <a:t>;</a:t>
            </a:r>
            <a:endParaRPr lang="en-US" sz="950" dirty="0"/>
          </a:p>
        </p:txBody>
      </p:sp>
      <p:sp>
        <p:nvSpPr>
          <p:cNvPr id="16" name="Text 14"/>
          <p:cNvSpPr/>
          <p:nvPr/>
        </p:nvSpPr>
        <p:spPr>
          <a:xfrm>
            <a:off x="6355080" y="1371600"/>
            <a:ext cx="5349240" cy="256032"/>
          </a:xfrm>
          <a:prstGeom prst="rect">
            <a:avLst/>
          </a:prstGeom>
          <a:noFill/>
          <a:ln/>
        </p:spPr>
        <p:txBody>
          <a:bodyPr wrap="square" rtlCol="0" anchor="ctr"/>
          <a:lstStyle/>
          <a:p>
            <a:pPr indent="0" marL="0">
              <a:buNone/>
            </a:pPr>
            <a:r>
              <a:rPr lang="en-US" sz="1100" b="1" spc="100" kern="0" dirty="0">
                <a:solidFill>
                  <a:srgbClr val="3D8EC9"/>
                </a:solidFill>
                <a:latin typeface="Calibri" pitchFamily="34" charset="0"/>
                <a:ea typeface="Calibri" pitchFamily="34" charset="-122"/>
                <a:cs typeface="Calibri" pitchFamily="34" charset="-120"/>
              </a:rPr>
              <a:t>SQL TOOLKIT USED IN THIS PROJECT</a:t>
            </a:r>
            <a:endParaRPr lang="en-US" sz="1100" dirty="0"/>
          </a:p>
        </p:txBody>
      </p:sp>
      <p:sp>
        <p:nvSpPr>
          <p:cNvPr id="17" name="Shape 15"/>
          <p:cNvSpPr/>
          <p:nvPr/>
        </p:nvSpPr>
        <p:spPr>
          <a:xfrm>
            <a:off x="6355080" y="1737360"/>
            <a:ext cx="5349240" cy="566928"/>
          </a:xfrm>
          <a:prstGeom prst="roundRect">
            <a:avLst>
              <a:gd name="adj" fmla="val 8065"/>
            </a:avLst>
          </a:prstGeom>
          <a:solidFill>
            <a:srgbClr val="F7FAFC"/>
          </a:solidFill>
          <a:ln/>
        </p:spPr>
      </p:sp>
      <p:sp>
        <p:nvSpPr>
          <p:cNvPr id="18" name="Shape 16"/>
          <p:cNvSpPr/>
          <p:nvPr/>
        </p:nvSpPr>
        <p:spPr>
          <a:xfrm>
            <a:off x="6473952" y="1856232"/>
            <a:ext cx="329184" cy="329184"/>
          </a:xfrm>
          <a:prstGeom prst="ellipse">
            <a:avLst/>
          </a:prstGeom>
          <a:solidFill>
            <a:srgbClr val="3D8EC9"/>
          </a:solidFill>
          <a:ln/>
        </p:spPr>
      </p:sp>
      <p:pic>
        <p:nvPicPr>
          <p:cNvPr id="19" name="Image 0" descr="/home/claude/wms_deck/assets/icons/checkCircle_white.png">    </p:cNvPr>
          <p:cNvPicPr>
            <a:picLocks noChangeAspect="1"/>
          </p:cNvPicPr>
          <p:nvPr/>
        </p:nvPicPr>
        <p:blipFill>
          <a:blip r:embed="rId1"/>
          <a:stretch>
            <a:fillRect/>
          </a:stretch>
        </p:blipFill>
        <p:spPr>
          <a:xfrm>
            <a:off x="6562832" y="1945112"/>
            <a:ext cx="151425" cy="151425"/>
          </a:xfrm>
          <a:prstGeom prst="rect">
            <a:avLst/>
          </a:prstGeom>
        </p:spPr>
      </p:pic>
      <p:sp>
        <p:nvSpPr>
          <p:cNvPr id="20" name="Text 17"/>
          <p:cNvSpPr/>
          <p:nvPr/>
        </p:nvSpPr>
        <p:spPr>
          <a:xfrm>
            <a:off x="6903720" y="1737360"/>
            <a:ext cx="4709160" cy="566928"/>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CREATE TABLE  —  </a:t>
            </a:r>
            <a:pPr indent="0" marL="0">
              <a:buNone/>
            </a:pPr>
            <a:r>
              <a:rPr lang="en-US" sz="1050" dirty="0">
                <a:solidFill>
                  <a:srgbClr val="5B6B7C"/>
                </a:solidFill>
                <a:latin typeface="Calibri" pitchFamily="34" charset="0"/>
                <a:ea typeface="Calibri" pitchFamily="34" charset="-122"/>
                <a:cs typeface="Calibri" pitchFamily="34" charset="-120"/>
              </a:rPr>
              <a:t>Define each of the core tables and their columns.</a:t>
            </a:r>
            <a:endParaRPr lang="en-US" sz="1050" dirty="0"/>
          </a:p>
        </p:txBody>
      </p:sp>
      <p:sp>
        <p:nvSpPr>
          <p:cNvPr id="21" name="Shape 18"/>
          <p:cNvSpPr/>
          <p:nvPr/>
        </p:nvSpPr>
        <p:spPr>
          <a:xfrm>
            <a:off x="6355080" y="2359152"/>
            <a:ext cx="5349240" cy="566928"/>
          </a:xfrm>
          <a:prstGeom prst="roundRect">
            <a:avLst>
              <a:gd name="adj" fmla="val 8065"/>
            </a:avLst>
          </a:prstGeom>
          <a:solidFill>
            <a:srgbClr val="F7FAFC"/>
          </a:solidFill>
          <a:ln/>
        </p:spPr>
      </p:sp>
      <p:sp>
        <p:nvSpPr>
          <p:cNvPr id="22" name="Shape 19"/>
          <p:cNvSpPr/>
          <p:nvPr/>
        </p:nvSpPr>
        <p:spPr>
          <a:xfrm>
            <a:off x="6473952" y="2478024"/>
            <a:ext cx="329184" cy="329184"/>
          </a:xfrm>
          <a:prstGeom prst="ellipse">
            <a:avLst/>
          </a:prstGeom>
          <a:solidFill>
            <a:srgbClr val="3D8EC9"/>
          </a:solidFill>
          <a:ln/>
        </p:spPr>
      </p:sp>
      <p:pic>
        <p:nvPicPr>
          <p:cNvPr id="23" name="Image 1" descr="/home/claude/wms_deck/assets/icons/checkCircle_white.png">    </p:cNvPr>
          <p:cNvPicPr>
            <a:picLocks noChangeAspect="1"/>
          </p:cNvPicPr>
          <p:nvPr/>
        </p:nvPicPr>
        <p:blipFill>
          <a:blip r:embed="rId2"/>
          <a:stretch>
            <a:fillRect/>
          </a:stretch>
        </p:blipFill>
        <p:spPr>
          <a:xfrm>
            <a:off x="6562832" y="2566904"/>
            <a:ext cx="151425" cy="151425"/>
          </a:xfrm>
          <a:prstGeom prst="rect">
            <a:avLst/>
          </a:prstGeom>
        </p:spPr>
      </p:pic>
      <p:sp>
        <p:nvSpPr>
          <p:cNvPr id="24" name="Text 20"/>
          <p:cNvSpPr/>
          <p:nvPr/>
        </p:nvSpPr>
        <p:spPr>
          <a:xfrm>
            <a:off x="6903720" y="2359152"/>
            <a:ext cx="4709160" cy="566928"/>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Named Constraints  —  </a:t>
            </a:r>
            <a:pPr indent="0" marL="0">
              <a:buNone/>
            </a:pPr>
            <a:r>
              <a:rPr lang="en-US" sz="1050" dirty="0">
                <a:solidFill>
                  <a:srgbClr val="5B6B7C"/>
                </a:solidFill>
                <a:latin typeface="Calibri" pitchFamily="34" charset="0"/>
                <a:ea typeface="Calibri" pitchFamily="34" charset="-122"/>
                <a:cs typeface="Calibri" pitchFamily="34" charset="-120"/>
              </a:rPr>
              <a:t>FK_Product_Category / FK_Product_Supplier enforce links.</a:t>
            </a:r>
            <a:endParaRPr lang="en-US" sz="1050" dirty="0"/>
          </a:p>
        </p:txBody>
      </p:sp>
      <p:sp>
        <p:nvSpPr>
          <p:cNvPr id="25" name="Shape 21"/>
          <p:cNvSpPr/>
          <p:nvPr/>
        </p:nvSpPr>
        <p:spPr>
          <a:xfrm>
            <a:off x="6355080" y="2980944"/>
            <a:ext cx="5349240" cy="566928"/>
          </a:xfrm>
          <a:prstGeom prst="roundRect">
            <a:avLst>
              <a:gd name="adj" fmla="val 8065"/>
            </a:avLst>
          </a:prstGeom>
          <a:solidFill>
            <a:srgbClr val="F7FAFC"/>
          </a:solidFill>
          <a:ln/>
        </p:spPr>
      </p:sp>
      <p:sp>
        <p:nvSpPr>
          <p:cNvPr id="26" name="Shape 22"/>
          <p:cNvSpPr/>
          <p:nvPr/>
        </p:nvSpPr>
        <p:spPr>
          <a:xfrm>
            <a:off x="6473952" y="3099816"/>
            <a:ext cx="329184" cy="329184"/>
          </a:xfrm>
          <a:prstGeom prst="ellipse">
            <a:avLst/>
          </a:prstGeom>
          <a:solidFill>
            <a:srgbClr val="3D8EC9"/>
          </a:solidFill>
          <a:ln/>
        </p:spPr>
      </p:sp>
      <p:pic>
        <p:nvPicPr>
          <p:cNvPr id="27" name="Image 2" descr="/home/claude/wms_deck/assets/icons/checkCircle_white.png">    </p:cNvPr>
          <p:cNvPicPr>
            <a:picLocks noChangeAspect="1"/>
          </p:cNvPicPr>
          <p:nvPr/>
        </p:nvPicPr>
        <p:blipFill>
          <a:blip r:embed="rId3"/>
          <a:stretch>
            <a:fillRect/>
          </a:stretch>
        </p:blipFill>
        <p:spPr>
          <a:xfrm>
            <a:off x="6562832" y="3188696"/>
            <a:ext cx="151425" cy="151425"/>
          </a:xfrm>
          <a:prstGeom prst="rect">
            <a:avLst/>
          </a:prstGeom>
        </p:spPr>
      </p:pic>
      <p:sp>
        <p:nvSpPr>
          <p:cNvPr id="28" name="Text 23"/>
          <p:cNvSpPr/>
          <p:nvPr/>
        </p:nvSpPr>
        <p:spPr>
          <a:xfrm>
            <a:off x="6903720" y="2980944"/>
            <a:ext cx="4709160" cy="566928"/>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ALTER TABLE  —  </a:t>
            </a:r>
            <a:pPr indent="0" marL="0">
              <a:buNone/>
            </a:pPr>
            <a:r>
              <a:rPr lang="en-US" sz="1050" dirty="0">
                <a:solidFill>
                  <a:srgbClr val="5B6B7C"/>
                </a:solidFill>
                <a:latin typeface="Calibri" pitchFamily="34" charset="0"/>
                <a:ea typeface="Calibri" pitchFamily="34" charset="-122"/>
                <a:cs typeface="Calibri" pitchFamily="34" charset="-120"/>
              </a:rPr>
              <a:t>Add constraints or columns after initial creation.</a:t>
            </a:r>
            <a:endParaRPr lang="en-US" sz="1050" dirty="0"/>
          </a:p>
        </p:txBody>
      </p:sp>
      <p:sp>
        <p:nvSpPr>
          <p:cNvPr id="29" name="Shape 24"/>
          <p:cNvSpPr/>
          <p:nvPr/>
        </p:nvSpPr>
        <p:spPr>
          <a:xfrm>
            <a:off x="6355080" y="3602736"/>
            <a:ext cx="5349240" cy="566928"/>
          </a:xfrm>
          <a:prstGeom prst="roundRect">
            <a:avLst>
              <a:gd name="adj" fmla="val 8065"/>
            </a:avLst>
          </a:prstGeom>
          <a:solidFill>
            <a:srgbClr val="F7FAFC"/>
          </a:solidFill>
          <a:ln/>
        </p:spPr>
      </p:sp>
      <p:sp>
        <p:nvSpPr>
          <p:cNvPr id="30" name="Shape 25"/>
          <p:cNvSpPr/>
          <p:nvPr/>
        </p:nvSpPr>
        <p:spPr>
          <a:xfrm>
            <a:off x="6473952" y="3721608"/>
            <a:ext cx="329184" cy="329184"/>
          </a:xfrm>
          <a:prstGeom prst="ellipse">
            <a:avLst/>
          </a:prstGeom>
          <a:solidFill>
            <a:srgbClr val="3D8EC9"/>
          </a:solidFill>
          <a:ln/>
        </p:spPr>
      </p:sp>
      <p:pic>
        <p:nvPicPr>
          <p:cNvPr id="31" name="Image 3" descr="/home/claude/wms_deck/assets/icons/checkCircle_white.png">    </p:cNvPr>
          <p:cNvPicPr>
            <a:picLocks noChangeAspect="1"/>
          </p:cNvPicPr>
          <p:nvPr/>
        </p:nvPicPr>
        <p:blipFill>
          <a:blip r:embed="rId4"/>
          <a:stretch>
            <a:fillRect/>
          </a:stretch>
        </p:blipFill>
        <p:spPr>
          <a:xfrm>
            <a:off x="6562832" y="3810488"/>
            <a:ext cx="151425" cy="151425"/>
          </a:xfrm>
          <a:prstGeom prst="rect">
            <a:avLst/>
          </a:prstGeom>
        </p:spPr>
      </p:pic>
      <p:sp>
        <p:nvSpPr>
          <p:cNvPr id="32" name="Text 26"/>
          <p:cNvSpPr/>
          <p:nvPr/>
        </p:nvSpPr>
        <p:spPr>
          <a:xfrm>
            <a:off x="6903720" y="3602736"/>
            <a:ext cx="4709160" cy="566928"/>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INSERT  —  </a:t>
            </a:r>
            <a:pPr indent="0" marL="0">
              <a:buNone/>
            </a:pPr>
            <a:r>
              <a:rPr lang="en-US" sz="1050" dirty="0">
                <a:solidFill>
                  <a:srgbClr val="5B6B7C"/>
                </a:solidFill>
                <a:latin typeface="Calibri" pitchFamily="34" charset="0"/>
                <a:ea typeface="Calibri" pitchFamily="34" charset="-122"/>
                <a:cs typeface="Calibri" pitchFamily="34" charset="-120"/>
              </a:rPr>
              <a:t>Load supplier, product and customer records.</a:t>
            </a:r>
            <a:endParaRPr lang="en-US" sz="1050" dirty="0"/>
          </a:p>
        </p:txBody>
      </p:sp>
      <p:sp>
        <p:nvSpPr>
          <p:cNvPr id="33" name="Shape 27"/>
          <p:cNvSpPr/>
          <p:nvPr/>
        </p:nvSpPr>
        <p:spPr>
          <a:xfrm>
            <a:off x="6355080" y="4224528"/>
            <a:ext cx="5349240" cy="566928"/>
          </a:xfrm>
          <a:prstGeom prst="roundRect">
            <a:avLst>
              <a:gd name="adj" fmla="val 8065"/>
            </a:avLst>
          </a:prstGeom>
          <a:solidFill>
            <a:srgbClr val="F7FAFC"/>
          </a:solidFill>
          <a:ln/>
        </p:spPr>
      </p:sp>
      <p:sp>
        <p:nvSpPr>
          <p:cNvPr id="34" name="Shape 28"/>
          <p:cNvSpPr/>
          <p:nvPr/>
        </p:nvSpPr>
        <p:spPr>
          <a:xfrm>
            <a:off x="6473952" y="4343400"/>
            <a:ext cx="329184" cy="329184"/>
          </a:xfrm>
          <a:prstGeom prst="ellipse">
            <a:avLst/>
          </a:prstGeom>
          <a:solidFill>
            <a:srgbClr val="3D8EC9"/>
          </a:solidFill>
          <a:ln/>
        </p:spPr>
      </p:sp>
      <p:pic>
        <p:nvPicPr>
          <p:cNvPr id="35" name="Image 4" descr="/home/claude/wms_deck/assets/icons/checkCircle_white.png">    </p:cNvPr>
          <p:cNvPicPr>
            <a:picLocks noChangeAspect="1"/>
          </p:cNvPicPr>
          <p:nvPr/>
        </p:nvPicPr>
        <p:blipFill>
          <a:blip r:embed="rId5"/>
          <a:stretch>
            <a:fillRect/>
          </a:stretch>
        </p:blipFill>
        <p:spPr>
          <a:xfrm>
            <a:off x="6562832" y="4432280"/>
            <a:ext cx="151425" cy="151425"/>
          </a:xfrm>
          <a:prstGeom prst="rect">
            <a:avLst/>
          </a:prstGeom>
        </p:spPr>
      </p:pic>
      <p:sp>
        <p:nvSpPr>
          <p:cNvPr id="36" name="Text 29"/>
          <p:cNvSpPr/>
          <p:nvPr/>
        </p:nvSpPr>
        <p:spPr>
          <a:xfrm>
            <a:off x="6903720" y="4224528"/>
            <a:ext cx="4709160" cy="566928"/>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UPDATE / DELETE  —  </a:t>
            </a:r>
            <a:pPr indent="0" marL="0">
              <a:buNone/>
            </a:pPr>
            <a:r>
              <a:rPr lang="en-US" sz="1050" dirty="0">
                <a:solidFill>
                  <a:srgbClr val="5B6B7C"/>
                </a:solidFill>
                <a:latin typeface="Calibri" pitchFamily="34" charset="0"/>
                <a:ea typeface="Calibri" pitchFamily="34" charset="-122"/>
                <a:cs typeface="Calibri" pitchFamily="34" charset="-120"/>
              </a:rPr>
              <a:t>Covered next — adjusting and removing rows.</a:t>
            </a:r>
            <a:endParaRPr lang="en-US" sz="1050" dirty="0"/>
          </a:p>
        </p:txBody>
      </p:sp>
      <p:sp>
        <p:nvSpPr>
          <p:cNvPr id="37" name="Shape 30"/>
          <p:cNvSpPr/>
          <p:nvPr/>
        </p:nvSpPr>
        <p:spPr>
          <a:xfrm>
            <a:off x="6355080" y="4846320"/>
            <a:ext cx="5349240" cy="566928"/>
          </a:xfrm>
          <a:prstGeom prst="roundRect">
            <a:avLst>
              <a:gd name="adj" fmla="val 8065"/>
            </a:avLst>
          </a:prstGeom>
          <a:solidFill>
            <a:srgbClr val="F7FAFC"/>
          </a:solidFill>
          <a:ln/>
        </p:spPr>
      </p:sp>
      <p:sp>
        <p:nvSpPr>
          <p:cNvPr id="38" name="Shape 31"/>
          <p:cNvSpPr/>
          <p:nvPr/>
        </p:nvSpPr>
        <p:spPr>
          <a:xfrm>
            <a:off x="6473952" y="4965192"/>
            <a:ext cx="329184" cy="329184"/>
          </a:xfrm>
          <a:prstGeom prst="ellipse">
            <a:avLst/>
          </a:prstGeom>
          <a:solidFill>
            <a:srgbClr val="3D8EC9"/>
          </a:solidFill>
          <a:ln/>
        </p:spPr>
      </p:sp>
      <p:pic>
        <p:nvPicPr>
          <p:cNvPr id="39" name="Image 5" descr="/home/claude/wms_deck/assets/icons/checkCircle_white.png">    </p:cNvPr>
          <p:cNvPicPr>
            <a:picLocks noChangeAspect="1"/>
          </p:cNvPicPr>
          <p:nvPr/>
        </p:nvPicPr>
        <p:blipFill>
          <a:blip r:embed="rId6"/>
          <a:stretch>
            <a:fillRect/>
          </a:stretch>
        </p:blipFill>
        <p:spPr>
          <a:xfrm>
            <a:off x="6562832" y="5054072"/>
            <a:ext cx="151425" cy="151425"/>
          </a:xfrm>
          <a:prstGeom prst="rect">
            <a:avLst/>
          </a:prstGeom>
        </p:spPr>
      </p:pic>
      <p:sp>
        <p:nvSpPr>
          <p:cNvPr id="40" name="Text 32"/>
          <p:cNvSpPr/>
          <p:nvPr/>
        </p:nvSpPr>
        <p:spPr>
          <a:xfrm>
            <a:off x="6903720" y="4846320"/>
            <a:ext cx="4709160" cy="566928"/>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SELECT / JOIN  —  </a:t>
            </a:r>
            <a:pPr indent="0" marL="0">
              <a:buNone/>
            </a:pPr>
            <a:r>
              <a:rPr lang="en-US" sz="1050" dirty="0">
                <a:solidFill>
                  <a:srgbClr val="5B6B7C"/>
                </a:solidFill>
                <a:latin typeface="Calibri" pitchFamily="34" charset="0"/>
                <a:ea typeface="Calibri" pitchFamily="34" charset="-122"/>
                <a:cs typeface="Calibri" pitchFamily="34" charset="-120"/>
              </a:rPr>
              <a:t>Covered next — retrieving and combining tables.</a:t>
            </a:r>
            <a:endParaRPr lang="en-US" sz="1050" dirty="0"/>
          </a:p>
        </p:txBody>
      </p:sp>
      <p:sp>
        <p:nvSpPr>
          <p:cNvPr id="41" name="Shape 33"/>
          <p:cNvSpPr/>
          <p:nvPr/>
        </p:nvSpPr>
        <p:spPr>
          <a:xfrm>
            <a:off x="6355080" y="5468112"/>
            <a:ext cx="5349240" cy="566928"/>
          </a:xfrm>
          <a:prstGeom prst="roundRect">
            <a:avLst>
              <a:gd name="adj" fmla="val 8065"/>
            </a:avLst>
          </a:prstGeom>
          <a:solidFill>
            <a:srgbClr val="F7FAFC"/>
          </a:solidFill>
          <a:ln/>
        </p:spPr>
      </p:sp>
      <p:sp>
        <p:nvSpPr>
          <p:cNvPr id="42" name="Shape 34"/>
          <p:cNvSpPr/>
          <p:nvPr/>
        </p:nvSpPr>
        <p:spPr>
          <a:xfrm>
            <a:off x="6473952" y="5586984"/>
            <a:ext cx="329184" cy="329184"/>
          </a:xfrm>
          <a:prstGeom prst="ellipse">
            <a:avLst/>
          </a:prstGeom>
          <a:solidFill>
            <a:srgbClr val="3D8EC9"/>
          </a:solidFill>
          <a:ln/>
        </p:spPr>
      </p:sp>
      <p:pic>
        <p:nvPicPr>
          <p:cNvPr id="43" name="Image 6" descr="/home/claude/wms_deck/assets/icons/checkCircle_white.png">    </p:cNvPr>
          <p:cNvPicPr>
            <a:picLocks noChangeAspect="1"/>
          </p:cNvPicPr>
          <p:nvPr/>
        </p:nvPicPr>
        <p:blipFill>
          <a:blip r:embed="rId7"/>
          <a:stretch>
            <a:fillRect/>
          </a:stretch>
        </p:blipFill>
        <p:spPr>
          <a:xfrm>
            <a:off x="6562832" y="5675864"/>
            <a:ext cx="151425" cy="151425"/>
          </a:xfrm>
          <a:prstGeom prst="rect">
            <a:avLst/>
          </a:prstGeom>
        </p:spPr>
      </p:pic>
      <p:sp>
        <p:nvSpPr>
          <p:cNvPr id="44" name="Text 35"/>
          <p:cNvSpPr/>
          <p:nvPr/>
        </p:nvSpPr>
        <p:spPr>
          <a:xfrm>
            <a:off x="6903720" y="5468112"/>
            <a:ext cx="4709160" cy="566928"/>
          </a:xfrm>
          <a:prstGeom prst="rect">
            <a:avLst/>
          </a:prstGeom>
          <a:noFill/>
          <a:ln/>
        </p:spPr>
        <p:txBody>
          <a:bodyPr wrap="square" rtlCol="0" anchor="ctr"/>
          <a:lstStyle/>
          <a:p>
            <a:pPr indent="0" marL="0">
              <a:buNone/>
            </a:pPr>
            <a:r>
              <a:rPr lang="en-US" sz="1050" b="1" dirty="0">
                <a:solidFill>
                  <a:srgbClr val="13294B"/>
                </a:solidFill>
                <a:latin typeface="Calibri" pitchFamily="34" charset="0"/>
                <a:ea typeface="Calibri" pitchFamily="34" charset="-122"/>
                <a:cs typeface="Calibri" pitchFamily="34" charset="-120"/>
              </a:rPr>
              <a:t>Constraints &amp; Indexes  —  </a:t>
            </a:r>
            <a:pPr indent="0" marL="0">
              <a:buNone/>
            </a:pPr>
            <a:r>
              <a:rPr lang="en-US" sz="1050" dirty="0">
                <a:solidFill>
                  <a:srgbClr val="5B6B7C"/>
                </a:solidFill>
                <a:latin typeface="Calibri" pitchFamily="34" charset="0"/>
                <a:ea typeface="Calibri" pitchFamily="34" charset="-122"/>
                <a:cs typeface="Calibri" pitchFamily="34" charset="-120"/>
              </a:rPr>
              <a:t>Enforce integrity and speed up lookups.</a:t>
            </a:r>
            <a:endParaRPr lang="en-US" sz="1050" dirty="0"/>
          </a:p>
        </p:txBody>
      </p:sp>
      <p:sp>
        <p:nvSpPr>
          <p:cNvPr id="45" name="Shape 36"/>
          <p:cNvSpPr/>
          <p:nvPr/>
        </p:nvSpPr>
        <p:spPr>
          <a:xfrm>
            <a:off x="11451031" y="6437376"/>
            <a:ext cx="237744" cy="237744"/>
          </a:xfrm>
          <a:prstGeom prst="ellipse">
            <a:avLst/>
          </a:prstGeom>
          <a:solidFill>
            <a:srgbClr val="EEF3F8"/>
          </a:solidFill>
          <a:ln/>
        </p:spPr>
      </p:sp>
      <p:pic>
        <p:nvPicPr>
          <p:cNvPr id="46" name="Image 7" descr="/home/claude/wms_deck/assets/icons/database_navy.png">    </p:cNvPr>
          <p:cNvPicPr>
            <a:picLocks noChangeAspect="1"/>
          </p:cNvPicPr>
          <p:nvPr/>
        </p:nvPicPr>
        <p:blipFill>
          <a:blip r:embed="rId8"/>
          <a:stretch>
            <a:fillRect/>
          </a:stretch>
        </p:blipFill>
        <p:spPr>
          <a:xfrm>
            <a:off x="11515222" y="6501567"/>
            <a:ext cx="109362" cy="109362"/>
          </a:xfrm>
          <a:prstGeom prst="rect">
            <a:avLst/>
          </a:prstGeom>
        </p:spPr>
      </p:pic>
      <p:sp>
        <p:nvSpPr>
          <p:cNvPr id="47" name="Text 37"/>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48" name="Text 38"/>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SQL IMPLEMENTATION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Querying, Updating &amp; Deleting</a:t>
            </a:r>
            <a:endParaRPr lang="en-US" sz="3000" dirty="0"/>
          </a:p>
        </p:txBody>
      </p:sp>
      <p:sp>
        <p:nvSpPr>
          <p:cNvPr id="4" name="Shape 2"/>
          <p:cNvSpPr/>
          <p:nvPr/>
        </p:nvSpPr>
        <p:spPr>
          <a:xfrm>
            <a:off x="502920" y="1371600"/>
            <a:ext cx="5394960" cy="1417320"/>
          </a:xfrm>
          <a:prstGeom prst="roundRect">
            <a:avLst>
              <a:gd name="adj" fmla="val 3871"/>
            </a:avLst>
          </a:prstGeom>
          <a:solidFill>
            <a:srgbClr val="0C1B33"/>
          </a:solidFill>
          <a:ln/>
          <a:effectLst>
            <a:outerShdw sx="100000" sy="100000" kx="0" ky="0" algn="bl" rotWithShape="0" blurRad="127000" dist="38100" dir="5400000">
              <a:srgbClr val="000000">
                <a:alpha val="25000"/>
              </a:srgbClr>
            </a:outerShdw>
          </a:effectLst>
        </p:spPr>
      </p:sp>
      <p:sp>
        <p:nvSpPr>
          <p:cNvPr id="5" name="Shape 3"/>
          <p:cNvSpPr/>
          <p:nvPr/>
        </p:nvSpPr>
        <p:spPr>
          <a:xfrm>
            <a:off x="667512" y="1517904"/>
            <a:ext cx="100584" cy="100584"/>
          </a:xfrm>
          <a:prstGeom prst="ellipse">
            <a:avLst/>
          </a:prstGeom>
          <a:solidFill>
            <a:srgbClr val="B54A45"/>
          </a:solidFill>
          <a:ln/>
        </p:spPr>
      </p:sp>
      <p:sp>
        <p:nvSpPr>
          <p:cNvPr id="6" name="Shape 4"/>
          <p:cNvSpPr/>
          <p:nvPr/>
        </p:nvSpPr>
        <p:spPr>
          <a:xfrm>
            <a:off x="868680" y="1517904"/>
            <a:ext cx="100584" cy="100584"/>
          </a:xfrm>
          <a:prstGeom prst="ellipse">
            <a:avLst/>
          </a:prstGeom>
          <a:solidFill>
            <a:srgbClr val="C9962E"/>
          </a:solidFill>
          <a:ln/>
        </p:spPr>
      </p:sp>
      <p:sp>
        <p:nvSpPr>
          <p:cNvPr id="7" name="Shape 5"/>
          <p:cNvSpPr/>
          <p:nvPr/>
        </p:nvSpPr>
        <p:spPr>
          <a:xfrm>
            <a:off x="1069848" y="1517904"/>
            <a:ext cx="100584" cy="100584"/>
          </a:xfrm>
          <a:prstGeom prst="ellipse">
            <a:avLst/>
          </a:prstGeom>
          <a:solidFill>
            <a:srgbClr val="2F8F5B"/>
          </a:solidFill>
          <a:ln/>
        </p:spPr>
      </p:sp>
      <p:sp>
        <p:nvSpPr>
          <p:cNvPr id="8" name="Text 6"/>
          <p:cNvSpPr/>
          <p:nvPr/>
        </p:nvSpPr>
        <p:spPr>
          <a:xfrm>
            <a:off x="1417320" y="1463040"/>
            <a:ext cx="429768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select_products.sql</a:t>
            </a:r>
            <a:endParaRPr lang="en-US" sz="950" dirty="0"/>
          </a:p>
        </p:txBody>
      </p:sp>
      <p:sp>
        <p:nvSpPr>
          <p:cNvPr id="9" name="Text 7"/>
          <p:cNvSpPr/>
          <p:nvPr/>
        </p:nvSpPr>
        <p:spPr>
          <a:xfrm>
            <a:off x="758952" y="1755648"/>
            <a:ext cx="4882896" cy="868680"/>
          </a:xfrm>
          <a:prstGeom prst="rect">
            <a:avLst/>
          </a:prstGeom>
          <a:noFill/>
          <a:ln/>
        </p:spPr>
        <p:txBody>
          <a:bodyPr wrap="square" rtlCol="0" anchor="t"/>
          <a:lstStyle/>
          <a:p>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SELECT</a:t>
            </a:r>
            <a:pPr indent="0" marL="0">
              <a:lnSpc>
                <a:spcPct val="118000"/>
              </a:lnSpc>
              <a:buNone/>
            </a:pPr>
            <a:endParaRPr lang="en-US" sz="1100" dirty="0"/>
          </a:p>
          <a:p>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Product_ID, Product_Name,</a:t>
            </a:r>
            <a:endParaRPr lang="en-US" sz="1100" dirty="0"/>
          </a:p>
          <a:p>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Unit_Price, Quantity_In_Stock</a:t>
            </a:r>
            <a:endParaRPr lang="en-US" sz="1100" dirty="0"/>
          </a:p>
          <a:p>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Products;</a:t>
            </a:r>
            <a:endParaRPr lang="en-US" sz="1100" dirty="0"/>
          </a:p>
        </p:txBody>
      </p:sp>
      <p:sp>
        <p:nvSpPr>
          <p:cNvPr id="10" name="Shape 8"/>
          <p:cNvSpPr/>
          <p:nvPr/>
        </p:nvSpPr>
        <p:spPr>
          <a:xfrm>
            <a:off x="502920" y="3017520"/>
            <a:ext cx="5394960" cy="1325880"/>
          </a:xfrm>
          <a:prstGeom prst="roundRect">
            <a:avLst>
              <a:gd name="adj" fmla="val 4138"/>
            </a:avLst>
          </a:prstGeom>
          <a:solidFill>
            <a:srgbClr val="0C1B33"/>
          </a:solidFill>
          <a:ln/>
          <a:effectLst>
            <a:outerShdw sx="100000" sy="100000" kx="0" ky="0" algn="bl" rotWithShape="0" blurRad="127000" dist="38100" dir="5400000">
              <a:srgbClr val="000000">
                <a:alpha val="25000"/>
              </a:srgbClr>
            </a:outerShdw>
          </a:effectLst>
        </p:spPr>
      </p:sp>
      <p:sp>
        <p:nvSpPr>
          <p:cNvPr id="11" name="Shape 9"/>
          <p:cNvSpPr/>
          <p:nvPr/>
        </p:nvSpPr>
        <p:spPr>
          <a:xfrm>
            <a:off x="667512" y="3163824"/>
            <a:ext cx="100584" cy="100584"/>
          </a:xfrm>
          <a:prstGeom prst="ellipse">
            <a:avLst/>
          </a:prstGeom>
          <a:solidFill>
            <a:srgbClr val="B54A45"/>
          </a:solidFill>
          <a:ln/>
        </p:spPr>
      </p:sp>
      <p:sp>
        <p:nvSpPr>
          <p:cNvPr id="12" name="Shape 10"/>
          <p:cNvSpPr/>
          <p:nvPr/>
        </p:nvSpPr>
        <p:spPr>
          <a:xfrm>
            <a:off x="868680" y="3163824"/>
            <a:ext cx="100584" cy="100584"/>
          </a:xfrm>
          <a:prstGeom prst="ellipse">
            <a:avLst/>
          </a:prstGeom>
          <a:solidFill>
            <a:srgbClr val="C9962E"/>
          </a:solidFill>
          <a:ln/>
        </p:spPr>
      </p:sp>
      <p:sp>
        <p:nvSpPr>
          <p:cNvPr id="13" name="Shape 11"/>
          <p:cNvSpPr/>
          <p:nvPr/>
        </p:nvSpPr>
        <p:spPr>
          <a:xfrm>
            <a:off x="1069848" y="3163824"/>
            <a:ext cx="100584" cy="100584"/>
          </a:xfrm>
          <a:prstGeom prst="ellipse">
            <a:avLst/>
          </a:prstGeom>
          <a:solidFill>
            <a:srgbClr val="2F8F5B"/>
          </a:solidFill>
          <a:ln/>
        </p:spPr>
      </p:sp>
      <p:sp>
        <p:nvSpPr>
          <p:cNvPr id="14" name="Text 12"/>
          <p:cNvSpPr/>
          <p:nvPr/>
        </p:nvSpPr>
        <p:spPr>
          <a:xfrm>
            <a:off x="1417320" y="3108960"/>
            <a:ext cx="429768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update_stock.sql</a:t>
            </a:r>
            <a:endParaRPr lang="en-US" sz="950" dirty="0"/>
          </a:p>
        </p:txBody>
      </p:sp>
      <p:sp>
        <p:nvSpPr>
          <p:cNvPr id="15" name="Text 13"/>
          <p:cNvSpPr/>
          <p:nvPr/>
        </p:nvSpPr>
        <p:spPr>
          <a:xfrm>
            <a:off x="758952" y="3401568"/>
            <a:ext cx="4882896" cy="777240"/>
          </a:xfrm>
          <a:prstGeom prst="rect">
            <a:avLst/>
          </a:prstGeom>
          <a:noFill/>
          <a:ln/>
        </p:spPr>
        <p:txBody>
          <a:bodyPr wrap="square" rtlCol="0" anchor="t"/>
          <a:lstStyle/>
          <a:p>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UPDATE</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 Products</a:t>
            </a:r>
            <a:endParaRPr lang="en-US" sz="1050" dirty="0"/>
          </a:p>
          <a:p>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SET</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 Quantity_In_Stock = 25</a:t>
            </a:r>
            <a:endParaRPr lang="en-US" sz="1050" dirty="0"/>
          </a:p>
          <a:p>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WHERE</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 Product_ID = 2001;</a:t>
            </a:r>
            <a:endParaRPr lang="en-US" sz="1050" dirty="0"/>
          </a:p>
          <a:p>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COMMIT</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a:t>
            </a:r>
            <a:endParaRPr lang="en-US" sz="1050" dirty="0"/>
          </a:p>
        </p:txBody>
      </p:sp>
      <p:sp>
        <p:nvSpPr>
          <p:cNvPr id="16" name="Shape 14"/>
          <p:cNvSpPr/>
          <p:nvPr/>
        </p:nvSpPr>
        <p:spPr>
          <a:xfrm>
            <a:off x="502920" y="4572000"/>
            <a:ext cx="5394960" cy="1234440"/>
          </a:xfrm>
          <a:prstGeom prst="roundRect">
            <a:avLst>
              <a:gd name="adj" fmla="val 4444"/>
            </a:avLst>
          </a:prstGeom>
          <a:solidFill>
            <a:srgbClr val="0C1B33"/>
          </a:solidFill>
          <a:ln/>
          <a:effectLst>
            <a:outerShdw sx="100000" sy="100000" kx="0" ky="0" algn="bl" rotWithShape="0" blurRad="127000" dist="38100" dir="5400000">
              <a:srgbClr val="000000">
                <a:alpha val="25000"/>
              </a:srgbClr>
            </a:outerShdw>
          </a:effectLst>
        </p:spPr>
      </p:sp>
      <p:sp>
        <p:nvSpPr>
          <p:cNvPr id="17" name="Shape 15"/>
          <p:cNvSpPr/>
          <p:nvPr/>
        </p:nvSpPr>
        <p:spPr>
          <a:xfrm>
            <a:off x="667512" y="4718304"/>
            <a:ext cx="100584" cy="100584"/>
          </a:xfrm>
          <a:prstGeom prst="ellipse">
            <a:avLst/>
          </a:prstGeom>
          <a:solidFill>
            <a:srgbClr val="B54A45"/>
          </a:solidFill>
          <a:ln/>
        </p:spPr>
      </p:sp>
      <p:sp>
        <p:nvSpPr>
          <p:cNvPr id="18" name="Shape 16"/>
          <p:cNvSpPr/>
          <p:nvPr/>
        </p:nvSpPr>
        <p:spPr>
          <a:xfrm>
            <a:off x="868680" y="4718304"/>
            <a:ext cx="100584" cy="100584"/>
          </a:xfrm>
          <a:prstGeom prst="ellipse">
            <a:avLst/>
          </a:prstGeom>
          <a:solidFill>
            <a:srgbClr val="C9962E"/>
          </a:solidFill>
          <a:ln/>
        </p:spPr>
      </p:sp>
      <p:sp>
        <p:nvSpPr>
          <p:cNvPr id="19" name="Shape 17"/>
          <p:cNvSpPr/>
          <p:nvPr/>
        </p:nvSpPr>
        <p:spPr>
          <a:xfrm>
            <a:off x="1069848" y="4718304"/>
            <a:ext cx="100584" cy="100584"/>
          </a:xfrm>
          <a:prstGeom prst="ellipse">
            <a:avLst/>
          </a:prstGeom>
          <a:solidFill>
            <a:srgbClr val="2F8F5B"/>
          </a:solidFill>
          <a:ln/>
        </p:spPr>
      </p:sp>
      <p:sp>
        <p:nvSpPr>
          <p:cNvPr id="20" name="Text 18"/>
          <p:cNvSpPr/>
          <p:nvPr/>
        </p:nvSpPr>
        <p:spPr>
          <a:xfrm>
            <a:off x="1417320" y="4663440"/>
            <a:ext cx="429768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delete_product.sql</a:t>
            </a:r>
            <a:endParaRPr lang="en-US" sz="950" dirty="0"/>
          </a:p>
        </p:txBody>
      </p:sp>
      <p:sp>
        <p:nvSpPr>
          <p:cNvPr id="21" name="Text 19"/>
          <p:cNvSpPr/>
          <p:nvPr/>
        </p:nvSpPr>
        <p:spPr>
          <a:xfrm>
            <a:off x="758952" y="4956048"/>
            <a:ext cx="4882896" cy="685800"/>
          </a:xfrm>
          <a:prstGeom prst="rect">
            <a:avLst/>
          </a:prstGeom>
          <a:noFill/>
          <a:ln/>
        </p:spPr>
        <p:txBody>
          <a:bodyPr wrap="square" rtlCol="0" anchor="t"/>
          <a:lstStyle/>
          <a:p>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DELETE</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 Products</a:t>
            </a:r>
            <a:endParaRPr lang="en-US" sz="1050" dirty="0"/>
          </a:p>
          <a:p>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WHERE</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 Product_ID = 2010;</a:t>
            </a:r>
            <a:endParaRPr lang="en-US" sz="1050" dirty="0"/>
          </a:p>
          <a:p>
            <a:pPr indent="0" marL="0">
              <a:lnSpc>
                <a:spcPct val="118000"/>
              </a:lnSpc>
              <a:buNone/>
            </a:pPr>
            <a:r>
              <a:rPr lang="en-US" sz="1050" b="1" dirty="0">
                <a:solidFill>
                  <a:srgbClr val="6FC3E8"/>
                </a:solidFill>
                <a:latin typeface="Courier New" pitchFamily="34" charset="0"/>
                <a:ea typeface="Courier New" pitchFamily="34" charset="-122"/>
                <a:cs typeface="Courier New" pitchFamily="34" charset="-120"/>
              </a:rPr>
              <a:t>COMMIT</a:t>
            </a:r>
            <a:pPr indent="0" marL="0">
              <a:lnSpc>
                <a:spcPct val="118000"/>
              </a:lnSpc>
              <a:buNone/>
            </a:pPr>
            <a:r>
              <a:rPr lang="en-US" sz="1050" dirty="0">
                <a:solidFill>
                  <a:srgbClr val="E7EEF5"/>
                </a:solidFill>
                <a:latin typeface="Courier New" pitchFamily="34" charset="0"/>
                <a:ea typeface="Courier New" pitchFamily="34" charset="-122"/>
                <a:cs typeface="Courier New" pitchFamily="34" charset="-120"/>
              </a:rPr>
              <a:t>;</a:t>
            </a:r>
            <a:endParaRPr lang="en-US" sz="1050" dirty="0"/>
          </a:p>
        </p:txBody>
      </p:sp>
      <p:sp>
        <p:nvSpPr>
          <p:cNvPr id="22" name="Text 20"/>
          <p:cNvSpPr/>
          <p:nvPr/>
        </p:nvSpPr>
        <p:spPr>
          <a:xfrm>
            <a:off x="6172200" y="1371600"/>
            <a:ext cx="5532120" cy="256032"/>
          </a:xfrm>
          <a:prstGeom prst="rect">
            <a:avLst/>
          </a:prstGeom>
          <a:noFill/>
          <a:ln/>
        </p:spPr>
        <p:txBody>
          <a:bodyPr wrap="square" rtlCol="0" anchor="ctr"/>
          <a:lstStyle/>
          <a:p>
            <a:pPr indent="0" marL="0">
              <a:buNone/>
            </a:pPr>
            <a:r>
              <a:rPr lang="en-US" sz="1100" b="1" spc="100" kern="0" dirty="0">
                <a:solidFill>
                  <a:srgbClr val="3D8EC9"/>
                </a:solidFill>
                <a:latin typeface="Calibri" pitchFamily="34" charset="0"/>
                <a:ea typeface="Calibri" pitchFamily="34" charset="-122"/>
                <a:cs typeface="Calibri" pitchFamily="34" charset="-120"/>
              </a:rPr>
              <a:t>JOIN QUERY</a:t>
            </a:r>
            <a:endParaRPr lang="en-US" sz="1100" dirty="0"/>
          </a:p>
        </p:txBody>
      </p:sp>
      <p:sp>
        <p:nvSpPr>
          <p:cNvPr id="23" name="Shape 21"/>
          <p:cNvSpPr/>
          <p:nvPr/>
        </p:nvSpPr>
        <p:spPr>
          <a:xfrm>
            <a:off x="6172200" y="1691640"/>
            <a:ext cx="5532120" cy="1783080"/>
          </a:xfrm>
          <a:prstGeom prst="roundRect">
            <a:avLst>
              <a:gd name="adj" fmla="val 3077"/>
            </a:avLst>
          </a:prstGeom>
          <a:solidFill>
            <a:srgbClr val="0C1B33"/>
          </a:solidFill>
          <a:ln/>
          <a:effectLst>
            <a:outerShdw sx="100000" sy="100000" kx="0" ky="0" algn="bl" rotWithShape="0" blurRad="127000" dist="38100" dir="5400000">
              <a:srgbClr val="000000">
                <a:alpha val="25000"/>
              </a:srgbClr>
            </a:outerShdw>
          </a:effectLst>
        </p:spPr>
      </p:sp>
      <p:sp>
        <p:nvSpPr>
          <p:cNvPr id="24" name="Shape 22"/>
          <p:cNvSpPr/>
          <p:nvPr/>
        </p:nvSpPr>
        <p:spPr>
          <a:xfrm>
            <a:off x="6336792" y="1837944"/>
            <a:ext cx="100584" cy="100584"/>
          </a:xfrm>
          <a:prstGeom prst="ellipse">
            <a:avLst/>
          </a:prstGeom>
          <a:solidFill>
            <a:srgbClr val="B54A45"/>
          </a:solidFill>
          <a:ln/>
        </p:spPr>
      </p:sp>
      <p:sp>
        <p:nvSpPr>
          <p:cNvPr id="25" name="Shape 23"/>
          <p:cNvSpPr/>
          <p:nvPr/>
        </p:nvSpPr>
        <p:spPr>
          <a:xfrm>
            <a:off x="6537960" y="1837944"/>
            <a:ext cx="100584" cy="100584"/>
          </a:xfrm>
          <a:prstGeom prst="ellipse">
            <a:avLst/>
          </a:prstGeom>
          <a:solidFill>
            <a:srgbClr val="C9962E"/>
          </a:solidFill>
          <a:ln/>
        </p:spPr>
      </p:sp>
      <p:sp>
        <p:nvSpPr>
          <p:cNvPr id="26" name="Shape 24"/>
          <p:cNvSpPr/>
          <p:nvPr/>
        </p:nvSpPr>
        <p:spPr>
          <a:xfrm>
            <a:off x="6739128" y="1837944"/>
            <a:ext cx="100584" cy="100584"/>
          </a:xfrm>
          <a:prstGeom prst="ellipse">
            <a:avLst/>
          </a:prstGeom>
          <a:solidFill>
            <a:srgbClr val="2F8F5B"/>
          </a:solidFill>
          <a:ln/>
        </p:spPr>
      </p:sp>
      <p:sp>
        <p:nvSpPr>
          <p:cNvPr id="27" name="Text 25"/>
          <p:cNvSpPr/>
          <p:nvPr/>
        </p:nvSpPr>
        <p:spPr>
          <a:xfrm>
            <a:off x="7086600" y="1783080"/>
            <a:ext cx="443484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product_join.sql</a:t>
            </a:r>
            <a:endParaRPr lang="en-US" sz="950" dirty="0"/>
          </a:p>
        </p:txBody>
      </p:sp>
      <p:sp>
        <p:nvSpPr>
          <p:cNvPr id="28" name="Text 26"/>
          <p:cNvSpPr/>
          <p:nvPr/>
        </p:nvSpPr>
        <p:spPr>
          <a:xfrm>
            <a:off x="6428232" y="2075688"/>
            <a:ext cx="5020056" cy="1234440"/>
          </a:xfrm>
          <a:prstGeom prst="rect">
            <a:avLst/>
          </a:prstGeom>
          <a:noFill/>
          <a:ln/>
        </p:spPr>
        <p:txBody>
          <a:bodyPr wrap="square" rtlCol="0" anchor="t"/>
          <a:lstStyle/>
          <a:p>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SELECT</a:t>
            </a:r>
            <a:pPr indent="0" marL="0">
              <a:lnSpc>
                <a:spcPct val="118000"/>
              </a:lnSpc>
              <a:buNone/>
            </a:pPr>
            <a:endParaRPr lang="en-US" sz="1100" dirty="0"/>
          </a:p>
          <a:p>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P.Product_Name, S.Supplier_Name, C.Category_Name</a:t>
            </a:r>
            <a:endParaRPr lang="en-US" sz="1100" dirty="0"/>
          </a:p>
          <a:p>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Products P</a:t>
            </a:r>
            <a:endParaRPr lang="en-US" sz="1100" dirty="0"/>
          </a:p>
          <a:p>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JOIN</a:t>
            </a:r>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Suppliers S </a:t>
            </a:r>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ON</a:t>
            </a:r>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P.Supplier_ID = S.Supplier_ID</a:t>
            </a:r>
            <a:endParaRPr lang="en-US" sz="1100" dirty="0"/>
          </a:p>
          <a:p>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JOIN</a:t>
            </a:r>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Categories C </a:t>
            </a:r>
            <a:pPr indent="0" marL="0">
              <a:lnSpc>
                <a:spcPct val="118000"/>
              </a:lnSpc>
              <a:buNone/>
            </a:pPr>
            <a:r>
              <a:rPr lang="en-US" sz="1100" b="1" dirty="0">
                <a:solidFill>
                  <a:srgbClr val="6FC3E8"/>
                </a:solidFill>
                <a:latin typeface="Courier New" pitchFamily="34" charset="0"/>
                <a:ea typeface="Courier New" pitchFamily="34" charset="-122"/>
                <a:cs typeface="Courier New" pitchFamily="34" charset="-120"/>
              </a:rPr>
              <a:t>ON</a:t>
            </a:r>
            <a:pPr indent="0" marL="0">
              <a:lnSpc>
                <a:spcPct val="118000"/>
              </a:lnSpc>
              <a:buNone/>
            </a:pPr>
            <a:r>
              <a:rPr lang="en-US" sz="1100" dirty="0">
                <a:solidFill>
                  <a:srgbClr val="E7EEF5"/>
                </a:solidFill>
                <a:latin typeface="Courier New" pitchFamily="34" charset="0"/>
                <a:ea typeface="Courier New" pitchFamily="34" charset="-122"/>
                <a:cs typeface="Courier New" pitchFamily="34" charset="-120"/>
              </a:rPr>
              <a:t> P.Category_ID = C.Category_ID;</a:t>
            </a:r>
            <a:endParaRPr lang="en-US" sz="1100" dirty="0"/>
          </a:p>
        </p:txBody>
      </p:sp>
      <p:sp>
        <p:nvSpPr>
          <p:cNvPr id="29" name="Shape 27"/>
          <p:cNvSpPr/>
          <p:nvPr/>
        </p:nvSpPr>
        <p:spPr>
          <a:xfrm>
            <a:off x="6172200" y="3703320"/>
            <a:ext cx="5532120" cy="2103120"/>
          </a:xfrm>
          <a:prstGeom prst="roundRect">
            <a:avLst>
              <a:gd name="adj" fmla="val 3478"/>
            </a:avLst>
          </a:prstGeom>
          <a:solidFill>
            <a:srgbClr val="F7FAFC"/>
          </a:solidFill>
          <a:ln/>
        </p:spPr>
      </p:sp>
      <p:sp>
        <p:nvSpPr>
          <p:cNvPr id="30" name="Text 28"/>
          <p:cNvSpPr/>
          <p:nvPr/>
        </p:nvSpPr>
        <p:spPr>
          <a:xfrm>
            <a:off x="6400800" y="3858768"/>
            <a:ext cx="5074920" cy="274320"/>
          </a:xfrm>
          <a:prstGeom prst="rect">
            <a:avLst/>
          </a:prstGeom>
          <a:noFill/>
          <a:ln/>
        </p:spPr>
        <p:txBody>
          <a:bodyPr wrap="square" rtlCol="0" anchor="ctr"/>
          <a:lstStyle/>
          <a:p>
            <a:pPr indent="0" marL="0">
              <a:buNone/>
            </a:pPr>
            <a:r>
              <a:rPr lang="en-US" sz="1250" b="1" dirty="0">
                <a:solidFill>
                  <a:srgbClr val="13294B"/>
                </a:solidFill>
                <a:latin typeface="Calibri" pitchFamily="34" charset="0"/>
                <a:ea typeface="Calibri" pitchFamily="34" charset="-122"/>
                <a:cs typeface="Calibri" pitchFamily="34" charset="-120"/>
              </a:rPr>
              <a:t>Reading These Four Statements</a:t>
            </a:r>
            <a:endParaRPr lang="en-US" sz="1250" dirty="0"/>
          </a:p>
        </p:txBody>
      </p:sp>
      <p:sp>
        <p:nvSpPr>
          <p:cNvPr id="31" name="Text 29"/>
          <p:cNvSpPr/>
          <p:nvPr/>
        </p:nvSpPr>
        <p:spPr>
          <a:xfrm>
            <a:off x="6400800" y="4187952"/>
            <a:ext cx="5074920" cy="1508760"/>
          </a:xfrm>
          <a:prstGeom prst="rect">
            <a:avLst/>
          </a:prstGeom>
          <a:noFill/>
          <a:ln/>
        </p:spPr>
        <p:txBody>
          <a:bodyPr wrap="square" rtlCol="0" anchor="t"/>
          <a:lstStyle/>
          <a:p>
            <a:pPr marL="342900" indent="-342900">
              <a:lnSpc>
                <a:spcPct val="115000"/>
              </a:lnSpc>
              <a:spcAft>
                <a:spcPts val="576"/>
              </a:spcAft>
              <a:buSzPct val="100000"/>
              <a:buChar char="▪"/>
            </a:pPr>
            <a:r>
              <a:rPr lang="en-US" sz="1080" dirty="0">
                <a:solidFill>
                  <a:srgbClr val="17212E"/>
                </a:solidFill>
                <a:latin typeface="Calibri" pitchFamily="34" charset="0"/>
                <a:ea typeface="Calibri" pitchFamily="34" charset="-122"/>
                <a:cs typeface="Calibri" pitchFamily="34" charset="-120"/>
              </a:rPr>
              <a:t>SELECT retrieves rows and columns without changing any data.</a:t>
            </a:r>
            <a:endParaRPr lang="en-US" sz="1080" dirty="0"/>
          </a:p>
          <a:p>
            <a:pPr marL="342900" indent="-342900">
              <a:lnSpc>
                <a:spcPct val="115000"/>
              </a:lnSpc>
              <a:spcAft>
                <a:spcPts val="576"/>
              </a:spcAft>
              <a:buSzPct val="100000"/>
              <a:buChar char="▪"/>
            </a:pPr>
            <a:r>
              <a:rPr lang="en-US" sz="1080" dirty="0">
                <a:solidFill>
                  <a:srgbClr val="17212E"/>
                </a:solidFill>
                <a:latin typeface="Calibri" pitchFamily="34" charset="0"/>
                <a:ea typeface="Calibri" pitchFamily="34" charset="-122"/>
                <a:cs typeface="Calibri" pitchFamily="34" charset="-120"/>
              </a:rPr>
              <a:t>UPDATE modifies existing rows matched by WHERE — omit WHERE and every row changes.</a:t>
            </a:r>
            <a:endParaRPr lang="en-US" sz="1080" dirty="0"/>
          </a:p>
          <a:p>
            <a:pPr marL="342900" indent="-342900">
              <a:lnSpc>
                <a:spcPct val="115000"/>
              </a:lnSpc>
              <a:spcAft>
                <a:spcPts val="576"/>
              </a:spcAft>
              <a:buSzPct val="100000"/>
              <a:buChar char="▪"/>
            </a:pPr>
            <a:r>
              <a:rPr lang="en-US" sz="1080" dirty="0">
                <a:solidFill>
                  <a:srgbClr val="17212E"/>
                </a:solidFill>
                <a:latin typeface="Calibri" pitchFamily="34" charset="0"/>
                <a:ea typeface="Calibri" pitchFamily="34" charset="-122"/>
                <a:cs typeface="Calibri" pitchFamily="34" charset="-120"/>
              </a:rPr>
              <a:t>DELETE removes rows matched by WHERE — the same caution applies.</a:t>
            </a:r>
            <a:endParaRPr lang="en-US" sz="1080" dirty="0"/>
          </a:p>
          <a:p>
            <a:pPr marL="342900" indent="-342900">
              <a:lnSpc>
                <a:spcPct val="115000"/>
              </a:lnSpc>
              <a:spcAft>
                <a:spcPts val="576"/>
              </a:spcAft>
              <a:buSzPct val="100000"/>
              <a:buChar char="▪"/>
            </a:pPr>
            <a:r>
              <a:rPr lang="en-US" sz="1080" dirty="0">
                <a:solidFill>
                  <a:srgbClr val="17212E"/>
                </a:solidFill>
                <a:latin typeface="Calibri" pitchFamily="34" charset="0"/>
                <a:ea typeface="Calibri" pitchFamily="34" charset="-122"/>
                <a:cs typeface="Calibri" pitchFamily="34" charset="-120"/>
              </a:rPr>
              <a:t>JOIN combines Products with Suppliers and Categories in a single readable result.</a:t>
            </a:r>
            <a:endParaRPr lang="en-US" sz="1080" dirty="0"/>
          </a:p>
        </p:txBody>
      </p:sp>
      <p:sp>
        <p:nvSpPr>
          <p:cNvPr id="32" name="Shape 30"/>
          <p:cNvSpPr/>
          <p:nvPr/>
        </p:nvSpPr>
        <p:spPr>
          <a:xfrm>
            <a:off x="11451031" y="6437376"/>
            <a:ext cx="237744" cy="237744"/>
          </a:xfrm>
          <a:prstGeom prst="ellipse">
            <a:avLst/>
          </a:prstGeom>
          <a:solidFill>
            <a:srgbClr val="EEF3F8"/>
          </a:solidFill>
          <a:ln/>
        </p:spPr>
      </p:sp>
      <p:pic>
        <p:nvPicPr>
          <p:cNvPr id="33" name="Image 0" descr="/home/claude/wms_deck/assets/icons/database_navy.png">    </p:cNvPr>
          <p:cNvPicPr>
            <a:picLocks noChangeAspect="1"/>
          </p:cNvPicPr>
          <p:nvPr/>
        </p:nvPicPr>
        <p:blipFill>
          <a:blip r:embed="rId1"/>
          <a:stretch>
            <a:fillRect/>
          </a:stretch>
        </p:blipFill>
        <p:spPr>
          <a:xfrm>
            <a:off x="11515222" y="6501567"/>
            <a:ext cx="109362" cy="109362"/>
          </a:xfrm>
          <a:prstGeom prst="rect">
            <a:avLst/>
          </a:prstGeom>
        </p:spPr>
      </p:pic>
      <p:sp>
        <p:nvSpPr>
          <p:cNvPr id="34" name="Text 31"/>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35" name="Text 32"/>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PL/SQL IMPLEMENTATION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Procedural Logic with PL/SQL</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4709160"/>
        </p:xfrm>
        <a:graphic>
          <a:graphicData uri="http://schemas.openxmlformats.org/drawingml/2006/table">
            <a:tbl>
              <a:tblPr/>
              <a:tblGrid>
                <a:gridCol w="2194560"/>
                <a:gridCol w="2926080"/>
                <a:gridCol w="6065215"/>
              </a:tblGrid>
              <a:tr h="672737">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PL/SQL Construct</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Used In This Project</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Was Used</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r>
              <a:tr h="672737">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Anonymous Block</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Insert a product + DBMS_OUTPUT confirmation</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Quick, one-off logic that does not need to be saved as a permanent object.</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72737">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Stored Procedure</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Sell_Product()</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Encapsulates the "reduce stock on a sale" step in one reusable, parameterized call.</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672737">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Get_Product_Stock()</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Returns a single reusable value that can be used inside any SQL statement.</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72737">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Cursor</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Implicit cursor inside Get_Product_Stock() (SELECT ... INTO)</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Sufficient for this scope; no explicit cursor was required.</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672737">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Exception Handling</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Not required by the simplified procedure/function shown here</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WHERE-clause matching keeps each statement safe; WHEN OTHERS + ROLLBACK is noted as a hardening step for a production version.</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672737">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Packages</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Not implemented in this version</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100" dirty="0">
                          <a:solidFill>
                            <a:srgbClr val="17212E"/>
                          </a:solidFill>
                          <a:latin typeface="Calibri" pitchFamily="34" charset="0"/>
                          <a:ea typeface="Calibri" pitchFamily="34" charset="-122"/>
                          <a:cs typeface="Calibri" pitchFamily="34" charset="-120"/>
                        </a:rPr>
                        <a:t>Noted as a future enhancement to group related procedures and functions together.</a:t>
                      </a:r>
                      <a:endParaRPr lang="en-US" sz="11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bl>
          </a:graphicData>
        </a:graphic>
      </p:graphicFrame>
      <p:sp>
        <p:nvSpPr>
          <p:cNvPr id="5" name="Shape 2"/>
          <p:cNvSpPr/>
          <p:nvPr/>
        </p:nvSpPr>
        <p:spPr>
          <a:xfrm>
            <a:off x="11451031" y="6437376"/>
            <a:ext cx="237744" cy="237744"/>
          </a:xfrm>
          <a:prstGeom prst="ellipse">
            <a:avLst/>
          </a:prstGeom>
          <a:solidFill>
            <a:srgbClr val="EEF3F8"/>
          </a:solidFill>
          <a:ln/>
        </p:spPr>
      </p:sp>
      <p:pic>
        <p:nvPicPr>
          <p:cNvPr id="6" name="Image 0" descr="/home/claude/wms_deck/assets/icons/database_navy.png">    </p:cNvPr>
          <p:cNvPicPr>
            <a:picLocks noChangeAspect="1"/>
          </p:cNvPicPr>
          <p:nvPr/>
        </p:nvPicPr>
        <p:blipFill>
          <a:blip r:embed="rId1"/>
          <a:stretch>
            <a:fillRect/>
          </a:stretch>
        </p:blipFill>
        <p:spPr>
          <a:xfrm>
            <a:off x="11515222" y="6501567"/>
            <a:ext cx="109362" cy="109362"/>
          </a:xfrm>
          <a:prstGeom prst="rect">
            <a:avLst/>
          </a:prstGeom>
        </p:spPr>
      </p:pic>
      <p:sp>
        <p:nvSpPr>
          <p:cNvPr id="7" name="Text 3"/>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8" name="Text 4"/>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PL/SQL · ANONYMOUS BLOCK</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Adding a Product &amp; Confirming It</a:t>
            </a:r>
            <a:endParaRPr lang="en-US" sz="3000" dirty="0"/>
          </a:p>
        </p:txBody>
      </p:sp>
      <p:sp>
        <p:nvSpPr>
          <p:cNvPr id="4" name="Text 2"/>
          <p:cNvSpPr/>
          <p:nvPr/>
        </p:nvSpPr>
        <p:spPr>
          <a:xfrm>
            <a:off x="502920" y="1417320"/>
            <a:ext cx="4206240" cy="219456"/>
          </a:xfrm>
          <a:prstGeom prst="rect">
            <a:avLst/>
          </a:prstGeom>
          <a:noFill/>
          <a:ln/>
        </p:spPr>
        <p:txBody>
          <a:bodyPr wrap="square" rtlCol="0" anchor="ctr"/>
          <a:lstStyle/>
          <a:p>
            <a:pPr indent="0" marL="0">
              <a:buNone/>
            </a:pPr>
            <a:r>
              <a:rPr lang="en-US" sz="1050" b="1" spc="100" kern="0" dirty="0">
                <a:solidFill>
                  <a:srgbClr val="3D8EC9"/>
                </a:solidFill>
                <a:latin typeface="Calibri" pitchFamily="34" charset="0"/>
                <a:ea typeface="Calibri" pitchFamily="34" charset="-122"/>
                <a:cs typeface="Calibri" pitchFamily="34" charset="-120"/>
              </a:rPr>
              <a:t>PURPOSE</a:t>
            </a:r>
            <a:endParaRPr lang="en-US" sz="1050" dirty="0"/>
          </a:p>
        </p:txBody>
      </p:sp>
      <p:sp>
        <p:nvSpPr>
          <p:cNvPr id="5" name="Text 3"/>
          <p:cNvSpPr/>
          <p:nvPr/>
        </p:nvSpPr>
        <p:spPr>
          <a:xfrm>
            <a:off x="502920" y="1645920"/>
            <a:ext cx="4206240" cy="868680"/>
          </a:xfrm>
          <a:prstGeom prst="rect">
            <a:avLst/>
          </a:prstGeom>
          <a:noFill/>
          <a:ln/>
        </p:spPr>
        <p:txBody>
          <a:bodyPr wrap="square" rtlCol="0" anchor="t"/>
          <a:lstStyle/>
          <a:p>
            <a:pPr indent="0" marL="0">
              <a:lnSpc>
                <a:spcPct val="115000"/>
              </a:lnSpc>
              <a:buNone/>
            </a:pPr>
            <a:r>
              <a:rPr lang="en-US" sz="1100" dirty="0">
                <a:solidFill>
                  <a:srgbClr val="17212E"/>
                </a:solidFill>
                <a:latin typeface="Calibri" pitchFamily="34" charset="0"/>
                <a:ea typeface="Calibri" pitchFamily="34" charset="-122"/>
                <a:cs typeface="Calibri" pitchFamily="34" charset="-120"/>
              </a:rPr>
              <a:t>A self-contained block that inserts one new product row and prints a confirmation message — demonstrating an executable statement, COMMIT, and DBMS_OUTPUT without creating a permanent object.</a:t>
            </a:r>
            <a:endParaRPr lang="en-US" sz="1100" dirty="0"/>
          </a:p>
        </p:txBody>
      </p:sp>
      <p:sp>
        <p:nvSpPr>
          <p:cNvPr id="6" name="Shape 4"/>
          <p:cNvSpPr/>
          <p:nvPr/>
        </p:nvSpPr>
        <p:spPr>
          <a:xfrm>
            <a:off x="502920" y="2651760"/>
            <a:ext cx="4206240" cy="566928"/>
          </a:xfrm>
          <a:prstGeom prst="roundRect">
            <a:avLst>
              <a:gd name="adj" fmla="val 9677"/>
            </a:avLst>
          </a:prstGeom>
          <a:solidFill>
            <a:srgbClr val="F7FAFC"/>
          </a:solidFill>
          <a:ln w="12700">
            <a:solidFill>
              <a:srgbClr val="DCE4EC"/>
            </a:solidFill>
            <a:prstDash val="solid"/>
          </a:ln>
        </p:spPr>
      </p:sp>
      <p:sp>
        <p:nvSpPr>
          <p:cNvPr id="7" name="Text 5"/>
          <p:cNvSpPr/>
          <p:nvPr/>
        </p:nvSpPr>
        <p:spPr>
          <a:xfrm>
            <a:off x="594360" y="2651760"/>
            <a:ext cx="4023360" cy="566928"/>
          </a:xfrm>
          <a:prstGeom prst="rect">
            <a:avLst/>
          </a:prstGeom>
          <a:noFill/>
          <a:ln/>
        </p:spPr>
        <p:txBody>
          <a:bodyPr wrap="square"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BEGIN the block</a:t>
            </a:r>
            <a:endParaRPr lang="en-US" sz="1100" dirty="0"/>
          </a:p>
        </p:txBody>
      </p:sp>
      <p:sp>
        <p:nvSpPr>
          <p:cNvPr id="8" name="Shape 6"/>
          <p:cNvSpPr/>
          <p:nvPr/>
        </p:nvSpPr>
        <p:spPr>
          <a:xfrm>
            <a:off x="2606040" y="3227832"/>
            <a:ext cx="0" cy="109728"/>
          </a:xfrm>
          <a:prstGeom prst="line">
            <a:avLst/>
          </a:prstGeom>
          <a:noFill/>
          <a:ln w="28575">
            <a:solidFill>
              <a:srgbClr val="3D8EC9"/>
            </a:solidFill>
            <a:prstDash val="solid"/>
            <a:tailEnd type="triangle"/>
          </a:ln>
        </p:spPr>
      </p:sp>
      <p:sp>
        <p:nvSpPr>
          <p:cNvPr id="9" name="Shape 7"/>
          <p:cNvSpPr/>
          <p:nvPr/>
        </p:nvSpPr>
        <p:spPr>
          <a:xfrm>
            <a:off x="502920" y="3346704"/>
            <a:ext cx="4206240" cy="566928"/>
          </a:xfrm>
          <a:prstGeom prst="roundRect">
            <a:avLst>
              <a:gd name="adj" fmla="val 9677"/>
            </a:avLst>
          </a:prstGeom>
          <a:solidFill>
            <a:srgbClr val="F7FAFC"/>
          </a:solidFill>
          <a:ln w="12700">
            <a:solidFill>
              <a:srgbClr val="DCE4EC"/>
            </a:solidFill>
            <a:prstDash val="solid"/>
          </a:ln>
        </p:spPr>
      </p:sp>
      <p:sp>
        <p:nvSpPr>
          <p:cNvPr id="10" name="Text 8"/>
          <p:cNvSpPr/>
          <p:nvPr/>
        </p:nvSpPr>
        <p:spPr>
          <a:xfrm>
            <a:off x="594360" y="3346704"/>
            <a:ext cx="4023360" cy="566928"/>
          </a:xfrm>
          <a:prstGeom prst="rect">
            <a:avLst/>
          </a:prstGeom>
          <a:noFill/>
          <a:ln/>
        </p:spPr>
        <p:txBody>
          <a:bodyPr wrap="square"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INSERT the new product row</a:t>
            </a:r>
            <a:endParaRPr lang="en-US" sz="1100" dirty="0"/>
          </a:p>
        </p:txBody>
      </p:sp>
      <p:sp>
        <p:nvSpPr>
          <p:cNvPr id="11" name="Shape 9"/>
          <p:cNvSpPr/>
          <p:nvPr/>
        </p:nvSpPr>
        <p:spPr>
          <a:xfrm>
            <a:off x="2606040" y="3922776"/>
            <a:ext cx="0" cy="109728"/>
          </a:xfrm>
          <a:prstGeom prst="line">
            <a:avLst/>
          </a:prstGeom>
          <a:noFill/>
          <a:ln w="28575">
            <a:solidFill>
              <a:srgbClr val="3D8EC9"/>
            </a:solidFill>
            <a:prstDash val="solid"/>
            <a:tailEnd type="triangle"/>
          </a:ln>
        </p:spPr>
      </p:sp>
      <p:sp>
        <p:nvSpPr>
          <p:cNvPr id="12" name="Shape 10"/>
          <p:cNvSpPr/>
          <p:nvPr/>
        </p:nvSpPr>
        <p:spPr>
          <a:xfrm>
            <a:off x="502920" y="4041648"/>
            <a:ext cx="4206240" cy="566928"/>
          </a:xfrm>
          <a:prstGeom prst="roundRect">
            <a:avLst>
              <a:gd name="adj" fmla="val 9677"/>
            </a:avLst>
          </a:prstGeom>
          <a:solidFill>
            <a:srgbClr val="F7FAFC"/>
          </a:solidFill>
          <a:ln w="12700">
            <a:solidFill>
              <a:srgbClr val="DCE4EC"/>
            </a:solidFill>
            <a:prstDash val="solid"/>
          </a:ln>
        </p:spPr>
      </p:sp>
      <p:sp>
        <p:nvSpPr>
          <p:cNvPr id="13" name="Text 11"/>
          <p:cNvSpPr/>
          <p:nvPr/>
        </p:nvSpPr>
        <p:spPr>
          <a:xfrm>
            <a:off x="594360" y="4041648"/>
            <a:ext cx="4023360" cy="566928"/>
          </a:xfrm>
          <a:prstGeom prst="rect">
            <a:avLst/>
          </a:prstGeom>
          <a:noFill/>
          <a:ln/>
        </p:spPr>
        <p:txBody>
          <a:bodyPr wrap="square"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COMMIT the transaction</a:t>
            </a:r>
            <a:endParaRPr lang="en-US" sz="1100" dirty="0"/>
          </a:p>
        </p:txBody>
      </p:sp>
      <p:sp>
        <p:nvSpPr>
          <p:cNvPr id="14" name="Shape 12"/>
          <p:cNvSpPr/>
          <p:nvPr/>
        </p:nvSpPr>
        <p:spPr>
          <a:xfrm>
            <a:off x="2606040" y="4617720"/>
            <a:ext cx="0" cy="109728"/>
          </a:xfrm>
          <a:prstGeom prst="line">
            <a:avLst/>
          </a:prstGeom>
          <a:noFill/>
          <a:ln w="28575">
            <a:solidFill>
              <a:srgbClr val="3D8EC9"/>
            </a:solidFill>
            <a:prstDash val="solid"/>
            <a:tailEnd type="triangle"/>
          </a:ln>
        </p:spPr>
      </p:sp>
      <p:sp>
        <p:nvSpPr>
          <p:cNvPr id="15" name="Shape 13"/>
          <p:cNvSpPr/>
          <p:nvPr/>
        </p:nvSpPr>
        <p:spPr>
          <a:xfrm>
            <a:off x="502920" y="4736592"/>
            <a:ext cx="4206240" cy="566928"/>
          </a:xfrm>
          <a:prstGeom prst="roundRect">
            <a:avLst>
              <a:gd name="adj" fmla="val 9677"/>
            </a:avLst>
          </a:prstGeom>
          <a:solidFill>
            <a:srgbClr val="F7FAFC"/>
          </a:solidFill>
          <a:ln w="12700">
            <a:solidFill>
              <a:srgbClr val="DCE4EC"/>
            </a:solidFill>
            <a:prstDash val="solid"/>
          </a:ln>
        </p:spPr>
      </p:sp>
      <p:sp>
        <p:nvSpPr>
          <p:cNvPr id="16" name="Text 14"/>
          <p:cNvSpPr/>
          <p:nvPr/>
        </p:nvSpPr>
        <p:spPr>
          <a:xfrm>
            <a:off x="594360" y="4736592"/>
            <a:ext cx="4023360" cy="566928"/>
          </a:xfrm>
          <a:prstGeom prst="rect">
            <a:avLst/>
          </a:prstGeom>
          <a:noFill/>
          <a:ln/>
        </p:spPr>
        <p:txBody>
          <a:bodyPr wrap="square"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DBMS_OUTPUT a confirmation</a:t>
            </a:r>
            <a:endParaRPr lang="en-US" sz="1100" dirty="0"/>
          </a:p>
        </p:txBody>
      </p:sp>
      <p:sp>
        <p:nvSpPr>
          <p:cNvPr id="17" name="Shape 15"/>
          <p:cNvSpPr/>
          <p:nvPr/>
        </p:nvSpPr>
        <p:spPr>
          <a:xfrm>
            <a:off x="2606040" y="5312664"/>
            <a:ext cx="0" cy="109728"/>
          </a:xfrm>
          <a:prstGeom prst="line">
            <a:avLst/>
          </a:prstGeom>
          <a:noFill/>
          <a:ln w="28575">
            <a:solidFill>
              <a:srgbClr val="3D8EC9"/>
            </a:solidFill>
            <a:prstDash val="solid"/>
            <a:tailEnd type="triangle"/>
          </a:ln>
        </p:spPr>
      </p:sp>
      <p:sp>
        <p:nvSpPr>
          <p:cNvPr id="18" name="Shape 16"/>
          <p:cNvSpPr/>
          <p:nvPr/>
        </p:nvSpPr>
        <p:spPr>
          <a:xfrm>
            <a:off x="502920" y="5431536"/>
            <a:ext cx="4206240" cy="566928"/>
          </a:xfrm>
          <a:prstGeom prst="roundRect">
            <a:avLst>
              <a:gd name="adj" fmla="val 9677"/>
            </a:avLst>
          </a:prstGeom>
          <a:solidFill>
            <a:srgbClr val="F7FAFC"/>
          </a:solidFill>
          <a:ln w="12700">
            <a:solidFill>
              <a:srgbClr val="DCE4EC"/>
            </a:solidFill>
            <a:prstDash val="solid"/>
          </a:ln>
        </p:spPr>
      </p:sp>
      <p:sp>
        <p:nvSpPr>
          <p:cNvPr id="19" name="Text 17"/>
          <p:cNvSpPr/>
          <p:nvPr/>
        </p:nvSpPr>
        <p:spPr>
          <a:xfrm>
            <a:off x="594360" y="5431536"/>
            <a:ext cx="4023360" cy="566928"/>
          </a:xfrm>
          <a:prstGeom prst="rect">
            <a:avLst/>
          </a:prstGeom>
          <a:noFill/>
          <a:ln/>
        </p:spPr>
        <p:txBody>
          <a:bodyPr wrap="square"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END the block</a:t>
            </a:r>
            <a:endParaRPr lang="en-US" sz="1100" dirty="0"/>
          </a:p>
        </p:txBody>
      </p:sp>
      <p:sp>
        <p:nvSpPr>
          <p:cNvPr id="20" name="Shape 18"/>
          <p:cNvSpPr/>
          <p:nvPr/>
        </p:nvSpPr>
        <p:spPr>
          <a:xfrm>
            <a:off x="5074920" y="1417320"/>
            <a:ext cx="6172200" cy="3246120"/>
          </a:xfrm>
          <a:prstGeom prst="roundRect">
            <a:avLst>
              <a:gd name="adj" fmla="val 1690"/>
            </a:avLst>
          </a:prstGeom>
          <a:solidFill>
            <a:srgbClr val="0C1B33"/>
          </a:solidFill>
          <a:ln/>
          <a:effectLst>
            <a:outerShdw sx="100000" sy="100000" kx="0" ky="0" algn="bl" rotWithShape="0" blurRad="127000" dist="38100" dir="5400000">
              <a:srgbClr val="000000">
                <a:alpha val="25000"/>
              </a:srgbClr>
            </a:outerShdw>
          </a:effectLst>
        </p:spPr>
      </p:sp>
      <p:sp>
        <p:nvSpPr>
          <p:cNvPr id="21" name="Shape 19"/>
          <p:cNvSpPr/>
          <p:nvPr/>
        </p:nvSpPr>
        <p:spPr>
          <a:xfrm>
            <a:off x="5239512" y="1563624"/>
            <a:ext cx="100584" cy="100584"/>
          </a:xfrm>
          <a:prstGeom prst="ellipse">
            <a:avLst/>
          </a:prstGeom>
          <a:solidFill>
            <a:srgbClr val="B54A45"/>
          </a:solidFill>
          <a:ln/>
        </p:spPr>
      </p:sp>
      <p:sp>
        <p:nvSpPr>
          <p:cNvPr id="22" name="Shape 20"/>
          <p:cNvSpPr/>
          <p:nvPr/>
        </p:nvSpPr>
        <p:spPr>
          <a:xfrm>
            <a:off x="5440680" y="1563624"/>
            <a:ext cx="100584" cy="100584"/>
          </a:xfrm>
          <a:prstGeom prst="ellipse">
            <a:avLst/>
          </a:prstGeom>
          <a:solidFill>
            <a:srgbClr val="C9962E"/>
          </a:solidFill>
          <a:ln/>
        </p:spPr>
      </p:sp>
      <p:sp>
        <p:nvSpPr>
          <p:cNvPr id="23" name="Shape 21"/>
          <p:cNvSpPr/>
          <p:nvPr/>
        </p:nvSpPr>
        <p:spPr>
          <a:xfrm>
            <a:off x="5641848" y="1563624"/>
            <a:ext cx="100584" cy="100584"/>
          </a:xfrm>
          <a:prstGeom prst="ellipse">
            <a:avLst/>
          </a:prstGeom>
          <a:solidFill>
            <a:srgbClr val="2F8F5B"/>
          </a:solidFill>
          <a:ln/>
        </p:spPr>
      </p:sp>
      <p:sp>
        <p:nvSpPr>
          <p:cNvPr id="24" name="Text 22"/>
          <p:cNvSpPr/>
          <p:nvPr/>
        </p:nvSpPr>
        <p:spPr>
          <a:xfrm>
            <a:off x="5989320" y="1508760"/>
            <a:ext cx="507492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add_product.sql</a:t>
            </a:r>
            <a:endParaRPr lang="en-US" sz="950" dirty="0"/>
          </a:p>
        </p:txBody>
      </p:sp>
      <p:sp>
        <p:nvSpPr>
          <p:cNvPr id="25" name="Text 23"/>
          <p:cNvSpPr/>
          <p:nvPr/>
        </p:nvSpPr>
        <p:spPr>
          <a:xfrm>
            <a:off x="5330952" y="1801368"/>
            <a:ext cx="5660136" cy="2697480"/>
          </a:xfrm>
          <a:prstGeom prst="rect">
            <a:avLst/>
          </a:prstGeom>
          <a:noFill/>
          <a:ln/>
        </p:spPr>
        <p:txBody>
          <a:bodyPr wrap="square" rtlCol="0" anchor="t"/>
          <a:lstStyle/>
          <a:p>
            <a:pPr indent="0" marL="0">
              <a:lnSpc>
                <a:spcPct val="118000"/>
              </a:lnSpc>
              <a:buNone/>
            </a:pPr>
            <a:r>
              <a:rPr lang="en-US" sz="1500" b="1" dirty="0">
                <a:solidFill>
                  <a:srgbClr val="6FC3E8"/>
                </a:solidFill>
                <a:latin typeface="Courier New" pitchFamily="34" charset="0"/>
                <a:ea typeface="Courier New" pitchFamily="34" charset="-122"/>
                <a:cs typeface="Courier New" pitchFamily="34" charset="-120"/>
              </a:rPr>
              <a:t>BEGIN</a:t>
            </a:r>
            <a:pPr indent="0" marL="0">
              <a:lnSpc>
                <a:spcPct val="118000"/>
              </a:lnSpc>
              <a:buNone/>
            </a:pP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500" b="1" dirty="0">
                <a:solidFill>
                  <a:srgbClr val="6FC3E8"/>
                </a:solidFill>
                <a:latin typeface="Courier New" pitchFamily="34" charset="0"/>
                <a:ea typeface="Courier New" pitchFamily="34" charset="-122"/>
                <a:cs typeface="Courier New" pitchFamily="34" charset="-120"/>
              </a:rPr>
              <a:t>INSERT</a:t>
            </a:r>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500" b="1" dirty="0">
                <a:solidFill>
                  <a:srgbClr val="6FC3E8"/>
                </a:solidFill>
                <a:latin typeface="Courier New" pitchFamily="34" charset="0"/>
                <a:ea typeface="Courier New" pitchFamily="34" charset="-122"/>
                <a:cs typeface="Courier New" pitchFamily="34" charset="-120"/>
              </a:rPr>
              <a:t>INTO</a:t>
            </a:r>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Products </a:t>
            </a:r>
            <a:pPr indent="0" marL="0">
              <a:lnSpc>
                <a:spcPct val="118000"/>
              </a:lnSpc>
              <a:buNone/>
            </a:pPr>
            <a:r>
              <a:rPr lang="en-US" sz="1500" b="1" dirty="0">
                <a:solidFill>
                  <a:srgbClr val="6FC3E8"/>
                </a:solidFill>
                <a:latin typeface="Courier New" pitchFamily="34" charset="0"/>
                <a:ea typeface="Courier New" pitchFamily="34" charset="-122"/>
                <a:cs typeface="Courier New" pitchFamily="34" charset="-120"/>
              </a:rPr>
              <a:t>VALUES</a:t>
            </a:r>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a:t>
            </a: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2010, 'Laser Printer', 1, 101, 450, 15</a:t>
            </a: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a:t>
            </a: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500" b="1" dirty="0">
                <a:solidFill>
                  <a:srgbClr val="6FC3E8"/>
                </a:solidFill>
                <a:latin typeface="Courier New" pitchFamily="34" charset="0"/>
                <a:ea typeface="Courier New" pitchFamily="34" charset="-122"/>
                <a:cs typeface="Courier New" pitchFamily="34" charset="-120"/>
              </a:rPr>
              <a:t>COMMIT</a:t>
            </a:r>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a:t>
            </a: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DBMS_OUTPUT.PUT_LINE(</a:t>
            </a: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'Product Added Successfully'</a:t>
            </a: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  );</a:t>
            </a:r>
            <a:endParaRPr lang="en-US" sz="1500" dirty="0"/>
          </a:p>
          <a:p>
            <a:pPr indent="0" marL="0">
              <a:lnSpc>
                <a:spcPct val="118000"/>
              </a:lnSpc>
              <a:buNone/>
            </a:pPr>
            <a:r>
              <a:rPr lang="en-US" sz="1500" b="1" dirty="0">
                <a:solidFill>
                  <a:srgbClr val="6FC3E8"/>
                </a:solidFill>
                <a:latin typeface="Courier New" pitchFamily="34" charset="0"/>
                <a:ea typeface="Courier New" pitchFamily="34" charset="-122"/>
                <a:cs typeface="Courier New" pitchFamily="34" charset="-120"/>
              </a:rPr>
              <a:t>END</a:t>
            </a:r>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a:t>
            </a:r>
            <a:endParaRPr lang="en-US" sz="1500" dirty="0"/>
          </a:p>
          <a:p>
            <a:pPr indent="0" marL="0">
              <a:lnSpc>
                <a:spcPct val="118000"/>
              </a:lnSpc>
              <a:buNone/>
            </a:pPr>
            <a:r>
              <a:rPr lang="en-US" sz="1500" dirty="0">
                <a:solidFill>
                  <a:srgbClr val="E7EEF5"/>
                </a:solidFill>
                <a:latin typeface="Courier New" pitchFamily="34" charset="0"/>
                <a:ea typeface="Courier New" pitchFamily="34" charset="-122"/>
                <a:cs typeface="Courier New" pitchFamily="34" charset="-120"/>
              </a:rPr>
              <a:t>/</a:t>
            </a:r>
            <a:endParaRPr lang="en-US" sz="1500" dirty="0"/>
          </a:p>
        </p:txBody>
      </p:sp>
      <p:sp>
        <p:nvSpPr>
          <p:cNvPr id="26" name="Shape 24"/>
          <p:cNvSpPr/>
          <p:nvPr/>
        </p:nvSpPr>
        <p:spPr>
          <a:xfrm>
            <a:off x="5074920" y="4846320"/>
            <a:ext cx="6172200" cy="868680"/>
          </a:xfrm>
          <a:prstGeom prst="roundRect">
            <a:avLst>
              <a:gd name="adj" fmla="val 6316"/>
            </a:avLst>
          </a:prstGeom>
          <a:solidFill>
            <a:srgbClr val="EEF3F8"/>
          </a:solidFill>
          <a:ln w="12700">
            <a:solidFill>
              <a:srgbClr val="DCE4EC"/>
            </a:solidFill>
            <a:prstDash val="solid"/>
          </a:ln>
        </p:spPr>
      </p:sp>
      <p:sp>
        <p:nvSpPr>
          <p:cNvPr id="27" name="Text 25"/>
          <p:cNvSpPr/>
          <p:nvPr/>
        </p:nvSpPr>
        <p:spPr>
          <a:xfrm>
            <a:off x="5257800" y="4956048"/>
            <a:ext cx="2743200" cy="219456"/>
          </a:xfrm>
          <a:prstGeom prst="rect">
            <a:avLst/>
          </a:prstGeom>
          <a:noFill/>
          <a:ln/>
        </p:spPr>
        <p:txBody>
          <a:bodyPr wrap="square" rtlCol="0" anchor="ctr"/>
          <a:lstStyle/>
          <a:p>
            <a:pPr indent="0" marL="0">
              <a:buNone/>
            </a:pPr>
            <a:r>
              <a:rPr lang="en-US" sz="950" b="1" spc="100" kern="0" dirty="0">
                <a:solidFill>
                  <a:srgbClr val="3D8EC9"/>
                </a:solidFill>
                <a:latin typeface="Calibri" pitchFamily="34" charset="0"/>
                <a:ea typeface="Calibri" pitchFamily="34" charset="-122"/>
                <a:cs typeface="Calibri" pitchFamily="34" charset="-120"/>
              </a:rPr>
              <a:t>SAMPLE OUTPUT</a:t>
            </a:r>
            <a:endParaRPr lang="en-US" sz="950" dirty="0"/>
          </a:p>
        </p:txBody>
      </p:sp>
      <p:sp>
        <p:nvSpPr>
          <p:cNvPr id="28" name="Text 26"/>
          <p:cNvSpPr/>
          <p:nvPr/>
        </p:nvSpPr>
        <p:spPr>
          <a:xfrm>
            <a:off x="5257800" y="5175504"/>
            <a:ext cx="5806440" cy="457200"/>
          </a:xfrm>
          <a:prstGeom prst="rect">
            <a:avLst/>
          </a:prstGeom>
          <a:noFill/>
          <a:ln/>
        </p:spPr>
        <p:txBody>
          <a:bodyPr wrap="square" rtlCol="0" anchor="ctr"/>
          <a:lstStyle/>
          <a:p>
            <a:pPr indent="0" marL="0">
              <a:buNone/>
            </a:pPr>
            <a:r>
              <a:rPr lang="en-US" sz="1400" b="1" dirty="0">
                <a:solidFill>
                  <a:srgbClr val="13294B"/>
                </a:solidFill>
                <a:latin typeface="Courier New" pitchFamily="34" charset="0"/>
                <a:ea typeface="Courier New" pitchFamily="34" charset="-122"/>
                <a:cs typeface="Courier New" pitchFamily="34" charset="-120"/>
              </a:rPr>
              <a:t>Product Added Successfully</a:t>
            </a:r>
            <a:endParaRPr lang="en-US" sz="1400" dirty="0"/>
          </a:p>
        </p:txBody>
      </p:sp>
      <p:sp>
        <p:nvSpPr>
          <p:cNvPr id="29" name="Shape 27"/>
          <p:cNvSpPr/>
          <p:nvPr/>
        </p:nvSpPr>
        <p:spPr>
          <a:xfrm>
            <a:off x="11451031" y="6437376"/>
            <a:ext cx="237744" cy="237744"/>
          </a:xfrm>
          <a:prstGeom prst="ellipse">
            <a:avLst/>
          </a:prstGeom>
          <a:solidFill>
            <a:srgbClr val="EEF3F8"/>
          </a:solidFill>
          <a:ln/>
        </p:spPr>
      </p:sp>
      <p:pic>
        <p:nvPicPr>
          <p:cNvPr id="30" name="Image 0" descr="/home/claude/wms_deck/assets/icons/database_navy.png">    </p:cNvPr>
          <p:cNvPicPr>
            <a:picLocks noChangeAspect="1"/>
          </p:cNvPicPr>
          <p:nvPr/>
        </p:nvPicPr>
        <p:blipFill>
          <a:blip r:embed="rId1"/>
          <a:stretch>
            <a:fillRect/>
          </a:stretch>
        </p:blipFill>
        <p:spPr>
          <a:xfrm>
            <a:off x="11515222" y="6501567"/>
            <a:ext cx="109362" cy="109362"/>
          </a:xfrm>
          <a:prstGeom prst="rect">
            <a:avLst/>
          </a:prstGeom>
        </p:spPr>
      </p:pic>
      <p:sp>
        <p:nvSpPr>
          <p:cNvPr id="31" name="Text 28"/>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32" name="Text 29"/>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PL/SQL · STORED PROCEDURE</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Sell_Product() Procedure</a:t>
            </a:r>
            <a:endParaRPr lang="en-US" sz="3000" dirty="0"/>
          </a:p>
        </p:txBody>
      </p:sp>
      <p:sp>
        <p:nvSpPr>
          <p:cNvPr id="4" name="Shape 2"/>
          <p:cNvSpPr/>
          <p:nvPr/>
        </p:nvSpPr>
        <p:spPr>
          <a:xfrm>
            <a:off x="502920" y="1417320"/>
            <a:ext cx="1600200" cy="329184"/>
          </a:xfrm>
          <a:prstGeom prst="roundRect">
            <a:avLst>
              <a:gd name="adj" fmla="val 50000"/>
            </a:avLst>
          </a:prstGeom>
          <a:solidFill>
            <a:srgbClr val="1F4E79"/>
          </a:solidFill>
          <a:ln/>
        </p:spPr>
      </p:sp>
      <p:sp>
        <p:nvSpPr>
          <p:cNvPr id="5" name="Text 3"/>
          <p:cNvSpPr/>
          <p:nvPr/>
        </p:nvSpPr>
        <p:spPr>
          <a:xfrm>
            <a:off x="502920" y="1417320"/>
            <a:ext cx="160020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p_Product_ID</a:t>
            </a:r>
            <a:endParaRPr lang="en-US" sz="950" dirty="0"/>
          </a:p>
        </p:txBody>
      </p:sp>
      <p:sp>
        <p:nvSpPr>
          <p:cNvPr id="6" name="Shape 4"/>
          <p:cNvSpPr/>
          <p:nvPr/>
        </p:nvSpPr>
        <p:spPr>
          <a:xfrm>
            <a:off x="2240280" y="1417320"/>
            <a:ext cx="1600200" cy="329184"/>
          </a:xfrm>
          <a:prstGeom prst="roundRect">
            <a:avLst>
              <a:gd name="adj" fmla="val 50000"/>
            </a:avLst>
          </a:prstGeom>
          <a:solidFill>
            <a:srgbClr val="1F4E79"/>
          </a:solidFill>
          <a:ln/>
        </p:spPr>
      </p:sp>
      <p:sp>
        <p:nvSpPr>
          <p:cNvPr id="7" name="Text 5"/>
          <p:cNvSpPr/>
          <p:nvPr/>
        </p:nvSpPr>
        <p:spPr>
          <a:xfrm>
            <a:off x="2240280" y="1417320"/>
            <a:ext cx="1600200" cy="329184"/>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p_Quantity</a:t>
            </a:r>
            <a:endParaRPr lang="en-US" sz="950" dirty="0"/>
          </a:p>
        </p:txBody>
      </p:sp>
      <p:sp>
        <p:nvSpPr>
          <p:cNvPr id="8" name="Shape 6"/>
          <p:cNvSpPr/>
          <p:nvPr/>
        </p:nvSpPr>
        <p:spPr>
          <a:xfrm>
            <a:off x="502920" y="1965960"/>
            <a:ext cx="4206240" cy="1234440"/>
          </a:xfrm>
          <a:prstGeom prst="roundRect">
            <a:avLst>
              <a:gd name="adj" fmla="val 5185"/>
            </a:avLst>
          </a:prstGeom>
          <a:solidFill>
            <a:srgbClr val="F7FAFC"/>
          </a:solidFill>
          <a:ln/>
          <a:effectLst>
            <a:outerShdw sx="100000" sy="100000" kx="0" ky="0" algn="bl" rotWithShape="0" blurRad="101600" dist="25400" dir="5400000">
              <a:srgbClr val="13294B">
                <a:alpha val="12000"/>
              </a:srgbClr>
            </a:outerShdw>
          </a:effectLst>
        </p:spPr>
      </p:sp>
      <p:sp>
        <p:nvSpPr>
          <p:cNvPr id="9" name="Shape 7"/>
          <p:cNvSpPr/>
          <p:nvPr/>
        </p:nvSpPr>
        <p:spPr>
          <a:xfrm>
            <a:off x="704088" y="2148840"/>
            <a:ext cx="345643" cy="345643"/>
          </a:xfrm>
          <a:prstGeom prst="ellipse">
            <a:avLst/>
          </a:prstGeom>
          <a:solidFill>
            <a:srgbClr val="3D8EC9"/>
          </a:solidFill>
          <a:ln/>
        </p:spPr>
      </p:sp>
      <p:pic>
        <p:nvPicPr>
          <p:cNvPr id="10" name="Image 0" descr="/home/claude/wms_deck/assets/icons/sync_white.png">    </p:cNvPr>
          <p:cNvPicPr>
            <a:picLocks noChangeAspect="1"/>
          </p:cNvPicPr>
          <p:nvPr/>
        </p:nvPicPr>
        <p:blipFill>
          <a:blip r:embed="rId1"/>
          <a:stretch>
            <a:fillRect/>
          </a:stretch>
        </p:blipFill>
        <p:spPr>
          <a:xfrm>
            <a:off x="797412" y="2242164"/>
            <a:ext cx="158996" cy="158996"/>
          </a:xfrm>
          <a:prstGeom prst="rect">
            <a:avLst/>
          </a:prstGeom>
        </p:spPr>
      </p:pic>
      <p:sp>
        <p:nvSpPr>
          <p:cNvPr id="11" name="Text 8"/>
          <p:cNvSpPr/>
          <p:nvPr/>
        </p:nvSpPr>
        <p:spPr>
          <a:xfrm>
            <a:off x="1196035" y="2112264"/>
            <a:ext cx="3330245" cy="418795"/>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Update Inventory</a:t>
            </a:r>
            <a:endParaRPr lang="en-US" sz="1200" dirty="0"/>
          </a:p>
        </p:txBody>
      </p:sp>
      <p:sp>
        <p:nvSpPr>
          <p:cNvPr id="12" name="Text 9"/>
          <p:cNvSpPr/>
          <p:nvPr/>
        </p:nvSpPr>
        <p:spPr>
          <a:xfrm>
            <a:off x="704088" y="2604211"/>
            <a:ext cx="3803904" cy="449885"/>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Reduces Quantity_In_Stock by the sold amount for the matching Product_ID.</a:t>
            </a:r>
            <a:endParaRPr lang="en-US" sz="1000" dirty="0"/>
          </a:p>
        </p:txBody>
      </p:sp>
      <p:sp>
        <p:nvSpPr>
          <p:cNvPr id="13" name="Shape 10"/>
          <p:cNvSpPr/>
          <p:nvPr/>
        </p:nvSpPr>
        <p:spPr>
          <a:xfrm>
            <a:off x="886968" y="3209544"/>
            <a:ext cx="0" cy="146304"/>
          </a:xfrm>
          <a:prstGeom prst="line">
            <a:avLst/>
          </a:prstGeom>
          <a:noFill/>
          <a:ln w="28575">
            <a:solidFill>
              <a:srgbClr val="3D8EC9"/>
            </a:solidFill>
            <a:prstDash val="solid"/>
            <a:tailEnd type="triangle"/>
          </a:ln>
        </p:spPr>
      </p:sp>
      <p:sp>
        <p:nvSpPr>
          <p:cNvPr id="14" name="Shape 11"/>
          <p:cNvSpPr/>
          <p:nvPr/>
        </p:nvSpPr>
        <p:spPr>
          <a:xfrm>
            <a:off x="502920" y="3364992"/>
            <a:ext cx="4206240" cy="1234440"/>
          </a:xfrm>
          <a:prstGeom prst="roundRect">
            <a:avLst>
              <a:gd name="adj" fmla="val 5185"/>
            </a:avLst>
          </a:prstGeom>
          <a:solidFill>
            <a:srgbClr val="F7FAFC"/>
          </a:solidFill>
          <a:ln/>
          <a:effectLst>
            <a:outerShdw sx="100000" sy="100000" kx="0" ky="0" algn="bl" rotWithShape="0" blurRad="101600" dist="25400" dir="5400000">
              <a:srgbClr val="13294B">
                <a:alpha val="12000"/>
              </a:srgbClr>
            </a:outerShdw>
          </a:effectLst>
        </p:spPr>
      </p:sp>
      <p:sp>
        <p:nvSpPr>
          <p:cNvPr id="15" name="Shape 12"/>
          <p:cNvSpPr/>
          <p:nvPr/>
        </p:nvSpPr>
        <p:spPr>
          <a:xfrm>
            <a:off x="704088" y="3547872"/>
            <a:ext cx="345643" cy="345643"/>
          </a:xfrm>
          <a:prstGeom prst="ellipse">
            <a:avLst/>
          </a:prstGeom>
          <a:solidFill>
            <a:srgbClr val="3D8EC9"/>
          </a:solidFill>
          <a:ln/>
        </p:spPr>
      </p:sp>
      <p:pic>
        <p:nvPicPr>
          <p:cNvPr id="16" name="Image 1" descr="/home/claude/wms_deck/assets/icons/checkCircle_white.png">    </p:cNvPr>
          <p:cNvPicPr>
            <a:picLocks noChangeAspect="1"/>
          </p:cNvPicPr>
          <p:nvPr/>
        </p:nvPicPr>
        <p:blipFill>
          <a:blip r:embed="rId2"/>
          <a:stretch>
            <a:fillRect/>
          </a:stretch>
        </p:blipFill>
        <p:spPr>
          <a:xfrm>
            <a:off x="797412" y="3641196"/>
            <a:ext cx="158996" cy="158996"/>
          </a:xfrm>
          <a:prstGeom prst="rect">
            <a:avLst/>
          </a:prstGeom>
        </p:spPr>
      </p:pic>
      <p:sp>
        <p:nvSpPr>
          <p:cNvPr id="17" name="Text 13"/>
          <p:cNvSpPr/>
          <p:nvPr/>
        </p:nvSpPr>
        <p:spPr>
          <a:xfrm>
            <a:off x="1196035" y="3511296"/>
            <a:ext cx="3330245" cy="418795"/>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Commit the Change</a:t>
            </a:r>
            <a:endParaRPr lang="en-US" sz="1200" dirty="0"/>
          </a:p>
        </p:txBody>
      </p:sp>
      <p:sp>
        <p:nvSpPr>
          <p:cNvPr id="18" name="Text 14"/>
          <p:cNvSpPr/>
          <p:nvPr/>
        </p:nvSpPr>
        <p:spPr>
          <a:xfrm>
            <a:off x="704088" y="4003243"/>
            <a:ext cx="3803904" cy="449885"/>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COMMIT makes the stock reduction permanent in the database.</a:t>
            </a:r>
            <a:endParaRPr lang="en-US" sz="1000" dirty="0"/>
          </a:p>
        </p:txBody>
      </p:sp>
      <p:sp>
        <p:nvSpPr>
          <p:cNvPr id="19" name="Shape 15"/>
          <p:cNvSpPr/>
          <p:nvPr/>
        </p:nvSpPr>
        <p:spPr>
          <a:xfrm>
            <a:off x="886968" y="4608576"/>
            <a:ext cx="0" cy="146304"/>
          </a:xfrm>
          <a:prstGeom prst="line">
            <a:avLst/>
          </a:prstGeom>
          <a:noFill/>
          <a:ln w="28575">
            <a:solidFill>
              <a:srgbClr val="3D8EC9"/>
            </a:solidFill>
            <a:prstDash val="solid"/>
            <a:tailEnd type="triangle"/>
          </a:ln>
        </p:spPr>
      </p:sp>
      <p:sp>
        <p:nvSpPr>
          <p:cNvPr id="20" name="Shape 16"/>
          <p:cNvSpPr/>
          <p:nvPr/>
        </p:nvSpPr>
        <p:spPr>
          <a:xfrm>
            <a:off x="502920" y="4764024"/>
            <a:ext cx="4206240" cy="1234440"/>
          </a:xfrm>
          <a:prstGeom prst="roundRect">
            <a:avLst>
              <a:gd name="adj" fmla="val 5185"/>
            </a:avLst>
          </a:prstGeom>
          <a:solidFill>
            <a:srgbClr val="F7FAFC"/>
          </a:solidFill>
          <a:ln/>
          <a:effectLst>
            <a:outerShdw sx="100000" sy="100000" kx="0" ky="0" algn="bl" rotWithShape="0" blurRad="101600" dist="25400" dir="5400000">
              <a:srgbClr val="13294B">
                <a:alpha val="12000"/>
              </a:srgbClr>
            </a:outerShdw>
          </a:effectLst>
        </p:spPr>
      </p:sp>
      <p:sp>
        <p:nvSpPr>
          <p:cNvPr id="21" name="Shape 17"/>
          <p:cNvSpPr/>
          <p:nvPr/>
        </p:nvSpPr>
        <p:spPr>
          <a:xfrm>
            <a:off x="704088" y="4946904"/>
            <a:ext cx="345643" cy="345643"/>
          </a:xfrm>
          <a:prstGeom prst="ellipse">
            <a:avLst/>
          </a:prstGeom>
          <a:solidFill>
            <a:srgbClr val="3D8EC9"/>
          </a:solidFill>
          <a:ln/>
        </p:spPr>
      </p:sp>
      <p:pic>
        <p:nvPicPr>
          <p:cNvPr id="22" name="Image 2" descr="/home/claude/wms_deck/assets/icons/terminal_white.png">    </p:cNvPr>
          <p:cNvPicPr>
            <a:picLocks noChangeAspect="1"/>
          </p:cNvPicPr>
          <p:nvPr/>
        </p:nvPicPr>
        <p:blipFill>
          <a:blip r:embed="rId3"/>
          <a:stretch>
            <a:fillRect/>
          </a:stretch>
        </p:blipFill>
        <p:spPr>
          <a:xfrm>
            <a:off x="797412" y="5040228"/>
            <a:ext cx="158996" cy="158996"/>
          </a:xfrm>
          <a:prstGeom prst="rect">
            <a:avLst/>
          </a:prstGeom>
        </p:spPr>
      </p:pic>
      <p:sp>
        <p:nvSpPr>
          <p:cNvPr id="23" name="Text 18"/>
          <p:cNvSpPr/>
          <p:nvPr/>
        </p:nvSpPr>
        <p:spPr>
          <a:xfrm>
            <a:off x="1196035" y="4910328"/>
            <a:ext cx="3330245" cy="418795"/>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Call It Anywhere</a:t>
            </a:r>
            <a:endParaRPr lang="en-US" sz="1200" dirty="0"/>
          </a:p>
        </p:txBody>
      </p:sp>
      <p:sp>
        <p:nvSpPr>
          <p:cNvPr id="24" name="Text 19"/>
          <p:cNvSpPr/>
          <p:nvPr/>
        </p:nvSpPr>
        <p:spPr>
          <a:xfrm>
            <a:off x="704088" y="5402275"/>
            <a:ext cx="3803904" cy="449885"/>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Once compiled, any block, trigger, or application can call Sell_Product(id, qty).</a:t>
            </a:r>
            <a:endParaRPr lang="en-US" sz="1000" dirty="0"/>
          </a:p>
        </p:txBody>
      </p:sp>
      <p:sp>
        <p:nvSpPr>
          <p:cNvPr id="25" name="Shape 20"/>
          <p:cNvSpPr/>
          <p:nvPr/>
        </p:nvSpPr>
        <p:spPr>
          <a:xfrm>
            <a:off x="5074920" y="1417320"/>
            <a:ext cx="6172200" cy="2743200"/>
          </a:xfrm>
          <a:prstGeom prst="roundRect">
            <a:avLst>
              <a:gd name="adj" fmla="val 2000"/>
            </a:avLst>
          </a:prstGeom>
          <a:solidFill>
            <a:srgbClr val="0C1B33"/>
          </a:solidFill>
          <a:ln/>
          <a:effectLst>
            <a:outerShdw sx="100000" sy="100000" kx="0" ky="0" algn="bl" rotWithShape="0" blurRad="127000" dist="38100" dir="5400000">
              <a:srgbClr val="000000">
                <a:alpha val="25000"/>
              </a:srgbClr>
            </a:outerShdw>
          </a:effectLst>
        </p:spPr>
      </p:sp>
      <p:sp>
        <p:nvSpPr>
          <p:cNvPr id="26" name="Shape 21"/>
          <p:cNvSpPr/>
          <p:nvPr/>
        </p:nvSpPr>
        <p:spPr>
          <a:xfrm>
            <a:off x="5239512" y="1563624"/>
            <a:ext cx="100584" cy="100584"/>
          </a:xfrm>
          <a:prstGeom prst="ellipse">
            <a:avLst/>
          </a:prstGeom>
          <a:solidFill>
            <a:srgbClr val="B54A45"/>
          </a:solidFill>
          <a:ln/>
        </p:spPr>
      </p:sp>
      <p:sp>
        <p:nvSpPr>
          <p:cNvPr id="27" name="Shape 22"/>
          <p:cNvSpPr/>
          <p:nvPr/>
        </p:nvSpPr>
        <p:spPr>
          <a:xfrm>
            <a:off x="5440680" y="1563624"/>
            <a:ext cx="100584" cy="100584"/>
          </a:xfrm>
          <a:prstGeom prst="ellipse">
            <a:avLst/>
          </a:prstGeom>
          <a:solidFill>
            <a:srgbClr val="C9962E"/>
          </a:solidFill>
          <a:ln/>
        </p:spPr>
      </p:sp>
      <p:sp>
        <p:nvSpPr>
          <p:cNvPr id="28" name="Shape 23"/>
          <p:cNvSpPr/>
          <p:nvPr/>
        </p:nvSpPr>
        <p:spPr>
          <a:xfrm>
            <a:off x="5641848" y="1563624"/>
            <a:ext cx="100584" cy="100584"/>
          </a:xfrm>
          <a:prstGeom prst="ellipse">
            <a:avLst/>
          </a:prstGeom>
          <a:solidFill>
            <a:srgbClr val="2F8F5B"/>
          </a:solidFill>
          <a:ln/>
        </p:spPr>
      </p:sp>
      <p:sp>
        <p:nvSpPr>
          <p:cNvPr id="29" name="Text 24"/>
          <p:cNvSpPr/>
          <p:nvPr/>
        </p:nvSpPr>
        <p:spPr>
          <a:xfrm>
            <a:off x="5989320" y="1508760"/>
            <a:ext cx="507492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sell_product.sql</a:t>
            </a:r>
            <a:endParaRPr lang="en-US" sz="950" dirty="0"/>
          </a:p>
        </p:txBody>
      </p:sp>
      <p:sp>
        <p:nvSpPr>
          <p:cNvPr id="30" name="Text 25"/>
          <p:cNvSpPr/>
          <p:nvPr/>
        </p:nvSpPr>
        <p:spPr>
          <a:xfrm>
            <a:off x="5330952" y="1801368"/>
            <a:ext cx="5660136" cy="2194560"/>
          </a:xfrm>
          <a:prstGeom prst="rect">
            <a:avLst/>
          </a:prstGeom>
          <a:noFill/>
          <a:ln/>
        </p:spPr>
        <p:txBody>
          <a:bodyPr wrap="square" rtlCol="0" anchor="t"/>
          <a:lstStyle/>
          <a:p>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CREATE</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OR</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REPLACE</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PROCEDURE</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Sell_Product (</a:t>
            </a: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p_Product_ID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p_Quantity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IS</a:t>
            </a:r>
            <a:pPr indent="0" marL="0">
              <a:lnSpc>
                <a:spcPct val="118000"/>
              </a:lnSpc>
              <a:buNone/>
            </a:pPr>
            <a:endParaRPr lang="en-US" sz="1200" dirty="0"/>
          </a:p>
          <a:p>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BEGIN</a:t>
            </a:r>
            <a:pPr indent="0" marL="0">
              <a:lnSpc>
                <a:spcPct val="118000"/>
              </a:lnSpc>
              <a:buNone/>
            </a:pP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UPDATE</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Products</a:t>
            </a: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SET</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Quantity_In_Stock = Quantity_In_Stock - p_Quantity</a:t>
            </a: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WHERE</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Product_ID = p_Product_ID;</a:t>
            </a: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COMMIT</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END</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a:t>
            </a:r>
            <a:endParaRPr lang="en-US" sz="1200" dirty="0"/>
          </a:p>
          <a:p>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a:t>
            </a:r>
            <a:endParaRPr lang="en-US" sz="1200" dirty="0"/>
          </a:p>
        </p:txBody>
      </p:sp>
      <p:sp>
        <p:nvSpPr>
          <p:cNvPr id="31" name="Text 26"/>
          <p:cNvSpPr/>
          <p:nvPr/>
        </p:nvSpPr>
        <p:spPr>
          <a:xfrm>
            <a:off x="5074920" y="4343400"/>
            <a:ext cx="6172200" cy="237744"/>
          </a:xfrm>
          <a:prstGeom prst="rect">
            <a:avLst/>
          </a:prstGeom>
          <a:noFill/>
          <a:ln/>
        </p:spPr>
        <p:txBody>
          <a:bodyPr wrap="square" rtlCol="0" anchor="ctr"/>
          <a:lstStyle/>
          <a:p>
            <a:pPr indent="0" marL="0">
              <a:buNone/>
            </a:pPr>
            <a:r>
              <a:rPr lang="en-US" sz="1050" b="1" spc="100" kern="0" dirty="0">
                <a:solidFill>
                  <a:srgbClr val="3D8EC9"/>
                </a:solidFill>
                <a:latin typeface="Calibri" pitchFamily="34" charset="0"/>
                <a:ea typeface="Calibri" pitchFamily="34" charset="-122"/>
                <a:cs typeface="Calibri" pitchFamily="34" charset="-120"/>
              </a:rPr>
              <a:t>EXECUTE PROCEDURE</a:t>
            </a:r>
            <a:endParaRPr lang="en-US" sz="1050" dirty="0"/>
          </a:p>
        </p:txBody>
      </p:sp>
      <p:sp>
        <p:nvSpPr>
          <p:cNvPr id="32" name="Shape 27"/>
          <p:cNvSpPr/>
          <p:nvPr/>
        </p:nvSpPr>
        <p:spPr>
          <a:xfrm>
            <a:off x="5074920" y="4617720"/>
            <a:ext cx="6172200" cy="1371600"/>
          </a:xfrm>
          <a:prstGeom prst="roundRect">
            <a:avLst>
              <a:gd name="adj" fmla="val 4000"/>
            </a:avLst>
          </a:prstGeom>
          <a:solidFill>
            <a:srgbClr val="0C1B33"/>
          </a:solidFill>
          <a:ln/>
          <a:effectLst>
            <a:outerShdw sx="100000" sy="100000" kx="0" ky="0" algn="bl" rotWithShape="0" blurRad="127000" dist="38100" dir="5400000">
              <a:srgbClr val="000000">
                <a:alpha val="25000"/>
              </a:srgbClr>
            </a:outerShdw>
          </a:effectLst>
        </p:spPr>
      </p:sp>
      <p:sp>
        <p:nvSpPr>
          <p:cNvPr id="33" name="Shape 28"/>
          <p:cNvSpPr/>
          <p:nvPr/>
        </p:nvSpPr>
        <p:spPr>
          <a:xfrm>
            <a:off x="5239512" y="4764024"/>
            <a:ext cx="100584" cy="100584"/>
          </a:xfrm>
          <a:prstGeom prst="ellipse">
            <a:avLst/>
          </a:prstGeom>
          <a:solidFill>
            <a:srgbClr val="B54A45"/>
          </a:solidFill>
          <a:ln/>
        </p:spPr>
      </p:sp>
      <p:sp>
        <p:nvSpPr>
          <p:cNvPr id="34" name="Shape 29"/>
          <p:cNvSpPr/>
          <p:nvPr/>
        </p:nvSpPr>
        <p:spPr>
          <a:xfrm>
            <a:off x="5440680" y="4764024"/>
            <a:ext cx="100584" cy="100584"/>
          </a:xfrm>
          <a:prstGeom prst="ellipse">
            <a:avLst/>
          </a:prstGeom>
          <a:solidFill>
            <a:srgbClr val="C9962E"/>
          </a:solidFill>
          <a:ln/>
        </p:spPr>
      </p:sp>
      <p:sp>
        <p:nvSpPr>
          <p:cNvPr id="35" name="Shape 30"/>
          <p:cNvSpPr/>
          <p:nvPr/>
        </p:nvSpPr>
        <p:spPr>
          <a:xfrm>
            <a:off x="5641848" y="4764024"/>
            <a:ext cx="100584" cy="100584"/>
          </a:xfrm>
          <a:prstGeom prst="ellipse">
            <a:avLst/>
          </a:prstGeom>
          <a:solidFill>
            <a:srgbClr val="2F8F5B"/>
          </a:solidFill>
          <a:ln/>
        </p:spPr>
      </p:sp>
      <p:sp>
        <p:nvSpPr>
          <p:cNvPr id="36" name="Text 31"/>
          <p:cNvSpPr/>
          <p:nvPr/>
        </p:nvSpPr>
        <p:spPr>
          <a:xfrm>
            <a:off x="5989320" y="4709160"/>
            <a:ext cx="507492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execute_sell_product.sql</a:t>
            </a:r>
            <a:endParaRPr lang="en-US" sz="950" dirty="0"/>
          </a:p>
        </p:txBody>
      </p:sp>
      <p:sp>
        <p:nvSpPr>
          <p:cNvPr id="37" name="Text 32"/>
          <p:cNvSpPr/>
          <p:nvPr/>
        </p:nvSpPr>
        <p:spPr>
          <a:xfrm>
            <a:off x="5330952" y="5001768"/>
            <a:ext cx="5660136" cy="822960"/>
          </a:xfrm>
          <a:prstGeom prst="rect">
            <a:avLst/>
          </a:prstGeom>
          <a:noFill/>
          <a:ln/>
        </p:spPr>
        <p:txBody>
          <a:bodyPr wrap="square" rtlCol="0" anchor="t"/>
          <a:lstStyle/>
          <a:p>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BEGIN</a:t>
            </a:r>
            <a:pPr indent="0" marL="0">
              <a:lnSpc>
                <a:spcPct val="118000"/>
              </a:lnSpc>
              <a:buNone/>
            </a:pPr>
            <a:endParaRPr lang="en-US" sz="1250" dirty="0"/>
          </a:p>
          <a:p>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Sell_Product(2001, 3);</a:t>
            </a:r>
            <a:endParaRPr lang="en-US" sz="1250" dirty="0"/>
          </a:p>
          <a:p>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END</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a:t>
            </a:r>
            <a:endParaRPr lang="en-US" sz="1250" dirty="0"/>
          </a:p>
          <a:p>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a:t>
            </a:r>
            <a:endParaRPr lang="en-US" sz="1250" dirty="0"/>
          </a:p>
        </p:txBody>
      </p:sp>
      <p:sp>
        <p:nvSpPr>
          <p:cNvPr id="38" name="Text 33"/>
          <p:cNvSpPr/>
          <p:nvPr/>
        </p:nvSpPr>
        <p:spPr>
          <a:xfrm>
            <a:off x="5074920" y="6080760"/>
            <a:ext cx="6172200" cy="274320"/>
          </a:xfrm>
          <a:prstGeom prst="rect">
            <a:avLst/>
          </a:prstGeom>
          <a:noFill/>
          <a:ln/>
        </p:spPr>
        <p:txBody>
          <a:bodyPr wrap="square" rtlCol="0" anchor="ctr"/>
          <a:lstStyle/>
          <a:p>
            <a:pPr indent="0" marL="0">
              <a:buNone/>
            </a:pPr>
            <a:r>
              <a:rPr lang="en-US" sz="1050" i="1" dirty="0">
                <a:solidFill>
                  <a:srgbClr val="5B6B7C"/>
                </a:solidFill>
                <a:latin typeface="Calibri" pitchFamily="34" charset="0"/>
                <a:ea typeface="Calibri" pitchFamily="34" charset="-122"/>
                <a:cs typeface="Calibri" pitchFamily="34" charset="-120"/>
              </a:rPr>
              <a:t>Result: Product 2001’s Quantity_In_Stock drops from 20 to 17.</a:t>
            </a:r>
            <a:endParaRPr lang="en-US" sz="1050" dirty="0"/>
          </a:p>
        </p:txBody>
      </p:sp>
      <p:sp>
        <p:nvSpPr>
          <p:cNvPr id="39" name="Shape 34"/>
          <p:cNvSpPr/>
          <p:nvPr/>
        </p:nvSpPr>
        <p:spPr>
          <a:xfrm>
            <a:off x="11451031" y="6437376"/>
            <a:ext cx="237744" cy="237744"/>
          </a:xfrm>
          <a:prstGeom prst="ellipse">
            <a:avLst/>
          </a:prstGeom>
          <a:solidFill>
            <a:srgbClr val="EEF3F8"/>
          </a:solidFill>
          <a:ln/>
        </p:spPr>
      </p:sp>
      <p:pic>
        <p:nvPicPr>
          <p:cNvPr id="40" name="Image 3" descr="/home/claude/wms_deck/assets/icons/database_navy.png">    </p:cNvPr>
          <p:cNvPicPr>
            <a:picLocks noChangeAspect="1"/>
          </p:cNvPicPr>
          <p:nvPr/>
        </p:nvPicPr>
        <p:blipFill>
          <a:blip r:embed="rId4"/>
          <a:stretch>
            <a:fillRect/>
          </a:stretch>
        </p:blipFill>
        <p:spPr>
          <a:xfrm>
            <a:off x="11515222" y="6501567"/>
            <a:ext cx="109362" cy="109362"/>
          </a:xfrm>
          <a:prstGeom prst="rect">
            <a:avLst/>
          </a:prstGeom>
        </p:spPr>
      </p:pic>
      <p:sp>
        <p:nvSpPr>
          <p:cNvPr id="41" name="Text 35"/>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42" name="Text 36"/>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PL/SQL · FUNCTION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Get_Product_Stock() Function</a:t>
            </a:r>
            <a:endParaRPr lang="en-US" sz="3000" dirty="0"/>
          </a:p>
        </p:txBody>
      </p:sp>
      <p:sp>
        <p:nvSpPr>
          <p:cNvPr id="4" name="Text 2"/>
          <p:cNvSpPr/>
          <p:nvPr/>
        </p:nvSpPr>
        <p:spPr>
          <a:xfrm>
            <a:off x="502920" y="1463040"/>
            <a:ext cx="4206240" cy="219456"/>
          </a:xfrm>
          <a:prstGeom prst="rect">
            <a:avLst/>
          </a:prstGeom>
          <a:noFill/>
          <a:ln/>
        </p:spPr>
        <p:txBody>
          <a:bodyPr wrap="square" rtlCol="0" anchor="ctr"/>
          <a:lstStyle/>
          <a:p>
            <a:pPr indent="0" marL="0">
              <a:buNone/>
            </a:pPr>
            <a:r>
              <a:rPr lang="en-US" sz="1050" b="1" spc="100" kern="0" dirty="0">
                <a:solidFill>
                  <a:srgbClr val="3D8EC9"/>
                </a:solidFill>
                <a:latin typeface="Calibri" pitchFamily="34" charset="0"/>
                <a:ea typeface="Calibri" pitchFamily="34" charset="-122"/>
                <a:cs typeface="Calibri" pitchFamily="34" charset="-120"/>
              </a:rPr>
              <a:t>PURPOSE</a:t>
            </a:r>
            <a:endParaRPr lang="en-US" sz="1050" dirty="0"/>
          </a:p>
        </p:txBody>
      </p:sp>
      <p:sp>
        <p:nvSpPr>
          <p:cNvPr id="5" name="Text 3"/>
          <p:cNvSpPr/>
          <p:nvPr/>
        </p:nvSpPr>
        <p:spPr>
          <a:xfrm>
            <a:off x="502920" y="1691640"/>
            <a:ext cx="4206240" cy="502920"/>
          </a:xfrm>
          <a:prstGeom prst="rect">
            <a:avLst/>
          </a:prstGeom>
          <a:noFill/>
          <a:ln/>
        </p:spPr>
        <p:txBody>
          <a:bodyPr wrap="square" rtlCol="0" anchor="t"/>
          <a:lstStyle/>
          <a:p>
            <a:pPr indent="0" marL="0">
              <a:lnSpc>
                <a:spcPct val="110000"/>
              </a:lnSpc>
              <a:buNone/>
            </a:pPr>
            <a:r>
              <a:rPr lang="en-US" sz="1300" dirty="0">
                <a:solidFill>
                  <a:srgbClr val="17212E"/>
                </a:solidFill>
                <a:latin typeface="Calibri" pitchFamily="34" charset="0"/>
                <a:ea typeface="Calibri" pitchFamily="34" charset="-122"/>
                <a:cs typeface="Calibri" pitchFamily="34" charset="-120"/>
              </a:rPr>
              <a:t>Return the current stock quantity for a given product, for use directly inside SQL statements and reports.</a:t>
            </a:r>
            <a:endParaRPr lang="en-US" sz="1300" dirty="0"/>
          </a:p>
        </p:txBody>
      </p:sp>
      <p:sp>
        <p:nvSpPr>
          <p:cNvPr id="6" name="Text 4"/>
          <p:cNvSpPr/>
          <p:nvPr/>
        </p:nvSpPr>
        <p:spPr>
          <a:xfrm>
            <a:off x="502920" y="2331720"/>
            <a:ext cx="4206240" cy="219456"/>
          </a:xfrm>
          <a:prstGeom prst="rect">
            <a:avLst/>
          </a:prstGeom>
          <a:noFill/>
          <a:ln/>
        </p:spPr>
        <p:txBody>
          <a:bodyPr wrap="square" rtlCol="0" anchor="ctr"/>
          <a:lstStyle/>
          <a:p>
            <a:pPr indent="0" marL="0">
              <a:buNone/>
            </a:pPr>
            <a:r>
              <a:rPr lang="en-US" sz="1050" b="1" spc="100" kern="0" dirty="0">
                <a:solidFill>
                  <a:srgbClr val="3D8EC9"/>
                </a:solidFill>
                <a:latin typeface="Calibri" pitchFamily="34" charset="0"/>
                <a:ea typeface="Calibri" pitchFamily="34" charset="-122"/>
                <a:cs typeface="Calibri" pitchFamily="34" charset="-120"/>
              </a:rPr>
              <a:t>INPUT</a:t>
            </a:r>
            <a:endParaRPr lang="en-US" sz="1050" dirty="0"/>
          </a:p>
        </p:txBody>
      </p:sp>
      <p:sp>
        <p:nvSpPr>
          <p:cNvPr id="7" name="Text 5"/>
          <p:cNvSpPr/>
          <p:nvPr/>
        </p:nvSpPr>
        <p:spPr>
          <a:xfrm>
            <a:off x="502920" y="2560320"/>
            <a:ext cx="4206240" cy="502920"/>
          </a:xfrm>
          <a:prstGeom prst="rect">
            <a:avLst/>
          </a:prstGeom>
          <a:noFill/>
          <a:ln/>
        </p:spPr>
        <p:txBody>
          <a:bodyPr wrap="square" rtlCol="0" anchor="t"/>
          <a:lstStyle/>
          <a:p>
            <a:pPr indent="0" marL="0">
              <a:lnSpc>
                <a:spcPct val="110000"/>
              </a:lnSpc>
              <a:buNone/>
            </a:pPr>
            <a:r>
              <a:rPr lang="en-US" sz="1300" dirty="0">
                <a:solidFill>
                  <a:srgbClr val="17212E"/>
                </a:solidFill>
                <a:latin typeface="Calibri" pitchFamily="34" charset="0"/>
                <a:ea typeface="Calibri" pitchFamily="34" charset="-122"/>
                <a:cs typeface="Calibri" pitchFamily="34" charset="-120"/>
              </a:rPr>
              <a:t>p_Product_ID — the Product_ID to look up (NUMBER).</a:t>
            </a:r>
            <a:endParaRPr lang="en-US" sz="1300" dirty="0"/>
          </a:p>
        </p:txBody>
      </p:sp>
      <p:sp>
        <p:nvSpPr>
          <p:cNvPr id="8" name="Text 6"/>
          <p:cNvSpPr/>
          <p:nvPr/>
        </p:nvSpPr>
        <p:spPr>
          <a:xfrm>
            <a:off x="502920" y="3063240"/>
            <a:ext cx="4206240" cy="219456"/>
          </a:xfrm>
          <a:prstGeom prst="rect">
            <a:avLst/>
          </a:prstGeom>
          <a:noFill/>
          <a:ln/>
        </p:spPr>
        <p:txBody>
          <a:bodyPr wrap="square" rtlCol="0" anchor="ctr"/>
          <a:lstStyle/>
          <a:p>
            <a:pPr indent="0" marL="0">
              <a:buNone/>
            </a:pPr>
            <a:r>
              <a:rPr lang="en-US" sz="1050" b="1" spc="100" kern="0" dirty="0">
                <a:solidFill>
                  <a:srgbClr val="3D8EC9"/>
                </a:solidFill>
                <a:latin typeface="Calibri" pitchFamily="34" charset="0"/>
                <a:ea typeface="Calibri" pitchFamily="34" charset="-122"/>
                <a:cs typeface="Calibri" pitchFamily="34" charset="-120"/>
              </a:rPr>
              <a:t>OUTPUT / RETURN VALUE</a:t>
            </a:r>
            <a:endParaRPr lang="en-US" sz="1050" dirty="0"/>
          </a:p>
        </p:txBody>
      </p:sp>
      <p:sp>
        <p:nvSpPr>
          <p:cNvPr id="9" name="Text 7"/>
          <p:cNvSpPr/>
          <p:nvPr/>
        </p:nvSpPr>
        <p:spPr>
          <a:xfrm>
            <a:off x="502920" y="3291840"/>
            <a:ext cx="4206240" cy="502920"/>
          </a:xfrm>
          <a:prstGeom prst="rect">
            <a:avLst/>
          </a:prstGeom>
          <a:noFill/>
          <a:ln/>
        </p:spPr>
        <p:txBody>
          <a:bodyPr wrap="square" rtlCol="0" anchor="t"/>
          <a:lstStyle/>
          <a:p>
            <a:pPr indent="0" marL="0">
              <a:lnSpc>
                <a:spcPct val="110000"/>
              </a:lnSpc>
              <a:buNone/>
            </a:pPr>
            <a:r>
              <a:rPr lang="en-US" sz="1300" dirty="0">
                <a:solidFill>
                  <a:srgbClr val="17212E"/>
                </a:solidFill>
                <a:latin typeface="Calibri" pitchFamily="34" charset="0"/>
                <a:ea typeface="Calibri" pitchFamily="34" charset="-122"/>
                <a:cs typeface="Calibri" pitchFamily="34" charset="-120"/>
              </a:rPr>
              <a:t>NUMBER — the current quantity in stock for that Product_ID.</a:t>
            </a:r>
            <a:endParaRPr lang="en-US" sz="1300" dirty="0"/>
          </a:p>
        </p:txBody>
      </p:sp>
      <p:sp>
        <p:nvSpPr>
          <p:cNvPr id="10" name="Text 8"/>
          <p:cNvSpPr/>
          <p:nvPr/>
        </p:nvSpPr>
        <p:spPr>
          <a:xfrm>
            <a:off x="502920" y="3794760"/>
            <a:ext cx="4206240" cy="219456"/>
          </a:xfrm>
          <a:prstGeom prst="rect">
            <a:avLst/>
          </a:prstGeom>
          <a:noFill/>
          <a:ln/>
        </p:spPr>
        <p:txBody>
          <a:bodyPr wrap="square" rtlCol="0" anchor="ctr"/>
          <a:lstStyle/>
          <a:p>
            <a:pPr indent="0" marL="0">
              <a:buNone/>
            </a:pPr>
            <a:r>
              <a:rPr lang="en-US" sz="1050" b="1" spc="100" kern="0" dirty="0">
                <a:solidFill>
                  <a:srgbClr val="3D8EC9"/>
                </a:solidFill>
                <a:latin typeface="Calibri" pitchFamily="34" charset="0"/>
                <a:ea typeface="Calibri" pitchFamily="34" charset="-122"/>
                <a:cs typeface="Calibri" pitchFamily="34" charset="-120"/>
              </a:rPr>
              <a:t>EXECUTION EXAMPLE</a:t>
            </a:r>
            <a:endParaRPr lang="en-US" sz="1050" dirty="0"/>
          </a:p>
        </p:txBody>
      </p:sp>
      <p:sp>
        <p:nvSpPr>
          <p:cNvPr id="11" name="Text 9"/>
          <p:cNvSpPr/>
          <p:nvPr/>
        </p:nvSpPr>
        <p:spPr>
          <a:xfrm>
            <a:off x="502920" y="4023360"/>
            <a:ext cx="4206240" cy="502920"/>
          </a:xfrm>
          <a:prstGeom prst="rect">
            <a:avLst/>
          </a:prstGeom>
          <a:noFill/>
          <a:ln/>
        </p:spPr>
        <p:txBody>
          <a:bodyPr wrap="square" rtlCol="0" anchor="t"/>
          <a:lstStyle/>
          <a:p>
            <a:pPr indent="0" marL="0">
              <a:lnSpc>
                <a:spcPct val="110000"/>
              </a:lnSpc>
              <a:buNone/>
            </a:pPr>
            <a:endParaRPr lang="en-US" sz="1300" dirty="0"/>
          </a:p>
        </p:txBody>
      </p:sp>
      <p:sp>
        <p:nvSpPr>
          <p:cNvPr id="12" name="Shape 10"/>
          <p:cNvSpPr/>
          <p:nvPr/>
        </p:nvSpPr>
        <p:spPr>
          <a:xfrm>
            <a:off x="502920" y="4160520"/>
            <a:ext cx="4206240" cy="1097280"/>
          </a:xfrm>
          <a:prstGeom prst="roundRect">
            <a:avLst>
              <a:gd name="adj" fmla="val 5000"/>
            </a:avLst>
          </a:prstGeom>
          <a:solidFill>
            <a:srgbClr val="0C1B33"/>
          </a:solidFill>
          <a:ln/>
          <a:effectLst>
            <a:outerShdw sx="100000" sy="100000" kx="0" ky="0" algn="bl" rotWithShape="0" blurRad="127000" dist="38100" dir="5400000">
              <a:srgbClr val="000000">
                <a:alpha val="25000"/>
              </a:srgbClr>
            </a:outerShdw>
          </a:effectLst>
        </p:spPr>
      </p:sp>
      <p:sp>
        <p:nvSpPr>
          <p:cNvPr id="13" name="Shape 11"/>
          <p:cNvSpPr/>
          <p:nvPr/>
        </p:nvSpPr>
        <p:spPr>
          <a:xfrm>
            <a:off x="667512" y="4306824"/>
            <a:ext cx="100584" cy="100584"/>
          </a:xfrm>
          <a:prstGeom prst="ellipse">
            <a:avLst/>
          </a:prstGeom>
          <a:solidFill>
            <a:srgbClr val="B54A45"/>
          </a:solidFill>
          <a:ln/>
        </p:spPr>
      </p:sp>
      <p:sp>
        <p:nvSpPr>
          <p:cNvPr id="14" name="Shape 12"/>
          <p:cNvSpPr/>
          <p:nvPr/>
        </p:nvSpPr>
        <p:spPr>
          <a:xfrm>
            <a:off x="868680" y="4306824"/>
            <a:ext cx="100584" cy="100584"/>
          </a:xfrm>
          <a:prstGeom prst="ellipse">
            <a:avLst/>
          </a:prstGeom>
          <a:solidFill>
            <a:srgbClr val="C9962E"/>
          </a:solidFill>
          <a:ln/>
        </p:spPr>
      </p:sp>
      <p:sp>
        <p:nvSpPr>
          <p:cNvPr id="15" name="Shape 13"/>
          <p:cNvSpPr/>
          <p:nvPr/>
        </p:nvSpPr>
        <p:spPr>
          <a:xfrm>
            <a:off x="1069848" y="4306824"/>
            <a:ext cx="100584" cy="100584"/>
          </a:xfrm>
          <a:prstGeom prst="ellipse">
            <a:avLst/>
          </a:prstGeom>
          <a:solidFill>
            <a:srgbClr val="2F8F5B"/>
          </a:solidFill>
          <a:ln/>
        </p:spPr>
      </p:sp>
      <p:sp>
        <p:nvSpPr>
          <p:cNvPr id="16" name="Text 14"/>
          <p:cNvSpPr/>
          <p:nvPr/>
        </p:nvSpPr>
        <p:spPr>
          <a:xfrm>
            <a:off x="758952" y="4544568"/>
            <a:ext cx="3694176" cy="548640"/>
          </a:xfrm>
          <a:prstGeom prst="rect">
            <a:avLst/>
          </a:prstGeom>
          <a:noFill/>
          <a:ln/>
        </p:spPr>
        <p:txBody>
          <a:bodyPr wrap="square" rtlCol="0" anchor="t"/>
          <a:lstStyle/>
          <a:p>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SELECT</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Get_Product_Stock(2001)</a:t>
            </a:r>
            <a:endParaRPr lang="en-US" sz="1000" dirty="0"/>
          </a:p>
          <a:p>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AS</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Current_Stock</a:t>
            </a:r>
            <a:endParaRPr lang="en-US" sz="1000" dirty="0"/>
          </a:p>
          <a:p>
            <a:pPr indent="0" marL="0">
              <a:lnSpc>
                <a:spcPct val="118000"/>
              </a:lnSpc>
              <a:buNone/>
            </a:pPr>
            <a:r>
              <a:rPr lang="en-US" sz="100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000" dirty="0">
                <a:solidFill>
                  <a:srgbClr val="E7EEF5"/>
                </a:solidFill>
                <a:latin typeface="Courier New" pitchFamily="34" charset="0"/>
                <a:ea typeface="Courier New" pitchFamily="34" charset="-122"/>
                <a:cs typeface="Courier New" pitchFamily="34" charset="-120"/>
              </a:rPr>
              <a:t> Dual;</a:t>
            </a:r>
            <a:endParaRPr lang="en-US" sz="1000" dirty="0"/>
          </a:p>
        </p:txBody>
      </p:sp>
      <p:sp>
        <p:nvSpPr>
          <p:cNvPr id="17" name="Shape 15"/>
          <p:cNvSpPr/>
          <p:nvPr/>
        </p:nvSpPr>
        <p:spPr>
          <a:xfrm>
            <a:off x="502920" y="5349240"/>
            <a:ext cx="4206240" cy="868680"/>
          </a:xfrm>
          <a:prstGeom prst="roundRect">
            <a:avLst>
              <a:gd name="adj" fmla="val 6316"/>
            </a:avLst>
          </a:prstGeom>
          <a:solidFill>
            <a:srgbClr val="EEF3F8"/>
          </a:solidFill>
          <a:ln w="12700">
            <a:solidFill>
              <a:srgbClr val="DCE4EC"/>
            </a:solidFill>
            <a:prstDash val="solid"/>
          </a:ln>
        </p:spPr>
      </p:sp>
      <p:sp>
        <p:nvSpPr>
          <p:cNvPr id="18" name="Text 16"/>
          <p:cNvSpPr/>
          <p:nvPr/>
        </p:nvSpPr>
        <p:spPr>
          <a:xfrm>
            <a:off x="685800" y="5449824"/>
            <a:ext cx="3840480" cy="219456"/>
          </a:xfrm>
          <a:prstGeom prst="rect">
            <a:avLst/>
          </a:prstGeom>
          <a:noFill/>
          <a:ln/>
        </p:spPr>
        <p:txBody>
          <a:bodyPr wrap="square" rtlCol="0" anchor="ctr"/>
          <a:lstStyle/>
          <a:p>
            <a:pPr indent="0" marL="0">
              <a:buNone/>
            </a:pPr>
            <a:r>
              <a:rPr lang="en-US" sz="900" b="1" spc="100" kern="0" dirty="0">
                <a:solidFill>
                  <a:srgbClr val="3D8EC9"/>
                </a:solidFill>
                <a:latin typeface="Calibri" pitchFamily="34" charset="0"/>
                <a:ea typeface="Calibri" pitchFamily="34" charset="-122"/>
                <a:cs typeface="Calibri" pitchFamily="34" charset="-120"/>
              </a:rPr>
              <a:t>RETURN VALUE (CURRENT_STOCK)</a:t>
            </a:r>
            <a:endParaRPr lang="en-US" sz="900" dirty="0"/>
          </a:p>
        </p:txBody>
      </p:sp>
      <p:sp>
        <p:nvSpPr>
          <p:cNvPr id="19" name="Text 17"/>
          <p:cNvSpPr/>
          <p:nvPr/>
        </p:nvSpPr>
        <p:spPr>
          <a:xfrm>
            <a:off x="685800" y="5641848"/>
            <a:ext cx="3840480" cy="502920"/>
          </a:xfrm>
          <a:prstGeom prst="rect">
            <a:avLst/>
          </a:prstGeom>
          <a:noFill/>
          <a:ln/>
        </p:spPr>
        <p:txBody>
          <a:bodyPr wrap="square" rtlCol="0" anchor="ctr"/>
          <a:lstStyle/>
          <a:p>
            <a:pPr indent="0" marL="0">
              <a:buNone/>
            </a:pPr>
            <a:r>
              <a:rPr lang="en-US" sz="2000" b="1" dirty="0">
                <a:solidFill>
                  <a:srgbClr val="13294B"/>
                </a:solidFill>
                <a:latin typeface="Courier New" pitchFamily="34" charset="0"/>
                <a:ea typeface="Courier New" pitchFamily="34" charset="-122"/>
                <a:cs typeface="Courier New" pitchFamily="34" charset="-120"/>
              </a:rPr>
              <a:t>17</a:t>
            </a:r>
            <a:endParaRPr lang="en-US" sz="2000" dirty="0"/>
          </a:p>
        </p:txBody>
      </p:sp>
      <p:sp>
        <p:nvSpPr>
          <p:cNvPr id="20" name="Shape 18"/>
          <p:cNvSpPr/>
          <p:nvPr/>
        </p:nvSpPr>
        <p:spPr>
          <a:xfrm>
            <a:off x="5074920" y="1417320"/>
            <a:ext cx="6172200" cy="2651760"/>
          </a:xfrm>
          <a:prstGeom prst="roundRect">
            <a:avLst>
              <a:gd name="adj" fmla="val 2069"/>
            </a:avLst>
          </a:prstGeom>
          <a:solidFill>
            <a:srgbClr val="0C1B33"/>
          </a:solidFill>
          <a:ln/>
          <a:effectLst>
            <a:outerShdw sx="100000" sy="100000" kx="0" ky="0" algn="bl" rotWithShape="0" blurRad="127000" dist="38100" dir="5400000">
              <a:srgbClr val="000000">
                <a:alpha val="25000"/>
              </a:srgbClr>
            </a:outerShdw>
          </a:effectLst>
        </p:spPr>
      </p:sp>
      <p:sp>
        <p:nvSpPr>
          <p:cNvPr id="21" name="Shape 19"/>
          <p:cNvSpPr/>
          <p:nvPr/>
        </p:nvSpPr>
        <p:spPr>
          <a:xfrm>
            <a:off x="5239512" y="1563624"/>
            <a:ext cx="100584" cy="100584"/>
          </a:xfrm>
          <a:prstGeom prst="ellipse">
            <a:avLst/>
          </a:prstGeom>
          <a:solidFill>
            <a:srgbClr val="B54A45"/>
          </a:solidFill>
          <a:ln/>
        </p:spPr>
      </p:sp>
      <p:sp>
        <p:nvSpPr>
          <p:cNvPr id="22" name="Shape 20"/>
          <p:cNvSpPr/>
          <p:nvPr/>
        </p:nvSpPr>
        <p:spPr>
          <a:xfrm>
            <a:off x="5440680" y="1563624"/>
            <a:ext cx="100584" cy="100584"/>
          </a:xfrm>
          <a:prstGeom prst="ellipse">
            <a:avLst/>
          </a:prstGeom>
          <a:solidFill>
            <a:srgbClr val="C9962E"/>
          </a:solidFill>
          <a:ln/>
        </p:spPr>
      </p:sp>
      <p:sp>
        <p:nvSpPr>
          <p:cNvPr id="23" name="Shape 21"/>
          <p:cNvSpPr/>
          <p:nvPr/>
        </p:nvSpPr>
        <p:spPr>
          <a:xfrm>
            <a:off x="5641848" y="1563624"/>
            <a:ext cx="100584" cy="100584"/>
          </a:xfrm>
          <a:prstGeom prst="ellipse">
            <a:avLst/>
          </a:prstGeom>
          <a:solidFill>
            <a:srgbClr val="2F8F5B"/>
          </a:solidFill>
          <a:ln/>
        </p:spPr>
      </p:sp>
      <p:sp>
        <p:nvSpPr>
          <p:cNvPr id="24" name="Text 22"/>
          <p:cNvSpPr/>
          <p:nvPr/>
        </p:nvSpPr>
        <p:spPr>
          <a:xfrm>
            <a:off x="5989320" y="1508760"/>
            <a:ext cx="507492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get_product_stock.sql</a:t>
            </a:r>
            <a:endParaRPr lang="en-US" sz="950" dirty="0"/>
          </a:p>
        </p:txBody>
      </p:sp>
      <p:sp>
        <p:nvSpPr>
          <p:cNvPr id="25" name="Text 23"/>
          <p:cNvSpPr/>
          <p:nvPr/>
        </p:nvSpPr>
        <p:spPr>
          <a:xfrm>
            <a:off x="5330952" y="1801368"/>
            <a:ext cx="5660136" cy="2103120"/>
          </a:xfrm>
          <a:prstGeom prst="rect">
            <a:avLst/>
          </a:prstGeom>
          <a:noFill/>
          <a:ln/>
        </p:spPr>
        <p:txBody>
          <a:bodyPr wrap="square" rtlCol="0" anchor="t"/>
          <a:lstStyle/>
          <a:p>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CREATE</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OR</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REPLACE</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FUNCTION</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Get_Product_Stock (</a:t>
            </a: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p_Product_ID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RETURN</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IS</a:t>
            </a:r>
            <a:pPr indent="0" marL="0">
              <a:lnSpc>
                <a:spcPct val="118000"/>
              </a:lnSpc>
              <a:buNone/>
            </a:pP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v_stock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NUMBER</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a:t>
            </a:r>
            <a:endParaRPr lang="en-US" sz="1150" dirty="0"/>
          </a:p>
          <a:p>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BEGIN</a:t>
            </a:r>
            <a:pPr indent="0" marL="0">
              <a:lnSpc>
                <a:spcPct val="118000"/>
              </a:lnSpc>
              <a:buNone/>
            </a:pP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SELECT</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Quantity_In_Stock</a:t>
            </a: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INTO</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v_stock</a:t>
            </a: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Products</a:t>
            </a: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WHERE</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Product_ID = p_Product_ID;</a:t>
            </a: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RETURN</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v_stock;</a:t>
            </a:r>
            <a:endParaRPr lang="en-US" sz="1150" dirty="0"/>
          </a:p>
          <a:p>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END</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a:t>
            </a: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a:t>
            </a:r>
            <a:endParaRPr lang="en-US" sz="1150" dirty="0"/>
          </a:p>
        </p:txBody>
      </p:sp>
      <p:sp>
        <p:nvSpPr>
          <p:cNvPr id="26" name="Shape 24"/>
          <p:cNvSpPr/>
          <p:nvPr/>
        </p:nvSpPr>
        <p:spPr>
          <a:xfrm>
            <a:off x="5074920" y="4206240"/>
            <a:ext cx="6172200" cy="1920240"/>
          </a:xfrm>
          <a:prstGeom prst="roundRect">
            <a:avLst>
              <a:gd name="adj" fmla="val 3810"/>
            </a:avLst>
          </a:prstGeom>
          <a:solidFill>
            <a:srgbClr val="F7FAFC"/>
          </a:solidFill>
          <a:ln/>
        </p:spPr>
      </p:sp>
      <p:sp>
        <p:nvSpPr>
          <p:cNvPr id="27" name="Text 25"/>
          <p:cNvSpPr/>
          <p:nvPr/>
        </p:nvSpPr>
        <p:spPr>
          <a:xfrm>
            <a:off x="5303520" y="4352544"/>
            <a:ext cx="5715000" cy="274320"/>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Function vs. Procedure — Why This Mattered</a:t>
            </a:r>
            <a:endParaRPr lang="en-US" sz="1200" dirty="0"/>
          </a:p>
        </p:txBody>
      </p:sp>
      <p:sp>
        <p:nvSpPr>
          <p:cNvPr id="28" name="Text 26"/>
          <p:cNvSpPr/>
          <p:nvPr/>
        </p:nvSpPr>
        <p:spPr>
          <a:xfrm>
            <a:off x="5303520" y="4672584"/>
            <a:ext cx="5715000" cy="1371600"/>
          </a:xfrm>
          <a:prstGeom prst="rect">
            <a:avLst/>
          </a:prstGeom>
          <a:noFill/>
          <a:ln/>
        </p:spPr>
        <p:txBody>
          <a:bodyPr wrap="square" rtlCol="0" anchor="t"/>
          <a:lstStyle/>
          <a:p>
            <a:pPr marL="342900" indent="-342900">
              <a:lnSpc>
                <a:spcPct val="115000"/>
              </a:lnSpc>
              <a:spcAft>
                <a:spcPts val="576"/>
              </a:spcAft>
              <a:buSzPct val="100000"/>
              <a:buChar char="▪"/>
            </a:pPr>
            <a:r>
              <a:rPr lang="en-US" sz="1080" dirty="0">
                <a:solidFill>
                  <a:srgbClr val="17212E"/>
                </a:solidFill>
                <a:latin typeface="Calibri" pitchFamily="34" charset="0"/>
                <a:ea typeface="Calibri" pitchFamily="34" charset="-122"/>
                <a:cs typeface="Calibri" pitchFamily="34" charset="-120"/>
              </a:rPr>
              <a:t>A function RETURNs a single value and can be called inside SELECT, WHERE, or a report column — as shown in the execution example on the left.</a:t>
            </a:r>
            <a:endParaRPr lang="en-US" sz="1080" dirty="0"/>
          </a:p>
          <a:p>
            <a:pPr marL="342900" indent="-342900">
              <a:lnSpc>
                <a:spcPct val="115000"/>
              </a:lnSpc>
              <a:spcAft>
                <a:spcPts val="576"/>
              </a:spcAft>
              <a:buSzPct val="100000"/>
              <a:buChar char="▪"/>
            </a:pPr>
            <a:r>
              <a:rPr lang="en-US" sz="1080" dirty="0">
                <a:solidFill>
                  <a:srgbClr val="17212E"/>
                </a:solidFill>
                <a:latin typeface="Calibri" pitchFamily="34" charset="0"/>
                <a:ea typeface="Calibri" pitchFamily="34" charset="-122"/>
                <a:cs typeface="Calibri" pitchFamily="34" charset="-120"/>
              </a:rPr>
              <a:t>Sell_Product() changes data and is called on its own, not embedded in a query, so it is a procedure, not a function.</a:t>
            </a:r>
            <a:endParaRPr lang="en-US" sz="1080" dirty="0"/>
          </a:p>
        </p:txBody>
      </p:sp>
      <p:sp>
        <p:nvSpPr>
          <p:cNvPr id="29" name="Shape 27"/>
          <p:cNvSpPr/>
          <p:nvPr/>
        </p:nvSpPr>
        <p:spPr>
          <a:xfrm>
            <a:off x="11451031" y="6437376"/>
            <a:ext cx="237744" cy="237744"/>
          </a:xfrm>
          <a:prstGeom prst="ellipse">
            <a:avLst/>
          </a:prstGeom>
          <a:solidFill>
            <a:srgbClr val="EEF3F8"/>
          </a:solidFill>
          <a:ln/>
        </p:spPr>
      </p:sp>
      <p:pic>
        <p:nvPicPr>
          <p:cNvPr id="30" name="Image 0" descr="/home/claude/wms_deck/assets/icons/database_navy.png">    </p:cNvPr>
          <p:cNvPicPr>
            <a:picLocks noChangeAspect="1"/>
          </p:cNvPicPr>
          <p:nvPr/>
        </p:nvPicPr>
        <p:blipFill>
          <a:blip r:embed="rId1"/>
          <a:stretch>
            <a:fillRect/>
          </a:stretch>
        </p:blipFill>
        <p:spPr>
          <a:xfrm>
            <a:off x="11515222" y="6501567"/>
            <a:ext cx="109362" cy="109362"/>
          </a:xfrm>
          <a:prstGeom prst="rect">
            <a:avLst/>
          </a:prstGeom>
        </p:spPr>
      </p:pic>
      <p:sp>
        <p:nvSpPr>
          <p:cNvPr id="31" name="Text 28"/>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32" name="Text 29"/>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ADVANCED SQL</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Ranking Products with Window Functions</a:t>
            </a:r>
            <a:endParaRPr lang="en-US" sz="3000" dirty="0"/>
          </a:p>
        </p:txBody>
      </p:sp>
      <p:sp>
        <p:nvSpPr>
          <p:cNvPr id="4" name="Shape 2"/>
          <p:cNvSpPr/>
          <p:nvPr/>
        </p:nvSpPr>
        <p:spPr>
          <a:xfrm>
            <a:off x="502920" y="1417320"/>
            <a:ext cx="11185855" cy="1691640"/>
          </a:xfrm>
          <a:prstGeom prst="roundRect">
            <a:avLst>
              <a:gd name="adj" fmla="val 3243"/>
            </a:avLst>
          </a:prstGeom>
          <a:solidFill>
            <a:srgbClr val="0C1B33"/>
          </a:solidFill>
          <a:ln/>
          <a:effectLst>
            <a:outerShdw sx="100000" sy="100000" kx="0" ky="0" algn="bl" rotWithShape="0" blurRad="127000" dist="38100" dir="5400000">
              <a:srgbClr val="000000">
                <a:alpha val="25000"/>
              </a:srgbClr>
            </a:outerShdw>
          </a:effectLst>
        </p:spPr>
      </p:sp>
      <p:sp>
        <p:nvSpPr>
          <p:cNvPr id="5" name="Shape 3"/>
          <p:cNvSpPr/>
          <p:nvPr/>
        </p:nvSpPr>
        <p:spPr>
          <a:xfrm>
            <a:off x="667512" y="1563624"/>
            <a:ext cx="100584" cy="100584"/>
          </a:xfrm>
          <a:prstGeom prst="ellipse">
            <a:avLst/>
          </a:prstGeom>
          <a:solidFill>
            <a:srgbClr val="B54A45"/>
          </a:solidFill>
          <a:ln/>
        </p:spPr>
      </p:sp>
      <p:sp>
        <p:nvSpPr>
          <p:cNvPr id="6" name="Shape 4"/>
          <p:cNvSpPr/>
          <p:nvPr/>
        </p:nvSpPr>
        <p:spPr>
          <a:xfrm>
            <a:off x="868680" y="1563624"/>
            <a:ext cx="100584" cy="100584"/>
          </a:xfrm>
          <a:prstGeom prst="ellipse">
            <a:avLst/>
          </a:prstGeom>
          <a:solidFill>
            <a:srgbClr val="C9962E"/>
          </a:solidFill>
          <a:ln/>
        </p:spPr>
      </p:sp>
      <p:sp>
        <p:nvSpPr>
          <p:cNvPr id="7" name="Shape 5"/>
          <p:cNvSpPr/>
          <p:nvPr/>
        </p:nvSpPr>
        <p:spPr>
          <a:xfrm>
            <a:off x="1069848" y="1563624"/>
            <a:ext cx="100584" cy="100584"/>
          </a:xfrm>
          <a:prstGeom prst="ellipse">
            <a:avLst/>
          </a:prstGeom>
          <a:solidFill>
            <a:srgbClr val="2F8F5B"/>
          </a:solidFill>
          <a:ln/>
        </p:spPr>
      </p:sp>
      <p:sp>
        <p:nvSpPr>
          <p:cNvPr id="8" name="Text 6"/>
          <p:cNvSpPr/>
          <p:nvPr/>
        </p:nvSpPr>
        <p:spPr>
          <a:xfrm>
            <a:off x="1417320" y="1508760"/>
            <a:ext cx="10088575"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product_ranking.sql</a:t>
            </a:r>
            <a:endParaRPr lang="en-US" sz="950" dirty="0"/>
          </a:p>
        </p:txBody>
      </p:sp>
      <p:sp>
        <p:nvSpPr>
          <p:cNvPr id="9" name="Text 7"/>
          <p:cNvSpPr/>
          <p:nvPr/>
        </p:nvSpPr>
        <p:spPr>
          <a:xfrm>
            <a:off x="758952" y="1801368"/>
            <a:ext cx="10673791" cy="1143000"/>
          </a:xfrm>
          <a:prstGeom prst="rect">
            <a:avLst/>
          </a:prstGeom>
          <a:noFill/>
          <a:ln/>
        </p:spPr>
        <p:txBody>
          <a:bodyPr wrap="square" rtlCol="0" anchor="t"/>
          <a:lstStyle/>
          <a:p>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SELECT</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Product_Name, Quantity_In_Stock,</a:t>
            </a:r>
            <a:endParaRPr lang="en-US" sz="1250" dirty="0"/>
          </a:p>
          <a:p>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ROW_NUMBER</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OVER</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ORDER</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BY</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Quantity_In_Stock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DESC</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AS</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Row_Num,</a:t>
            </a:r>
            <a:endParaRPr lang="en-US" sz="1250" dirty="0"/>
          </a:p>
          <a:p>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RANK</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OVER</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ORDER</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BY</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Quantity_In_Stock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DESC</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AS</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Stock_Rank,</a:t>
            </a:r>
            <a:endParaRPr lang="en-US" sz="1250" dirty="0"/>
          </a:p>
          <a:p>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DENSE_RANK</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OVER</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ORDER</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BY</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Quantity_In_Stock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DESC</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AS</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Dense_Rank</a:t>
            </a:r>
            <a:endParaRPr lang="en-US" sz="1250" dirty="0"/>
          </a:p>
          <a:p>
            <a:pPr indent="0" marL="0">
              <a:lnSpc>
                <a:spcPct val="118000"/>
              </a:lnSpc>
              <a:buNone/>
            </a:pPr>
            <a:r>
              <a:rPr lang="en-US" sz="125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250" dirty="0">
                <a:solidFill>
                  <a:srgbClr val="E7EEF5"/>
                </a:solidFill>
                <a:latin typeface="Courier New" pitchFamily="34" charset="0"/>
                <a:ea typeface="Courier New" pitchFamily="34" charset="-122"/>
                <a:cs typeface="Courier New" pitchFamily="34" charset="-120"/>
              </a:rPr>
              <a:t>   Products;</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3337560"/>
          <a:ext cx="11185855" cy="1828800"/>
        </p:xfrm>
        <a:graphic>
          <a:graphicData uri="http://schemas.openxmlformats.org/drawingml/2006/table">
            <a:tbl>
              <a:tblPr/>
              <a:tblGrid>
                <a:gridCol w="2237171"/>
                <a:gridCol w="2237171"/>
                <a:gridCol w="2237171"/>
                <a:gridCol w="2237171"/>
                <a:gridCol w="2237171"/>
              </a:tblGrid>
              <a:tr h="3048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Stock Qty</a:t>
                      </a:r>
                      <a:endParaRPr lang="en-US" sz="12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ROW_NUMBER()</a:t>
                      </a:r>
                      <a:endParaRPr lang="en-US" sz="12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RANK()</a:t>
                      </a:r>
                      <a:endParaRPr lang="en-US" sz="12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DENSE_RANK()</a:t>
                      </a:r>
                      <a:endParaRPr lang="en-US" sz="12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r>
              <a:tr h="30480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HP Laptop</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30480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Product B</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95</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30480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Laser Printer</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95</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30480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Product D</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304800">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Product E</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7212E"/>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11" name="Shape 8"/>
          <p:cNvSpPr/>
          <p:nvPr/>
        </p:nvSpPr>
        <p:spPr>
          <a:xfrm>
            <a:off x="502920" y="5349240"/>
            <a:ext cx="11185855" cy="868680"/>
          </a:xfrm>
          <a:prstGeom prst="roundRect">
            <a:avLst>
              <a:gd name="adj" fmla="val 8421"/>
            </a:avLst>
          </a:prstGeom>
          <a:solidFill>
            <a:srgbClr val="F7FAFC"/>
          </a:solidFill>
          <a:ln/>
        </p:spPr>
      </p:sp>
      <p:sp>
        <p:nvSpPr>
          <p:cNvPr id="12" name="Shape 9"/>
          <p:cNvSpPr/>
          <p:nvPr/>
        </p:nvSpPr>
        <p:spPr>
          <a:xfrm>
            <a:off x="685800" y="5504688"/>
            <a:ext cx="548640" cy="548640"/>
          </a:xfrm>
          <a:prstGeom prst="ellipse">
            <a:avLst/>
          </a:prstGeom>
          <a:solidFill>
            <a:srgbClr val="3D8EC9"/>
          </a:solidFill>
          <a:ln/>
        </p:spPr>
      </p:sp>
      <p:pic>
        <p:nvPicPr>
          <p:cNvPr id="13" name="Image 0" descr="/home/claude/wms_deck/assets/icons/trophy_white.png">    </p:cNvPr>
          <p:cNvPicPr>
            <a:picLocks noChangeAspect="1"/>
          </p:cNvPicPr>
          <p:nvPr/>
        </p:nvPicPr>
        <p:blipFill>
          <a:blip r:embed="rId1"/>
          <a:stretch>
            <a:fillRect/>
          </a:stretch>
        </p:blipFill>
        <p:spPr>
          <a:xfrm>
            <a:off x="833933" y="5652821"/>
            <a:ext cx="252374" cy="252374"/>
          </a:xfrm>
          <a:prstGeom prst="rect">
            <a:avLst/>
          </a:prstGeom>
        </p:spPr>
      </p:pic>
      <p:sp>
        <p:nvSpPr>
          <p:cNvPr id="14" name="Text 10"/>
          <p:cNvSpPr/>
          <p:nvPr/>
        </p:nvSpPr>
        <p:spPr>
          <a:xfrm>
            <a:off x="1371600" y="5440680"/>
            <a:ext cx="10134295" cy="685800"/>
          </a:xfrm>
          <a:prstGeom prst="rect">
            <a:avLst/>
          </a:prstGeom>
          <a:noFill/>
          <a:ln/>
        </p:spPr>
        <p:txBody>
          <a:bodyPr wrap="square" rtlCol="0" anchor="ctr"/>
          <a:lstStyle/>
          <a:p>
            <a:pPr indent="0" marL="0">
              <a:lnSpc>
                <a:spcPct val="112000"/>
              </a:lnSpc>
              <a:buNone/>
            </a:pPr>
            <a:r>
              <a:rPr lang="en-US" sz="1050" b="1" dirty="0">
                <a:solidFill>
                  <a:srgbClr val="13294B"/>
                </a:solidFill>
                <a:latin typeface="Calibri" pitchFamily="34" charset="0"/>
                <a:ea typeface="Calibri" pitchFamily="34" charset="-122"/>
                <a:cs typeface="Calibri" pitchFamily="34" charset="-120"/>
              </a:rPr>
              <a:t>Business importance:  </a:t>
            </a:r>
            <a:pPr indent="0" marL="0">
              <a:lnSpc>
                <a:spcPct val="112000"/>
              </a:lnSpc>
              <a:buNone/>
            </a:pPr>
            <a:r>
              <a:rPr lang="en-US" sz="1050" dirty="0">
                <a:solidFill>
                  <a:srgbClr val="5B6B7C"/>
                </a:solidFill>
                <a:latin typeface="Calibri" pitchFamily="34" charset="0"/>
                <a:ea typeface="Calibri" pitchFamily="34" charset="-122"/>
                <a:cs typeface="Calibri" pitchFamily="34" charset="-120"/>
              </a:rPr>
              <a:t>HP Laptop and Laser Printer tie on stock on hand. RANK() shows the tie honestly (2, 2, 4 — skipping 3), DENSE_RANK() keeps positions compact (2, 2, 3), and ROW_NUMBER() forces a strict order (1–5). The same pattern powers top-seller leaderboards and low-stock ranking.</a:t>
            </a:r>
            <a:endParaRPr lang="en-US" sz="1050" dirty="0"/>
          </a:p>
        </p:txBody>
      </p:sp>
      <p:sp>
        <p:nvSpPr>
          <p:cNvPr id="15" name="Shape 11"/>
          <p:cNvSpPr/>
          <p:nvPr/>
        </p:nvSpPr>
        <p:spPr>
          <a:xfrm>
            <a:off x="11451031" y="6437376"/>
            <a:ext cx="237744" cy="237744"/>
          </a:xfrm>
          <a:prstGeom prst="ellipse">
            <a:avLst/>
          </a:prstGeom>
          <a:solidFill>
            <a:srgbClr val="EEF3F8"/>
          </a:solidFill>
          <a:ln/>
        </p:spPr>
      </p:sp>
      <p:pic>
        <p:nvPicPr>
          <p:cNvPr id="16" name="Image 1" descr="/home/claude/wms_deck/assets/icons/database_navy.png">    </p:cNvPr>
          <p:cNvPicPr>
            <a:picLocks noChangeAspect="1"/>
          </p:cNvPicPr>
          <p:nvPr/>
        </p:nvPicPr>
        <p:blipFill>
          <a:blip r:embed="rId2"/>
          <a:stretch>
            <a:fillRect/>
          </a:stretch>
        </p:blipFill>
        <p:spPr>
          <a:xfrm>
            <a:off x="11515222" y="6501567"/>
            <a:ext cx="109362" cy="109362"/>
          </a:xfrm>
          <a:prstGeom prst="rect">
            <a:avLst/>
          </a:prstGeom>
        </p:spPr>
      </p:pic>
      <p:sp>
        <p:nvSpPr>
          <p:cNvPr id="17" name="Text 12"/>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18" name="Text 13"/>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REPORTING</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Reports Generated by the System</a:t>
            </a:r>
            <a:endParaRPr lang="en-US" sz="3000" dirty="0"/>
          </a:p>
        </p:txBody>
      </p:sp>
      <p:sp>
        <p:nvSpPr>
          <p:cNvPr id="4" name="Shape 2"/>
          <p:cNvSpPr/>
          <p:nvPr/>
        </p:nvSpPr>
        <p:spPr>
          <a:xfrm>
            <a:off x="502920" y="1463040"/>
            <a:ext cx="3401568" cy="1417320"/>
          </a:xfrm>
          <a:prstGeom prst="roundRect">
            <a:avLst>
              <a:gd name="adj" fmla="val 4516"/>
            </a:avLst>
          </a:prstGeom>
          <a:solidFill>
            <a:srgbClr val="F7FAFC"/>
          </a:solidFill>
          <a:ln/>
          <a:effectLst>
            <a:outerShdw sx="100000" sy="100000" kx="0" ky="0" algn="bl" rotWithShape="0" blurRad="101600" dist="25400" dir="5400000">
              <a:srgbClr val="13294B">
                <a:alpha val="12000"/>
              </a:srgbClr>
            </a:outerShdw>
          </a:effectLst>
        </p:spPr>
      </p:sp>
      <p:sp>
        <p:nvSpPr>
          <p:cNvPr id="5" name="Shape 3"/>
          <p:cNvSpPr/>
          <p:nvPr/>
        </p:nvSpPr>
        <p:spPr>
          <a:xfrm>
            <a:off x="704088" y="1645920"/>
            <a:ext cx="396850" cy="396850"/>
          </a:xfrm>
          <a:prstGeom prst="ellipse">
            <a:avLst/>
          </a:prstGeom>
          <a:solidFill>
            <a:srgbClr val="3D8EC9"/>
          </a:solidFill>
          <a:ln/>
        </p:spPr>
      </p:sp>
      <p:pic>
        <p:nvPicPr>
          <p:cNvPr id="6" name="Image 0" descr="/home/claude/wms_deck/assets/icons/fileAlt_white.png">    </p:cNvPr>
          <p:cNvPicPr>
            <a:picLocks noChangeAspect="1"/>
          </p:cNvPicPr>
          <p:nvPr/>
        </p:nvPicPr>
        <p:blipFill>
          <a:blip r:embed="rId1"/>
          <a:stretch>
            <a:fillRect/>
          </a:stretch>
        </p:blipFill>
        <p:spPr>
          <a:xfrm>
            <a:off x="811237" y="1753069"/>
            <a:ext cx="182551" cy="182551"/>
          </a:xfrm>
          <a:prstGeom prst="rect">
            <a:avLst/>
          </a:prstGeom>
        </p:spPr>
      </p:pic>
      <p:sp>
        <p:nvSpPr>
          <p:cNvPr id="7" name="Text 4"/>
          <p:cNvSpPr/>
          <p:nvPr/>
        </p:nvSpPr>
        <p:spPr>
          <a:xfrm>
            <a:off x="1247242" y="1609344"/>
            <a:ext cx="2474366" cy="47000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Inventory Report</a:t>
            </a:r>
            <a:endParaRPr lang="en-US" sz="1200" dirty="0"/>
          </a:p>
        </p:txBody>
      </p:sp>
      <p:sp>
        <p:nvSpPr>
          <p:cNvPr id="8" name="Text 5"/>
          <p:cNvSpPr/>
          <p:nvPr/>
        </p:nvSpPr>
        <p:spPr>
          <a:xfrm>
            <a:off x="704088" y="2152498"/>
            <a:ext cx="2999232" cy="581558"/>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Full stock listing across all products and categories.</a:t>
            </a:r>
            <a:endParaRPr lang="en-US" sz="1000" dirty="0"/>
          </a:p>
        </p:txBody>
      </p:sp>
      <p:sp>
        <p:nvSpPr>
          <p:cNvPr id="9" name="Shape 6"/>
          <p:cNvSpPr/>
          <p:nvPr/>
        </p:nvSpPr>
        <p:spPr>
          <a:xfrm>
            <a:off x="4050792" y="1463040"/>
            <a:ext cx="3401568" cy="1417320"/>
          </a:xfrm>
          <a:prstGeom prst="roundRect">
            <a:avLst>
              <a:gd name="adj" fmla="val 4516"/>
            </a:avLst>
          </a:prstGeom>
          <a:solidFill>
            <a:srgbClr val="F7FAFC"/>
          </a:solidFill>
          <a:ln/>
          <a:effectLst>
            <a:outerShdw sx="100000" sy="100000" kx="0" ky="0" algn="bl" rotWithShape="0" blurRad="101600" dist="25400" dir="5400000">
              <a:srgbClr val="13294B">
                <a:alpha val="12000"/>
              </a:srgbClr>
            </a:outerShdw>
          </a:effectLst>
        </p:spPr>
      </p:sp>
      <p:sp>
        <p:nvSpPr>
          <p:cNvPr id="10" name="Shape 7"/>
          <p:cNvSpPr/>
          <p:nvPr/>
        </p:nvSpPr>
        <p:spPr>
          <a:xfrm>
            <a:off x="4251960" y="1645920"/>
            <a:ext cx="396850" cy="396850"/>
          </a:xfrm>
          <a:prstGeom prst="ellipse">
            <a:avLst/>
          </a:prstGeom>
          <a:solidFill>
            <a:srgbClr val="3D8EC9"/>
          </a:solidFill>
          <a:ln/>
        </p:spPr>
      </p:sp>
      <p:pic>
        <p:nvPicPr>
          <p:cNvPr id="11" name="Image 1" descr="/home/claude/wms_deck/assets/icons/chartLine_white.png">    </p:cNvPr>
          <p:cNvPicPr>
            <a:picLocks noChangeAspect="1"/>
          </p:cNvPicPr>
          <p:nvPr/>
        </p:nvPicPr>
        <p:blipFill>
          <a:blip r:embed="rId2"/>
          <a:stretch>
            <a:fillRect/>
          </a:stretch>
        </p:blipFill>
        <p:spPr>
          <a:xfrm>
            <a:off x="4359109" y="1753069"/>
            <a:ext cx="182551" cy="182551"/>
          </a:xfrm>
          <a:prstGeom prst="rect">
            <a:avLst/>
          </a:prstGeom>
        </p:spPr>
      </p:pic>
      <p:sp>
        <p:nvSpPr>
          <p:cNvPr id="12" name="Text 8"/>
          <p:cNvSpPr/>
          <p:nvPr/>
        </p:nvSpPr>
        <p:spPr>
          <a:xfrm>
            <a:off x="4795114" y="1609344"/>
            <a:ext cx="2474366" cy="47000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Sales Report</a:t>
            </a:r>
            <a:endParaRPr lang="en-US" sz="1200" dirty="0"/>
          </a:p>
        </p:txBody>
      </p:sp>
      <p:sp>
        <p:nvSpPr>
          <p:cNvPr id="13" name="Text 9"/>
          <p:cNvSpPr/>
          <p:nvPr/>
        </p:nvSpPr>
        <p:spPr>
          <a:xfrm>
            <a:off x="4251960" y="2152498"/>
            <a:ext cx="2999232" cy="581558"/>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Orders and revenue over a selected period.</a:t>
            </a:r>
            <a:endParaRPr lang="en-US" sz="1000" dirty="0"/>
          </a:p>
        </p:txBody>
      </p:sp>
      <p:sp>
        <p:nvSpPr>
          <p:cNvPr id="14" name="Shape 10"/>
          <p:cNvSpPr/>
          <p:nvPr/>
        </p:nvSpPr>
        <p:spPr>
          <a:xfrm>
            <a:off x="502920" y="3026664"/>
            <a:ext cx="3401568" cy="1417320"/>
          </a:xfrm>
          <a:prstGeom prst="roundRect">
            <a:avLst>
              <a:gd name="adj" fmla="val 4516"/>
            </a:avLst>
          </a:prstGeom>
          <a:solidFill>
            <a:srgbClr val="F7FAFC"/>
          </a:solidFill>
          <a:ln/>
          <a:effectLst>
            <a:outerShdw sx="100000" sy="100000" kx="0" ky="0" algn="bl" rotWithShape="0" blurRad="101600" dist="25400" dir="5400000">
              <a:srgbClr val="13294B">
                <a:alpha val="12000"/>
              </a:srgbClr>
            </a:outerShdw>
          </a:effectLst>
        </p:spPr>
      </p:sp>
      <p:sp>
        <p:nvSpPr>
          <p:cNvPr id="15" name="Shape 11"/>
          <p:cNvSpPr/>
          <p:nvPr/>
        </p:nvSpPr>
        <p:spPr>
          <a:xfrm>
            <a:off x="704088" y="3209544"/>
            <a:ext cx="396850" cy="396850"/>
          </a:xfrm>
          <a:prstGeom prst="ellipse">
            <a:avLst/>
          </a:prstGeom>
          <a:solidFill>
            <a:srgbClr val="3D8EC9"/>
          </a:solidFill>
          <a:ln/>
        </p:spPr>
      </p:sp>
      <p:pic>
        <p:nvPicPr>
          <p:cNvPr id="16" name="Image 2" descr="/home/claude/wms_deck/assets/icons/exclamation_white.png">    </p:cNvPr>
          <p:cNvPicPr>
            <a:picLocks noChangeAspect="1"/>
          </p:cNvPicPr>
          <p:nvPr/>
        </p:nvPicPr>
        <p:blipFill>
          <a:blip r:embed="rId3"/>
          <a:stretch>
            <a:fillRect/>
          </a:stretch>
        </p:blipFill>
        <p:spPr>
          <a:xfrm>
            <a:off x="811237" y="3316693"/>
            <a:ext cx="182551" cy="182551"/>
          </a:xfrm>
          <a:prstGeom prst="rect">
            <a:avLst/>
          </a:prstGeom>
        </p:spPr>
      </p:pic>
      <p:sp>
        <p:nvSpPr>
          <p:cNvPr id="17" name="Text 12"/>
          <p:cNvSpPr/>
          <p:nvPr/>
        </p:nvSpPr>
        <p:spPr>
          <a:xfrm>
            <a:off x="1247242" y="3172968"/>
            <a:ext cx="2474366" cy="47000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Low Stock Report</a:t>
            </a:r>
            <a:endParaRPr lang="en-US" sz="1200" dirty="0"/>
          </a:p>
        </p:txBody>
      </p:sp>
      <p:sp>
        <p:nvSpPr>
          <p:cNvPr id="18" name="Text 13"/>
          <p:cNvSpPr/>
          <p:nvPr/>
        </p:nvSpPr>
        <p:spPr>
          <a:xfrm>
            <a:off x="704088" y="3716122"/>
            <a:ext cx="2999232" cy="581558"/>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Products at or below their reorder level.</a:t>
            </a:r>
            <a:endParaRPr lang="en-US" sz="1000" dirty="0"/>
          </a:p>
        </p:txBody>
      </p:sp>
      <p:sp>
        <p:nvSpPr>
          <p:cNvPr id="19" name="Shape 14"/>
          <p:cNvSpPr/>
          <p:nvPr/>
        </p:nvSpPr>
        <p:spPr>
          <a:xfrm>
            <a:off x="4050792" y="3026664"/>
            <a:ext cx="3401568" cy="1417320"/>
          </a:xfrm>
          <a:prstGeom prst="roundRect">
            <a:avLst>
              <a:gd name="adj" fmla="val 4516"/>
            </a:avLst>
          </a:prstGeom>
          <a:solidFill>
            <a:srgbClr val="F7FAFC"/>
          </a:solidFill>
          <a:ln/>
          <a:effectLst>
            <a:outerShdw sx="100000" sy="100000" kx="0" ky="0" algn="bl" rotWithShape="0" blurRad="101600" dist="25400" dir="5400000">
              <a:srgbClr val="13294B">
                <a:alpha val="12000"/>
              </a:srgbClr>
            </a:outerShdw>
          </a:effectLst>
        </p:spPr>
      </p:sp>
      <p:sp>
        <p:nvSpPr>
          <p:cNvPr id="20" name="Shape 15"/>
          <p:cNvSpPr/>
          <p:nvPr/>
        </p:nvSpPr>
        <p:spPr>
          <a:xfrm>
            <a:off x="4251960" y="3209544"/>
            <a:ext cx="396850" cy="396850"/>
          </a:xfrm>
          <a:prstGeom prst="ellipse">
            <a:avLst/>
          </a:prstGeom>
          <a:solidFill>
            <a:srgbClr val="3D8EC9"/>
          </a:solidFill>
          <a:ln/>
        </p:spPr>
      </p:sp>
      <p:pic>
        <p:nvPicPr>
          <p:cNvPr id="21" name="Image 3" descr="/home/claude/wms_deck/assets/icons/trophy_white.png">    </p:cNvPr>
          <p:cNvPicPr>
            <a:picLocks noChangeAspect="1"/>
          </p:cNvPicPr>
          <p:nvPr/>
        </p:nvPicPr>
        <p:blipFill>
          <a:blip r:embed="rId4"/>
          <a:stretch>
            <a:fillRect/>
          </a:stretch>
        </p:blipFill>
        <p:spPr>
          <a:xfrm>
            <a:off x="4359109" y="3316693"/>
            <a:ext cx="182551" cy="182551"/>
          </a:xfrm>
          <a:prstGeom prst="rect">
            <a:avLst/>
          </a:prstGeom>
        </p:spPr>
      </p:pic>
      <p:sp>
        <p:nvSpPr>
          <p:cNvPr id="22" name="Text 16"/>
          <p:cNvSpPr/>
          <p:nvPr/>
        </p:nvSpPr>
        <p:spPr>
          <a:xfrm>
            <a:off x="4795114" y="3172968"/>
            <a:ext cx="2474366" cy="47000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Product Ranking Report</a:t>
            </a:r>
            <a:endParaRPr lang="en-US" sz="1200" dirty="0"/>
          </a:p>
        </p:txBody>
      </p:sp>
      <p:sp>
        <p:nvSpPr>
          <p:cNvPr id="23" name="Text 17"/>
          <p:cNvSpPr/>
          <p:nvPr/>
        </p:nvSpPr>
        <p:spPr>
          <a:xfrm>
            <a:off x="4251960" y="3716122"/>
            <a:ext cx="2999232" cy="581558"/>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Best-sellers using RANK() / DENSE_RANK().</a:t>
            </a:r>
            <a:endParaRPr lang="en-US" sz="1000" dirty="0"/>
          </a:p>
        </p:txBody>
      </p:sp>
      <p:sp>
        <p:nvSpPr>
          <p:cNvPr id="24" name="Shape 18"/>
          <p:cNvSpPr/>
          <p:nvPr/>
        </p:nvSpPr>
        <p:spPr>
          <a:xfrm>
            <a:off x="502920" y="4590288"/>
            <a:ext cx="3401568" cy="1417320"/>
          </a:xfrm>
          <a:prstGeom prst="roundRect">
            <a:avLst>
              <a:gd name="adj" fmla="val 4516"/>
            </a:avLst>
          </a:prstGeom>
          <a:solidFill>
            <a:srgbClr val="F7FAFC"/>
          </a:solidFill>
          <a:ln/>
          <a:effectLst>
            <a:outerShdw sx="100000" sy="100000" kx="0" ky="0" algn="bl" rotWithShape="0" blurRad="101600" dist="25400" dir="5400000">
              <a:srgbClr val="13294B">
                <a:alpha val="12000"/>
              </a:srgbClr>
            </a:outerShdw>
          </a:effectLst>
        </p:spPr>
      </p:sp>
      <p:sp>
        <p:nvSpPr>
          <p:cNvPr id="25" name="Shape 19"/>
          <p:cNvSpPr/>
          <p:nvPr/>
        </p:nvSpPr>
        <p:spPr>
          <a:xfrm>
            <a:off x="704088" y="4773168"/>
            <a:ext cx="396850" cy="396850"/>
          </a:xfrm>
          <a:prstGeom prst="ellipse">
            <a:avLst/>
          </a:prstGeom>
          <a:solidFill>
            <a:srgbClr val="3D8EC9"/>
          </a:solidFill>
          <a:ln/>
        </p:spPr>
      </p:sp>
      <p:pic>
        <p:nvPicPr>
          <p:cNvPr id="26" name="Image 4" descr="/home/claude/wms_deck/assets/icons/handshake_white.png">    </p:cNvPr>
          <p:cNvPicPr>
            <a:picLocks noChangeAspect="1"/>
          </p:cNvPicPr>
          <p:nvPr/>
        </p:nvPicPr>
        <p:blipFill>
          <a:blip r:embed="rId5"/>
          <a:stretch>
            <a:fillRect/>
          </a:stretch>
        </p:blipFill>
        <p:spPr>
          <a:xfrm>
            <a:off x="811237" y="4880317"/>
            <a:ext cx="182551" cy="182551"/>
          </a:xfrm>
          <a:prstGeom prst="rect">
            <a:avLst/>
          </a:prstGeom>
        </p:spPr>
      </p:pic>
      <p:sp>
        <p:nvSpPr>
          <p:cNvPr id="27" name="Text 20"/>
          <p:cNvSpPr/>
          <p:nvPr/>
        </p:nvSpPr>
        <p:spPr>
          <a:xfrm>
            <a:off x="1247242" y="4736592"/>
            <a:ext cx="2474366" cy="47000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Supplier Report</a:t>
            </a:r>
            <a:endParaRPr lang="en-US" sz="1200" dirty="0"/>
          </a:p>
        </p:txBody>
      </p:sp>
      <p:sp>
        <p:nvSpPr>
          <p:cNvPr id="28" name="Text 21"/>
          <p:cNvSpPr/>
          <p:nvPr/>
        </p:nvSpPr>
        <p:spPr>
          <a:xfrm>
            <a:off x="704088" y="5279746"/>
            <a:ext cx="2999232" cy="581558"/>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Products and order volume grouped by supplier.</a:t>
            </a:r>
            <a:endParaRPr lang="en-US" sz="1000" dirty="0"/>
          </a:p>
        </p:txBody>
      </p:sp>
      <p:sp>
        <p:nvSpPr>
          <p:cNvPr id="29" name="Shape 22"/>
          <p:cNvSpPr/>
          <p:nvPr/>
        </p:nvSpPr>
        <p:spPr>
          <a:xfrm>
            <a:off x="4050792" y="4590288"/>
            <a:ext cx="3401568" cy="1417320"/>
          </a:xfrm>
          <a:prstGeom prst="roundRect">
            <a:avLst>
              <a:gd name="adj" fmla="val 4516"/>
            </a:avLst>
          </a:prstGeom>
          <a:solidFill>
            <a:srgbClr val="F7FAFC"/>
          </a:solidFill>
          <a:ln/>
          <a:effectLst>
            <a:outerShdw sx="100000" sy="100000" kx="0" ky="0" algn="bl" rotWithShape="0" blurRad="101600" dist="25400" dir="5400000">
              <a:srgbClr val="13294B">
                <a:alpha val="12000"/>
              </a:srgbClr>
            </a:outerShdw>
          </a:effectLst>
        </p:spPr>
      </p:sp>
      <p:sp>
        <p:nvSpPr>
          <p:cNvPr id="30" name="Shape 23"/>
          <p:cNvSpPr/>
          <p:nvPr/>
        </p:nvSpPr>
        <p:spPr>
          <a:xfrm>
            <a:off x="4251960" y="4773168"/>
            <a:ext cx="396850" cy="396850"/>
          </a:xfrm>
          <a:prstGeom prst="ellipse">
            <a:avLst/>
          </a:prstGeom>
          <a:solidFill>
            <a:srgbClr val="3D8EC9"/>
          </a:solidFill>
          <a:ln/>
        </p:spPr>
      </p:sp>
      <p:pic>
        <p:nvPicPr>
          <p:cNvPr id="31" name="Image 5" descr="/home/claude/wms_deck/assets/icons/chartPie_white.png">    </p:cNvPr>
          <p:cNvPicPr>
            <a:picLocks noChangeAspect="1"/>
          </p:cNvPicPr>
          <p:nvPr/>
        </p:nvPicPr>
        <p:blipFill>
          <a:blip r:embed="rId6"/>
          <a:stretch>
            <a:fillRect/>
          </a:stretch>
        </p:blipFill>
        <p:spPr>
          <a:xfrm>
            <a:off x="4359109" y="4880317"/>
            <a:ext cx="182551" cy="182551"/>
          </a:xfrm>
          <a:prstGeom prst="rect">
            <a:avLst/>
          </a:prstGeom>
        </p:spPr>
      </p:pic>
      <p:sp>
        <p:nvSpPr>
          <p:cNvPr id="32" name="Text 24"/>
          <p:cNvSpPr/>
          <p:nvPr/>
        </p:nvSpPr>
        <p:spPr>
          <a:xfrm>
            <a:off x="4795114" y="4736592"/>
            <a:ext cx="2474366" cy="470002"/>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Inventory Value Report</a:t>
            </a:r>
            <a:endParaRPr lang="en-US" sz="1200" dirty="0"/>
          </a:p>
        </p:txBody>
      </p:sp>
      <p:sp>
        <p:nvSpPr>
          <p:cNvPr id="33" name="Text 25"/>
          <p:cNvSpPr/>
          <p:nvPr/>
        </p:nvSpPr>
        <p:spPr>
          <a:xfrm>
            <a:off x="4251960" y="5279746"/>
            <a:ext cx="2999232" cy="581558"/>
          </a:xfrm>
          <a:prstGeom prst="rect">
            <a:avLst/>
          </a:prstGeom>
          <a:noFill/>
          <a:ln/>
        </p:spPr>
        <p:txBody>
          <a:bodyPr wrap="square" rtlCol="0" anchor="t"/>
          <a:lstStyle/>
          <a:p>
            <a:pPr indent="0" marL="0">
              <a:lnSpc>
                <a:spcPct val="112000"/>
              </a:lnSpc>
              <a:buNone/>
            </a:pPr>
            <a:r>
              <a:rPr lang="en-US" sz="1000" dirty="0">
                <a:solidFill>
                  <a:srgbClr val="5B6B7C"/>
                </a:solidFill>
                <a:latin typeface="Calibri" pitchFamily="34" charset="0"/>
                <a:ea typeface="Calibri" pitchFamily="34" charset="-122"/>
                <a:cs typeface="Calibri" pitchFamily="34" charset="-120"/>
              </a:rPr>
              <a:t>Total stock value = quantity × unit price.</a:t>
            </a:r>
            <a:endParaRPr lang="en-US" sz="1000" dirty="0"/>
          </a:p>
        </p:txBody>
      </p:sp>
      <p:sp>
        <p:nvSpPr>
          <p:cNvPr id="34" name="Text 26"/>
          <p:cNvSpPr/>
          <p:nvPr/>
        </p:nvSpPr>
        <p:spPr>
          <a:xfrm>
            <a:off x="7635240" y="1463040"/>
            <a:ext cx="4069080" cy="256032"/>
          </a:xfrm>
          <a:prstGeom prst="rect">
            <a:avLst/>
          </a:prstGeom>
          <a:noFill/>
          <a:ln/>
        </p:spPr>
        <p:txBody>
          <a:bodyPr wrap="square" rtlCol="0" anchor="ctr"/>
          <a:lstStyle/>
          <a:p>
            <a:pPr indent="0" marL="0">
              <a:buNone/>
            </a:pPr>
            <a:r>
              <a:rPr lang="en-US" sz="1050" b="1" spc="50" kern="0" dirty="0">
                <a:solidFill>
                  <a:srgbClr val="3D8EC9"/>
                </a:solidFill>
                <a:latin typeface="Calibri" pitchFamily="34" charset="0"/>
                <a:ea typeface="Calibri" pitchFamily="34" charset="-122"/>
                <a:cs typeface="Calibri" pitchFamily="34" charset="-120"/>
              </a:rPr>
              <a:t>SAMPLE REPORT QUERIES</a:t>
            </a:r>
            <a:endParaRPr lang="en-US" sz="1050" dirty="0"/>
          </a:p>
        </p:txBody>
      </p:sp>
      <p:sp>
        <p:nvSpPr>
          <p:cNvPr id="35" name="Shape 27"/>
          <p:cNvSpPr/>
          <p:nvPr/>
        </p:nvSpPr>
        <p:spPr>
          <a:xfrm>
            <a:off x="7635240" y="1783080"/>
            <a:ext cx="4069080" cy="1417320"/>
          </a:xfrm>
          <a:prstGeom prst="roundRect">
            <a:avLst>
              <a:gd name="adj" fmla="val 3871"/>
            </a:avLst>
          </a:prstGeom>
          <a:solidFill>
            <a:srgbClr val="0C1B33"/>
          </a:solidFill>
          <a:ln/>
          <a:effectLst>
            <a:outerShdw sx="100000" sy="100000" kx="0" ky="0" algn="bl" rotWithShape="0" blurRad="127000" dist="38100" dir="5400000">
              <a:srgbClr val="000000">
                <a:alpha val="25000"/>
              </a:srgbClr>
            </a:outerShdw>
          </a:effectLst>
        </p:spPr>
      </p:sp>
      <p:sp>
        <p:nvSpPr>
          <p:cNvPr id="36" name="Shape 28"/>
          <p:cNvSpPr/>
          <p:nvPr/>
        </p:nvSpPr>
        <p:spPr>
          <a:xfrm>
            <a:off x="7799832" y="1929384"/>
            <a:ext cx="100584" cy="100584"/>
          </a:xfrm>
          <a:prstGeom prst="ellipse">
            <a:avLst/>
          </a:prstGeom>
          <a:solidFill>
            <a:srgbClr val="B54A45"/>
          </a:solidFill>
          <a:ln/>
        </p:spPr>
      </p:sp>
      <p:sp>
        <p:nvSpPr>
          <p:cNvPr id="37" name="Shape 29"/>
          <p:cNvSpPr/>
          <p:nvPr/>
        </p:nvSpPr>
        <p:spPr>
          <a:xfrm>
            <a:off x="8001000" y="1929384"/>
            <a:ext cx="100584" cy="100584"/>
          </a:xfrm>
          <a:prstGeom prst="ellipse">
            <a:avLst/>
          </a:prstGeom>
          <a:solidFill>
            <a:srgbClr val="C9962E"/>
          </a:solidFill>
          <a:ln/>
        </p:spPr>
      </p:sp>
      <p:sp>
        <p:nvSpPr>
          <p:cNvPr id="38" name="Shape 30"/>
          <p:cNvSpPr/>
          <p:nvPr/>
        </p:nvSpPr>
        <p:spPr>
          <a:xfrm>
            <a:off x="8202168" y="1929384"/>
            <a:ext cx="100584" cy="100584"/>
          </a:xfrm>
          <a:prstGeom prst="ellipse">
            <a:avLst/>
          </a:prstGeom>
          <a:solidFill>
            <a:srgbClr val="2F8F5B"/>
          </a:solidFill>
          <a:ln/>
        </p:spPr>
      </p:sp>
      <p:sp>
        <p:nvSpPr>
          <p:cNvPr id="39" name="Text 31"/>
          <p:cNvSpPr/>
          <p:nvPr/>
        </p:nvSpPr>
        <p:spPr>
          <a:xfrm>
            <a:off x="8549640" y="1874520"/>
            <a:ext cx="297180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low_stock_report.sql</a:t>
            </a:r>
            <a:endParaRPr lang="en-US" sz="950" dirty="0"/>
          </a:p>
        </p:txBody>
      </p:sp>
      <p:sp>
        <p:nvSpPr>
          <p:cNvPr id="40" name="Text 32"/>
          <p:cNvSpPr/>
          <p:nvPr/>
        </p:nvSpPr>
        <p:spPr>
          <a:xfrm>
            <a:off x="7891272" y="2167128"/>
            <a:ext cx="3557016" cy="868680"/>
          </a:xfrm>
          <a:prstGeom prst="rect">
            <a:avLst/>
          </a:prstGeom>
          <a:noFill/>
          <a:ln/>
        </p:spPr>
        <p:txBody>
          <a:bodyPr wrap="square" rtlCol="0" anchor="t"/>
          <a:lstStyle/>
          <a:p>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SELECT</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a:t>
            </a:r>
            <a:endParaRPr lang="en-US" sz="1200" dirty="0"/>
          </a:p>
          <a:p>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Products</a:t>
            </a:r>
            <a:endParaRPr lang="en-US" sz="1200" dirty="0"/>
          </a:p>
          <a:p>
            <a:pPr indent="0" marL="0">
              <a:lnSpc>
                <a:spcPct val="118000"/>
              </a:lnSpc>
              <a:buNone/>
            </a:pPr>
            <a:r>
              <a:rPr lang="en-US" sz="1200" b="1" dirty="0">
                <a:solidFill>
                  <a:srgbClr val="6FC3E8"/>
                </a:solidFill>
                <a:latin typeface="Courier New" pitchFamily="34" charset="0"/>
                <a:ea typeface="Courier New" pitchFamily="34" charset="-122"/>
                <a:cs typeface="Courier New" pitchFamily="34" charset="-120"/>
              </a:rPr>
              <a:t>WHERE</a:t>
            </a:r>
            <a:pPr indent="0" marL="0">
              <a:lnSpc>
                <a:spcPct val="118000"/>
              </a:lnSpc>
              <a:buNone/>
            </a:pPr>
            <a:r>
              <a:rPr lang="en-US" sz="1200" dirty="0">
                <a:solidFill>
                  <a:srgbClr val="E7EEF5"/>
                </a:solidFill>
                <a:latin typeface="Courier New" pitchFamily="34" charset="0"/>
                <a:ea typeface="Courier New" pitchFamily="34" charset="-122"/>
                <a:cs typeface="Courier New" pitchFamily="34" charset="-120"/>
              </a:rPr>
              <a:t> Quantity_In_Stock &lt; 20;</a:t>
            </a:r>
            <a:endParaRPr lang="en-US" sz="1200" dirty="0"/>
          </a:p>
        </p:txBody>
      </p:sp>
      <p:sp>
        <p:nvSpPr>
          <p:cNvPr id="41" name="Text 33"/>
          <p:cNvSpPr/>
          <p:nvPr/>
        </p:nvSpPr>
        <p:spPr>
          <a:xfrm>
            <a:off x="7635240" y="3273552"/>
            <a:ext cx="4069080" cy="502920"/>
          </a:xfrm>
          <a:prstGeom prst="rect">
            <a:avLst/>
          </a:prstGeom>
          <a:noFill/>
          <a:ln/>
        </p:spPr>
        <p:txBody>
          <a:bodyPr wrap="square" rtlCol="0" anchor="t"/>
          <a:lstStyle/>
          <a:p>
            <a:pPr indent="0" marL="0">
              <a:lnSpc>
                <a:spcPct val="110000"/>
              </a:lnSpc>
              <a:buNone/>
            </a:pPr>
            <a:r>
              <a:rPr lang="en-US" sz="950" i="1" dirty="0">
                <a:solidFill>
                  <a:srgbClr val="5B6B7C"/>
                </a:solidFill>
                <a:latin typeface="Calibri" pitchFamily="34" charset="0"/>
                <a:ea typeface="Calibri" pitchFamily="34" charset="-122"/>
                <a:cs typeface="Calibri" pitchFamily="34" charset="-120"/>
              </a:rPr>
              <a:t>Returns every product at risk of running out, so purchasing can reorder before a stockout.</a:t>
            </a:r>
            <a:endParaRPr lang="en-US" sz="950" dirty="0"/>
          </a:p>
        </p:txBody>
      </p:sp>
      <p:sp>
        <p:nvSpPr>
          <p:cNvPr id="42" name="Shape 34"/>
          <p:cNvSpPr/>
          <p:nvPr/>
        </p:nvSpPr>
        <p:spPr>
          <a:xfrm>
            <a:off x="7635240" y="3886200"/>
            <a:ext cx="4069080" cy="1417320"/>
          </a:xfrm>
          <a:prstGeom prst="roundRect">
            <a:avLst>
              <a:gd name="adj" fmla="val 3871"/>
            </a:avLst>
          </a:prstGeom>
          <a:solidFill>
            <a:srgbClr val="0C1B33"/>
          </a:solidFill>
          <a:ln/>
          <a:effectLst>
            <a:outerShdw sx="100000" sy="100000" kx="0" ky="0" algn="bl" rotWithShape="0" blurRad="127000" dist="38100" dir="5400000">
              <a:srgbClr val="000000">
                <a:alpha val="25000"/>
              </a:srgbClr>
            </a:outerShdw>
          </a:effectLst>
        </p:spPr>
      </p:sp>
      <p:sp>
        <p:nvSpPr>
          <p:cNvPr id="43" name="Shape 35"/>
          <p:cNvSpPr/>
          <p:nvPr/>
        </p:nvSpPr>
        <p:spPr>
          <a:xfrm>
            <a:off x="7799832" y="4032504"/>
            <a:ext cx="100584" cy="100584"/>
          </a:xfrm>
          <a:prstGeom prst="ellipse">
            <a:avLst/>
          </a:prstGeom>
          <a:solidFill>
            <a:srgbClr val="B54A45"/>
          </a:solidFill>
          <a:ln/>
        </p:spPr>
      </p:sp>
      <p:sp>
        <p:nvSpPr>
          <p:cNvPr id="44" name="Shape 36"/>
          <p:cNvSpPr/>
          <p:nvPr/>
        </p:nvSpPr>
        <p:spPr>
          <a:xfrm>
            <a:off x="8001000" y="4032504"/>
            <a:ext cx="100584" cy="100584"/>
          </a:xfrm>
          <a:prstGeom prst="ellipse">
            <a:avLst/>
          </a:prstGeom>
          <a:solidFill>
            <a:srgbClr val="C9962E"/>
          </a:solidFill>
          <a:ln/>
        </p:spPr>
      </p:sp>
      <p:sp>
        <p:nvSpPr>
          <p:cNvPr id="45" name="Shape 37"/>
          <p:cNvSpPr/>
          <p:nvPr/>
        </p:nvSpPr>
        <p:spPr>
          <a:xfrm>
            <a:off x="8202168" y="4032504"/>
            <a:ext cx="100584" cy="100584"/>
          </a:xfrm>
          <a:prstGeom prst="ellipse">
            <a:avLst/>
          </a:prstGeom>
          <a:solidFill>
            <a:srgbClr val="2F8F5B"/>
          </a:solidFill>
          <a:ln/>
        </p:spPr>
      </p:sp>
      <p:sp>
        <p:nvSpPr>
          <p:cNvPr id="46" name="Text 38"/>
          <p:cNvSpPr/>
          <p:nvPr/>
        </p:nvSpPr>
        <p:spPr>
          <a:xfrm>
            <a:off x="8549640" y="3977640"/>
            <a:ext cx="2971800" cy="219456"/>
          </a:xfrm>
          <a:prstGeom prst="rect">
            <a:avLst/>
          </a:prstGeom>
          <a:noFill/>
          <a:ln/>
        </p:spPr>
        <p:txBody>
          <a:bodyPr wrap="square" rtlCol="0" anchor="ctr"/>
          <a:lstStyle/>
          <a:p>
            <a:pPr algn="l" indent="0" marL="0">
              <a:buNone/>
            </a:pPr>
            <a:r>
              <a:rPr lang="en-US" sz="950" dirty="0">
                <a:solidFill>
                  <a:srgbClr val="7FA9CC"/>
                </a:solidFill>
                <a:latin typeface="Courier New" pitchFamily="34" charset="0"/>
                <a:ea typeface="Courier New" pitchFamily="34" charset="-122"/>
                <a:cs typeface="Courier New" pitchFamily="34" charset="-120"/>
              </a:rPr>
              <a:t>total_inventory_value.sql</a:t>
            </a:r>
            <a:endParaRPr lang="en-US" sz="950" dirty="0"/>
          </a:p>
        </p:txBody>
      </p:sp>
      <p:sp>
        <p:nvSpPr>
          <p:cNvPr id="47" name="Text 39"/>
          <p:cNvSpPr/>
          <p:nvPr/>
        </p:nvSpPr>
        <p:spPr>
          <a:xfrm>
            <a:off x="7891272" y="4270248"/>
            <a:ext cx="3557016" cy="868680"/>
          </a:xfrm>
          <a:prstGeom prst="rect">
            <a:avLst/>
          </a:prstGeom>
          <a:noFill/>
          <a:ln/>
        </p:spPr>
        <p:txBody>
          <a:bodyPr wrap="square" rtlCol="0" anchor="t"/>
          <a:lstStyle/>
          <a:p>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SELECT</a:t>
            </a:r>
            <a:pPr indent="0" marL="0">
              <a:lnSpc>
                <a:spcPct val="118000"/>
              </a:lnSpc>
              <a:buNone/>
            </a:pP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SUM(Unit_Price * Quantity_In_Stock)</a:t>
            </a:r>
            <a:endParaRPr lang="en-US" sz="1150" dirty="0"/>
          </a:p>
          <a:p>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a:t>
            </a:r>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AS</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Total_Inventory_Value</a:t>
            </a:r>
            <a:endParaRPr lang="en-US" sz="1150" dirty="0"/>
          </a:p>
          <a:p>
            <a:pPr indent="0" marL="0">
              <a:lnSpc>
                <a:spcPct val="118000"/>
              </a:lnSpc>
              <a:buNone/>
            </a:pPr>
            <a:r>
              <a:rPr lang="en-US" sz="1150" b="1" dirty="0">
                <a:solidFill>
                  <a:srgbClr val="6FC3E8"/>
                </a:solidFill>
                <a:latin typeface="Courier New" pitchFamily="34" charset="0"/>
                <a:ea typeface="Courier New" pitchFamily="34" charset="-122"/>
                <a:cs typeface="Courier New" pitchFamily="34" charset="-120"/>
              </a:rPr>
              <a:t>FROM</a:t>
            </a:r>
            <a:pPr indent="0" marL="0">
              <a:lnSpc>
                <a:spcPct val="118000"/>
              </a:lnSpc>
              <a:buNone/>
            </a:pPr>
            <a:r>
              <a:rPr lang="en-US" sz="1150" dirty="0">
                <a:solidFill>
                  <a:srgbClr val="E7EEF5"/>
                </a:solidFill>
                <a:latin typeface="Courier New" pitchFamily="34" charset="0"/>
                <a:ea typeface="Courier New" pitchFamily="34" charset="-122"/>
                <a:cs typeface="Courier New" pitchFamily="34" charset="-120"/>
              </a:rPr>
              <a:t> Products;</a:t>
            </a:r>
            <a:endParaRPr lang="en-US" sz="1150" dirty="0"/>
          </a:p>
        </p:txBody>
      </p:sp>
      <p:sp>
        <p:nvSpPr>
          <p:cNvPr id="48" name="Text 40"/>
          <p:cNvSpPr/>
          <p:nvPr/>
        </p:nvSpPr>
        <p:spPr>
          <a:xfrm>
            <a:off x="7635240" y="5376672"/>
            <a:ext cx="4069080" cy="457200"/>
          </a:xfrm>
          <a:prstGeom prst="rect">
            <a:avLst/>
          </a:prstGeom>
          <a:noFill/>
          <a:ln/>
        </p:spPr>
        <p:txBody>
          <a:bodyPr wrap="square" rtlCol="0" anchor="t"/>
          <a:lstStyle/>
          <a:p>
            <a:pPr indent="0" marL="0">
              <a:lnSpc>
                <a:spcPct val="110000"/>
              </a:lnSpc>
              <a:buNone/>
            </a:pPr>
            <a:r>
              <a:rPr lang="en-US" sz="950" i="1" dirty="0">
                <a:solidFill>
                  <a:srgbClr val="5B6B7C"/>
                </a:solidFill>
                <a:latin typeface="Calibri" pitchFamily="34" charset="0"/>
                <a:ea typeface="Calibri" pitchFamily="34" charset="-122"/>
                <a:cs typeface="Calibri" pitchFamily="34" charset="-120"/>
              </a:rPr>
              <a:t>Returns one number: the full warehouse’s stock value at current unit prices.</a:t>
            </a:r>
            <a:endParaRPr lang="en-US" sz="950" dirty="0"/>
          </a:p>
        </p:txBody>
      </p:sp>
      <p:sp>
        <p:nvSpPr>
          <p:cNvPr id="49" name="Shape 41"/>
          <p:cNvSpPr/>
          <p:nvPr/>
        </p:nvSpPr>
        <p:spPr>
          <a:xfrm>
            <a:off x="11451031" y="6437376"/>
            <a:ext cx="237744" cy="237744"/>
          </a:xfrm>
          <a:prstGeom prst="ellipse">
            <a:avLst/>
          </a:prstGeom>
          <a:solidFill>
            <a:srgbClr val="EEF3F8"/>
          </a:solidFill>
          <a:ln/>
        </p:spPr>
      </p:sp>
      <p:pic>
        <p:nvPicPr>
          <p:cNvPr id="50" name="Image 6" descr="/home/claude/wms_deck/assets/icons/database_navy.png">    </p:cNvPr>
          <p:cNvPicPr>
            <a:picLocks noChangeAspect="1"/>
          </p:cNvPicPr>
          <p:nvPr/>
        </p:nvPicPr>
        <p:blipFill>
          <a:blip r:embed="rId7"/>
          <a:stretch>
            <a:fillRect/>
          </a:stretch>
        </p:blipFill>
        <p:spPr>
          <a:xfrm>
            <a:off x="11515222" y="6501567"/>
            <a:ext cx="109362" cy="109362"/>
          </a:xfrm>
          <a:prstGeom prst="rect">
            <a:avLst/>
          </a:prstGeom>
        </p:spPr>
      </p:pic>
      <p:sp>
        <p:nvSpPr>
          <p:cNvPr id="51" name="Text 42"/>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52" name="Text 43"/>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LIVE DEMONSTRATION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Oracle SQL Developer — Screenshot Placeholders</a:t>
            </a:r>
            <a:endParaRPr lang="en-US" sz="3000" dirty="0"/>
          </a:p>
        </p:txBody>
      </p:sp>
      <p:sp>
        <p:nvSpPr>
          <p:cNvPr id="4" name="Shape 2"/>
          <p:cNvSpPr/>
          <p:nvPr/>
        </p:nvSpPr>
        <p:spPr>
          <a:xfrm>
            <a:off x="502920" y="1508760"/>
            <a:ext cx="2686736" cy="1472184"/>
          </a:xfrm>
          <a:prstGeom prst="roundRect">
            <a:avLst>
              <a:gd name="adj" fmla="val 3106"/>
            </a:avLst>
          </a:prstGeom>
          <a:solidFill>
            <a:srgbClr val="EEF3F8"/>
          </a:solidFill>
          <a:ln w="15875">
            <a:solidFill>
              <a:srgbClr val="3D8EC9"/>
            </a:solidFill>
            <a:prstDash val="dash"/>
          </a:ln>
        </p:spPr>
      </p:sp>
      <p:sp>
        <p:nvSpPr>
          <p:cNvPr id="5" name="Shape 3"/>
          <p:cNvSpPr/>
          <p:nvPr/>
        </p:nvSpPr>
        <p:spPr>
          <a:xfrm>
            <a:off x="1690840" y="1636776"/>
            <a:ext cx="310896" cy="310896"/>
          </a:xfrm>
          <a:prstGeom prst="ellipse">
            <a:avLst/>
          </a:prstGeom>
          <a:solidFill>
            <a:srgbClr val="3D8EC9"/>
          </a:solidFill>
          <a:ln/>
        </p:spPr>
      </p:sp>
      <p:pic>
        <p:nvPicPr>
          <p:cNvPr id="6" name="Image 0" descr="/home/claude/wms_deck/assets/icons/camera_white.png">    </p:cNvPr>
          <p:cNvPicPr>
            <a:picLocks noChangeAspect="1"/>
          </p:cNvPicPr>
          <p:nvPr/>
        </p:nvPicPr>
        <p:blipFill>
          <a:blip r:embed="rId1"/>
          <a:stretch>
            <a:fillRect/>
          </a:stretch>
        </p:blipFill>
        <p:spPr>
          <a:xfrm>
            <a:off x="1774782" y="1720718"/>
            <a:ext cx="143012" cy="143012"/>
          </a:xfrm>
          <a:prstGeom prst="rect">
            <a:avLst/>
          </a:prstGeom>
        </p:spPr>
      </p:pic>
      <p:sp>
        <p:nvSpPr>
          <p:cNvPr id="7" name="Text 4"/>
          <p:cNvSpPr/>
          <p:nvPr/>
        </p:nvSpPr>
        <p:spPr>
          <a:xfrm>
            <a:off x="594360" y="2002536"/>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Created Tables</a:t>
            </a:r>
            <a:endParaRPr lang="en-US" sz="1100" dirty="0"/>
          </a:p>
        </p:txBody>
      </p:sp>
      <p:sp>
        <p:nvSpPr>
          <p:cNvPr id="8" name="Text 5"/>
          <p:cNvSpPr/>
          <p:nvPr/>
        </p:nvSpPr>
        <p:spPr>
          <a:xfrm>
            <a:off x="612648" y="2313432"/>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SELECT table_name FROM user_tables;</a:t>
            </a:r>
            <a:endParaRPr lang="en-US" sz="850" dirty="0"/>
          </a:p>
        </p:txBody>
      </p:sp>
      <p:sp>
        <p:nvSpPr>
          <p:cNvPr id="9" name="Shape 6"/>
          <p:cNvSpPr/>
          <p:nvPr/>
        </p:nvSpPr>
        <p:spPr>
          <a:xfrm>
            <a:off x="3335960" y="1508760"/>
            <a:ext cx="2686736" cy="1472184"/>
          </a:xfrm>
          <a:prstGeom prst="roundRect">
            <a:avLst>
              <a:gd name="adj" fmla="val 3106"/>
            </a:avLst>
          </a:prstGeom>
          <a:solidFill>
            <a:srgbClr val="EEF3F8"/>
          </a:solidFill>
          <a:ln w="15875">
            <a:solidFill>
              <a:srgbClr val="3D8EC9"/>
            </a:solidFill>
            <a:prstDash val="dash"/>
          </a:ln>
        </p:spPr>
      </p:sp>
      <p:sp>
        <p:nvSpPr>
          <p:cNvPr id="10" name="Shape 7"/>
          <p:cNvSpPr/>
          <p:nvPr/>
        </p:nvSpPr>
        <p:spPr>
          <a:xfrm>
            <a:off x="4523880" y="1636776"/>
            <a:ext cx="310896" cy="310896"/>
          </a:xfrm>
          <a:prstGeom prst="ellipse">
            <a:avLst/>
          </a:prstGeom>
          <a:solidFill>
            <a:srgbClr val="3D8EC9"/>
          </a:solidFill>
          <a:ln/>
        </p:spPr>
      </p:sp>
      <p:pic>
        <p:nvPicPr>
          <p:cNvPr id="11" name="Image 1" descr="/home/claude/wms_deck/assets/icons/camera_white.png">    </p:cNvPr>
          <p:cNvPicPr>
            <a:picLocks noChangeAspect="1"/>
          </p:cNvPicPr>
          <p:nvPr/>
        </p:nvPicPr>
        <p:blipFill>
          <a:blip r:embed="rId2"/>
          <a:stretch>
            <a:fillRect/>
          </a:stretch>
        </p:blipFill>
        <p:spPr>
          <a:xfrm>
            <a:off x="4607822" y="1720718"/>
            <a:ext cx="143012" cy="143012"/>
          </a:xfrm>
          <a:prstGeom prst="rect">
            <a:avLst/>
          </a:prstGeom>
        </p:spPr>
      </p:pic>
      <p:sp>
        <p:nvSpPr>
          <p:cNvPr id="12" name="Text 8"/>
          <p:cNvSpPr/>
          <p:nvPr/>
        </p:nvSpPr>
        <p:spPr>
          <a:xfrm>
            <a:off x="3427400" y="2002536"/>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Database Connection</a:t>
            </a:r>
            <a:endParaRPr lang="en-US" sz="1100" dirty="0"/>
          </a:p>
        </p:txBody>
      </p:sp>
      <p:sp>
        <p:nvSpPr>
          <p:cNvPr id="13" name="Text 9"/>
          <p:cNvSpPr/>
          <p:nvPr/>
        </p:nvSpPr>
        <p:spPr>
          <a:xfrm>
            <a:off x="3445688" y="2313432"/>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active SQL Developer connection.</a:t>
            </a:r>
            <a:endParaRPr lang="en-US" sz="850" dirty="0"/>
          </a:p>
        </p:txBody>
      </p:sp>
      <p:sp>
        <p:nvSpPr>
          <p:cNvPr id="14" name="Shape 10"/>
          <p:cNvSpPr/>
          <p:nvPr/>
        </p:nvSpPr>
        <p:spPr>
          <a:xfrm>
            <a:off x="6169000" y="1508760"/>
            <a:ext cx="2686736" cy="1472184"/>
          </a:xfrm>
          <a:prstGeom prst="roundRect">
            <a:avLst>
              <a:gd name="adj" fmla="val 3106"/>
            </a:avLst>
          </a:prstGeom>
          <a:solidFill>
            <a:srgbClr val="EEF3F8"/>
          </a:solidFill>
          <a:ln w="15875">
            <a:solidFill>
              <a:srgbClr val="3D8EC9"/>
            </a:solidFill>
            <a:prstDash val="dash"/>
          </a:ln>
        </p:spPr>
      </p:sp>
      <p:sp>
        <p:nvSpPr>
          <p:cNvPr id="15" name="Shape 11"/>
          <p:cNvSpPr/>
          <p:nvPr/>
        </p:nvSpPr>
        <p:spPr>
          <a:xfrm>
            <a:off x="7356920" y="1636776"/>
            <a:ext cx="310896" cy="310896"/>
          </a:xfrm>
          <a:prstGeom prst="ellipse">
            <a:avLst/>
          </a:prstGeom>
          <a:solidFill>
            <a:srgbClr val="3D8EC9"/>
          </a:solidFill>
          <a:ln/>
        </p:spPr>
      </p:sp>
      <p:pic>
        <p:nvPicPr>
          <p:cNvPr id="16" name="Image 2" descr="/home/claude/wms_deck/assets/icons/camera_white.png">    </p:cNvPr>
          <p:cNvPicPr>
            <a:picLocks noChangeAspect="1"/>
          </p:cNvPicPr>
          <p:nvPr/>
        </p:nvPicPr>
        <p:blipFill>
          <a:blip r:embed="rId3"/>
          <a:stretch>
            <a:fillRect/>
          </a:stretch>
        </p:blipFill>
        <p:spPr>
          <a:xfrm>
            <a:off x="7440861" y="1720718"/>
            <a:ext cx="143012" cy="143012"/>
          </a:xfrm>
          <a:prstGeom prst="rect">
            <a:avLst/>
          </a:prstGeom>
        </p:spPr>
      </p:pic>
      <p:sp>
        <p:nvSpPr>
          <p:cNvPr id="17" name="Text 12"/>
          <p:cNvSpPr/>
          <p:nvPr/>
        </p:nvSpPr>
        <p:spPr>
          <a:xfrm>
            <a:off x="6260440" y="2002536"/>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Products Table</a:t>
            </a:r>
            <a:endParaRPr lang="en-US" sz="1100" dirty="0"/>
          </a:p>
        </p:txBody>
      </p:sp>
      <p:sp>
        <p:nvSpPr>
          <p:cNvPr id="18" name="Text 13"/>
          <p:cNvSpPr/>
          <p:nvPr/>
        </p:nvSpPr>
        <p:spPr>
          <a:xfrm>
            <a:off x="6278728" y="2313432"/>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SELECT * FROM products;</a:t>
            </a:r>
            <a:endParaRPr lang="en-US" sz="850" dirty="0"/>
          </a:p>
        </p:txBody>
      </p:sp>
      <p:sp>
        <p:nvSpPr>
          <p:cNvPr id="19" name="Shape 14"/>
          <p:cNvSpPr/>
          <p:nvPr/>
        </p:nvSpPr>
        <p:spPr>
          <a:xfrm>
            <a:off x="9002039" y="1508760"/>
            <a:ext cx="2686736" cy="1472184"/>
          </a:xfrm>
          <a:prstGeom prst="roundRect">
            <a:avLst>
              <a:gd name="adj" fmla="val 3106"/>
            </a:avLst>
          </a:prstGeom>
          <a:solidFill>
            <a:srgbClr val="EEF3F8"/>
          </a:solidFill>
          <a:ln w="15875">
            <a:solidFill>
              <a:srgbClr val="3D8EC9"/>
            </a:solidFill>
            <a:prstDash val="dash"/>
          </a:ln>
        </p:spPr>
      </p:sp>
      <p:sp>
        <p:nvSpPr>
          <p:cNvPr id="20" name="Shape 15"/>
          <p:cNvSpPr/>
          <p:nvPr/>
        </p:nvSpPr>
        <p:spPr>
          <a:xfrm>
            <a:off x="10189959" y="1636776"/>
            <a:ext cx="310896" cy="310896"/>
          </a:xfrm>
          <a:prstGeom prst="ellipse">
            <a:avLst/>
          </a:prstGeom>
          <a:solidFill>
            <a:srgbClr val="3D8EC9"/>
          </a:solidFill>
          <a:ln/>
        </p:spPr>
      </p:sp>
      <p:pic>
        <p:nvPicPr>
          <p:cNvPr id="21" name="Image 3" descr="/home/claude/wms_deck/assets/icons/camera_white.png">    </p:cNvPr>
          <p:cNvPicPr>
            <a:picLocks noChangeAspect="1"/>
          </p:cNvPicPr>
          <p:nvPr/>
        </p:nvPicPr>
        <p:blipFill>
          <a:blip r:embed="rId4"/>
          <a:stretch>
            <a:fillRect/>
          </a:stretch>
        </p:blipFill>
        <p:spPr>
          <a:xfrm>
            <a:off x="10273901" y="1720718"/>
            <a:ext cx="143012" cy="143012"/>
          </a:xfrm>
          <a:prstGeom prst="rect">
            <a:avLst/>
          </a:prstGeom>
        </p:spPr>
      </p:pic>
      <p:sp>
        <p:nvSpPr>
          <p:cNvPr id="22" name="Text 16"/>
          <p:cNvSpPr/>
          <p:nvPr/>
        </p:nvSpPr>
        <p:spPr>
          <a:xfrm>
            <a:off x="9093479" y="2002536"/>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Orders Table</a:t>
            </a:r>
            <a:endParaRPr lang="en-US" sz="1100" dirty="0"/>
          </a:p>
        </p:txBody>
      </p:sp>
      <p:sp>
        <p:nvSpPr>
          <p:cNvPr id="23" name="Text 17"/>
          <p:cNvSpPr/>
          <p:nvPr/>
        </p:nvSpPr>
        <p:spPr>
          <a:xfrm>
            <a:off x="9111767" y="2313432"/>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SELECT * FROM orders;</a:t>
            </a:r>
            <a:endParaRPr lang="en-US" sz="850" dirty="0"/>
          </a:p>
        </p:txBody>
      </p:sp>
      <p:sp>
        <p:nvSpPr>
          <p:cNvPr id="24" name="Shape 18"/>
          <p:cNvSpPr/>
          <p:nvPr/>
        </p:nvSpPr>
        <p:spPr>
          <a:xfrm>
            <a:off x="502920" y="3127248"/>
            <a:ext cx="2686736" cy="1472184"/>
          </a:xfrm>
          <a:prstGeom prst="roundRect">
            <a:avLst>
              <a:gd name="adj" fmla="val 3106"/>
            </a:avLst>
          </a:prstGeom>
          <a:solidFill>
            <a:srgbClr val="EEF3F8"/>
          </a:solidFill>
          <a:ln w="15875">
            <a:solidFill>
              <a:srgbClr val="3D8EC9"/>
            </a:solidFill>
            <a:prstDash val="dash"/>
          </a:ln>
        </p:spPr>
      </p:sp>
      <p:sp>
        <p:nvSpPr>
          <p:cNvPr id="25" name="Shape 19"/>
          <p:cNvSpPr/>
          <p:nvPr/>
        </p:nvSpPr>
        <p:spPr>
          <a:xfrm>
            <a:off x="1690840" y="3255264"/>
            <a:ext cx="310896" cy="310896"/>
          </a:xfrm>
          <a:prstGeom prst="ellipse">
            <a:avLst/>
          </a:prstGeom>
          <a:solidFill>
            <a:srgbClr val="3D8EC9"/>
          </a:solidFill>
          <a:ln/>
        </p:spPr>
      </p:sp>
      <p:pic>
        <p:nvPicPr>
          <p:cNvPr id="26" name="Image 4" descr="/home/claude/wms_deck/assets/icons/camera_white.png">    </p:cNvPr>
          <p:cNvPicPr>
            <a:picLocks noChangeAspect="1"/>
          </p:cNvPicPr>
          <p:nvPr/>
        </p:nvPicPr>
        <p:blipFill>
          <a:blip r:embed="rId5"/>
          <a:stretch>
            <a:fillRect/>
          </a:stretch>
        </p:blipFill>
        <p:spPr>
          <a:xfrm>
            <a:off x="1774782" y="3339206"/>
            <a:ext cx="143012" cy="143012"/>
          </a:xfrm>
          <a:prstGeom prst="rect">
            <a:avLst/>
          </a:prstGeom>
        </p:spPr>
      </p:pic>
      <p:sp>
        <p:nvSpPr>
          <p:cNvPr id="27" name="Text 20"/>
          <p:cNvSpPr/>
          <p:nvPr/>
        </p:nvSpPr>
        <p:spPr>
          <a:xfrm>
            <a:off x="594360" y="3621024"/>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Anonymous Block Output</a:t>
            </a:r>
            <a:endParaRPr lang="en-US" sz="1100" dirty="0"/>
          </a:p>
        </p:txBody>
      </p:sp>
      <p:sp>
        <p:nvSpPr>
          <p:cNvPr id="28" name="Text 21"/>
          <p:cNvSpPr/>
          <p:nvPr/>
        </p:nvSpPr>
        <p:spPr>
          <a:xfrm>
            <a:off x="612648" y="3931920"/>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DBMS_OUTPUT from the stock-check block.</a:t>
            </a:r>
            <a:endParaRPr lang="en-US" sz="850" dirty="0"/>
          </a:p>
        </p:txBody>
      </p:sp>
      <p:sp>
        <p:nvSpPr>
          <p:cNvPr id="29" name="Shape 22"/>
          <p:cNvSpPr/>
          <p:nvPr/>
        </p:nvSpPr>
        <p:spPr>
          <a:xfrm>
            <a:off x="3335960" y="3127248"/>
            <a:ext cx="2686736" cy="1472184"/>
          </a:xfrm>
          <a:prstGeom prst="roundRect">
            <a:avLst>
              <a:gd name="adj" fmla="val 3106"/>
            </a:avLst>
          </a:prstGeom>
          <a:solidFill>
            <a:srgbClr val="EEF3F8"/>
          </a:solidFill>
          <a:ln w="15875">
            <a:solidFill>
              <a:srgbClr val="3D8EC9"/>
            </a:solidFill>
            <a:prstDash val="dash"/>
          </a:ln>
        </p:spPr>
      </p:sp>
      <p:sp>
        <p:nvSpPr>
          <p:cNvPr id="30" name="Shape 23"/>
          <p:cNvSpPr/>
          <p:nvPr/>
        </p:nvSpPr>
        <p:spPr>
          <a:xfrm>
            <a:off x="4523880" y="3255264"/>
            <a:ext cx="310896" cy="310896"/>
          </a:xfrm>
          <a:prstGeom prst="ellipse">
            <a:avLst/>
          </a:prstGeom>
          <a:solidFill>
            <a:srgbClr val="3D8EC9"/>
          </a:solidFill>
          <a:ln/>
        </p:spPr>
      </p:sp>
      <p:pic>
        <p:nvPicPr>
          <p:cNvPr id="31" name="Image 5" descr="/home/claude/wms_deck/assets/icons/camera_white.png">    </p:cNvPr>
          <p:cNvPicPr>
            <a:picLocks noChangeAspect="1"/>
          </p:cNvPicPr>
          <p:nvPr/>
        </p:nvPicPr>
        <p:blipFill>
          <a:blip r:embed="rId6"/>
          <a:stretch>
            <a:fillRect/>
          </a:stretch>
        </p:blipFill>
        <p:spPr>
          <a:xfrm>
            <a:off x="4607822" y="3339206"/>
            <a:ext cx="143012" cy="143012"/>
          </a:xfrm>
          <a:prstGeom prst="rect">
            <a:avLst/>
          </a:prstGeom>
        </p:spPr>
      </p:pic>
      <p:sp>
        <p:nvSpPr>
          <p:cNvPr id="32" name="Text 24"/>
          <p:cNvSpPr/>
          <p:nvPr/>
        </p:nvSpPr>
        <p:spPr>
          <a:xfrm>
            <a:off x="3427400" y="3621024"/>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Stored Procedure Output</a:t>
            </a:r>
            <a:endParaRPr lang="en-US" sz="1100" dirty="0"/>
          </a:p>
        </p:txBody>
      </p:sp>
      <p:sp>
        <p:nvSpPr>
          <p:cNvPr id="33" name="Text 25"/>
          <p:cNvSpPr/>
          <p:nvPr/>
        </p:nvSpPr>
        <p:spPr>
          <a:xfrm>
            <a:off x="3445688" y="3931920"/>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sell_product() executing successfully.</a:t>
            </a:r>
            <a:endParaRPr lang="en-US" sz="850" dirty="0"/>
          </a:p>
        </p:txBody>
      </p:sp>
      <p:sp>
        <p:nvSpPr>
          <p:cNvPr id="34" name="Shape 26"/>
          <p:cNvSpPr/>
          <p:nvPr/>
        </p:nvSpPr>
        <p:spPr>
          <a:xfrm>
            <a:off x="6169000" y="3127248"/>
            <a:ext cx="2686736" cy="1472184"/>
          </a:xfrm>
          <a:prstGeom prst="roundRect">
            <a:avLst>
              <a:gd name="adj" fmla="val 3106"/>
            </a:avLst>
          </a:prstGeom>
          <a:solidFill>
            <a:srgbClr val="EEF3F8"/>
          </a:solidFill>
          <a:ln w="15875">
            <a:solidFill>
              <a:srgbClr val="3D8EC9"/>
            </a:solidFill>
            <a:prstDash val="dash"/>
          </a:ln>
        </p:spPr>
      </p:sp>
      <p:sp>
        <p:nvSpPr>
          <p:cNvPr id="35" name="Shape 27"/>
          <p:cNvSpPr/>
          <p:nvPr/>
        </p:nvSpPr>
        <p:spPr>
          <a:xfrm>
            <a:off x="7356920" y="3255264"/>
            <a:ext cx="310896" cy="310896"/>
          </a:xfrm>
          <a:prstGeom prst="ellipse">
            <a:avLst/>
          </a:prstGeom>
          <a:solidFill>
            <a:srgbClr val="3D8EC9"/>
          </a:solidFill>
          <a:ln/>
        </p:spPr>
      </p:sp>
      <p:pic>
        <p:nvPicPr>
          <p:cNvPr id="36" name="Image 6" descr="/home/claude/wms_deck/assets/icons/camera_white.png">    </p:cNvPr>
          <p:cNvPicPr>
            <a:picLocks noChangeAspect="1"/>
          </p:cNvPicPr>
          <p:nvPr/>
        </p:nvPicPr>
        <p:blipFill>
          <a:blip r:embed="rId7"/>
          <a:stretch>
            <a:fillRect/>
          </a:stretch>
        </p:blipFill>
        <p:spPr>
          <a:xfrm>
            <a:off x="7440861" y="3339206"/>
            <a:ext cx="143012" cy="143012"/>
          </a:xfrm>
          <a:prstGeom prst="rect">
            <a:avLst/>
          </a:prstGeom>
        </p:spPr>
      </p:pic>
      <p:sp>
        <p:nvSpPr>
          <p:cNvPr id="37" name="Text 28"/>
          <p:cNvSpPr/>
          <p:nvPr/>
        </p:nvSpPr>
        <p:spPr>
          <a:xfrm>
            <a:off x="6260440" y="3621024"/>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Function Output</a:t>
            </a:r>
            <a:endParaRPr lang="en-US" sz="1100" dirty="0"/>
          </a:p>
        </p:txBody>
      </p:sp>
      <p:sp>
        <p:nvSpPr>
          <p:cNvPr id="38" name="Text 29"/>
          <p:cNvSpPr/>
          <p:nvPr/>
        </p:nvSpPr>
        <p:spPr>
          <a:xfrm>
            <a:off x="6278728" y="3931920"/>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get_product_stock() returning a value.</a:t>
            </a:r>
            <a:endParaRPr lang="en-US" sz="850" dirty="0"/>
          </a:p>
        </p:txBody>
      </p:sp>
      <p:sp>
        <p:nvSpPr>
          <p:cNvPr id="39" name="Shape 30"/>
          <p:cNvSpPr/>
          <p:nvPr/>
        </p:nvSpPr>
        <p:spPr>
          <a:xfrm>
            <a:off x="9002039" y="3127248"/>
            <a:ext cx="2686736" cy="1472184"/>
          </a:xfrm>
          <a:prstGeom prst="roundRect">
            <a:avLst>
              <a:gd name="adj" fmla="val 3106"/>
            </a:avLst>
          </a:prstGeom>
          <a:solidFill>
            <a:srgbClr val="EEF3F8"/>
          </a:solidFill>
          <a:ln w="15875">
            <a:solidFill>
              <a:srgbClr val="3D8EC9"/>
            </a:solidFill>
            <a:prstDash val="dash"/>
          </a:ln>
        </p:spPr>
      </p:sp>
      <p:sp>
        <p:nvSpPr>
          <p:cNvPr id="40" name="Shape 31"/>
          <p:cNvSpPr/>
          <p:nvPr/>
        </p:nvSpPr>
        <p:spPr>
          <a:xfrm>
            <a:off x="10189959" y="3255264"/>
            <a:ext cx="310896" cy="310896"/>
          </a:xfrm>
          <a:prstGeom prst="ellipse">
            <a:avLst/>
          </a:prstGeom>
          <a:solidFill>
            <a:srgbClr val="3D8EC9"/>
          </a:solidFill>
          <a:ln/>
        </p:spPr>
      </p:sp>
      <p:pic>
        <p:nvPicPr>
          <p:cNvPr id="41" name="Image 7" descr="/home/claude/wms_deck/assets/icons/camera_white.png">    </p:cNvPr>
          <p:cNvPicPr>
            <a:picLocks noChangeAspect="1"/>
          </p:cNvPicPr>
          <p:nvPr/>
        </p:nvPicPr>
        <p:blipFill>
          <a:blip r:embed="rId8"/>
          <a:stretch>
            <a:fillRect/>
          </a:stretch>
        </p:blipFill>
        <p:spPr>
          <a:xfrm>
            <a:off x="10273901" y="3339206"/>
            <a:ext cx="143012" cy="143012"/>
          </a:xfrm>
          <a:prstGeom prst="rect">
            <a:avLst/>
          </a:prstGeom>
        </p:spPr>
      </p:pic>
      <p:sp>
        <p:nvSpPr>
          <p:cNvPr id="42" name="Text 32"/>
          <p:cNvSpPr/>
          <p:nvPr/>
        </p:nvSpPr>
        <p:spPr>
          <a:xfrm>
            <a:off x="9093479" y="3621024"/>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Window Function Output</a:t>
            </a:r>
            <a:endParaRPr lang="en-US" sz="1100" dirty="0"/>
          </a:p>
        </p:txBody>
      </p:sp>
      <p:sp>
        <p:nvSpPr>
          <p:cNvPr id="43" name="Text 33"/>
          <p:cNvSpPr/>
          <p:nvPr/>
        </p:nvSpPr>
        <p:spPr>
          <a:xfrm>
            <a:off x="9111767" y="3931920"/>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ROW_NUMBER / RANK / DENSE_RANK result set.</a:t>
            </a:r>
            <a:endParaRPr lang="en-US" sz="850" dirty="0"/>
          </a:p>
        </p:txBody>
      </p:sp>
      <p:sp>
        <p:nvSpPr>
          <p:cNvPr id="44" name="Shape 34"/>
          <p:cNvSpPr/>
          <p:nvPr/>
        </p:nvSpPr>
        <p:spPr>
          <a:xfrm>
            <a:off x="502920" y="4745736"/>
            <a:ext cx="2686736" cy="1472184"/>
          </a:xfrm>
          <a:prstGeom prst="roundRect">
            <a:avLst>
              <a:gd name="adj" fmla="val 3106"/>
            </a:avLst>
          </a:prstGeom>
          <a:solidFill>
            <a:srgbClr val="EEF3F8"/>
          </a:solidFill>
          <a:ln w="15875">
            <a:solidFill>
              <a:srgbClr val="3D8EC9"/>
            </a:solidFill>
            <a:prstDash val="dash"/>
          </a:ln>
        </p:spPr>
      </p:sp>
      <p:sp>
        <p:nvSpPr>
          <p:cNvPr id="45" name="Shape 35"/>
          <p:cNvSpPr/>
          <p:nvPr/>
        </p:nvSpPr>
        <p:spPr>
          <a:xfrm>
            <a:off x="1690840" y="4873752"/>
            <a:ext cx="310896" cy="310896"/>
          </a:xfrm>
          <a:prstGeom prst="ellipse">
            <a:avLst/>
          </a:prstGeom>
          <a:solidFill>
            <a:srgbClr val="3D8EC9"/>
          </a:solidFill>
          <a:ln/>
        </p:spPr>
      </p:sp>
      <p:pic>
        <p:nvPicPr>
          <p:cNvPr id="46" name="Image 8" descr="/home/claude/wms_deck/assets/icons/camera_white.png">    </p:cNvPr>
          <p:cNvPicPr>
            <a:picLocks noChangeAspect="1"/>
          </p:cNvPicPr>
          <p:nvPr/>
        </p:nvPicPr>
        <p:blipFill>
          <a:blip r:embed="rId9"/>
          <a:stretch>
            <a:fillRect/>
          </a:stretch>
        </p:blipFill>
        <p:spPr>
          <a:xfrm>
            <a:off x="1774782" y="4957694"/>
            <a:ext cx="143012" cy="143012"/>
          </a:xfrm>
          <a:prstGeom prst="rect">
            <a:avLst/>
          </a:prstGeom>
        </p:spPr>
      </p:pic>
      <p:sp>
        <p:nvSpPr>
          <p:cNvPr id="47" name="Text 36"/>
          <p:cNvSpPr/>
          <p:nvPr/>
        </p:nvSpPr>
        <p:spPr>
          <a:xfrm>
            <a:off x="594360" y="5239512"/>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Inventory Report</a:t>
            </a:r>
            <a:endParaRPr lang="en-US" sz="1100" dirty="0"/>
          </a:p>
        </p:txBody>
      </p:sp>
      <p:sp>
        <p:nvSpPr>
          <p:cNvPr id="48" name="Text 37"/>
          <p:cNvSpPr/>
          <p:nvPr/>
        </p:nvSpPr>
        <p:spPr>
          <a:xfrm>
            <a:off x="612648" y="5550408"/>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inventory report query output.</a:t>
            </a:r>
            <a:endParaRPr lang="en-US" sz="850" dirty="0"/>
          </a:p>
        </p:txBody>
      </p:sp>
      <p:sp>
        <p:nvSpPr>
          <p:cNvPr id="49" name="Shape 38"/>
          <p:cNvSpPr/>
          <p:nvPr/>
        </p:nvSpPr>
        <p:spPr>
          <a:xfrm>
            <a:off x="3335960" y="4745736"/>
            <a:ext cx="2686736" cy="1472184"/>
          </a:xfrm>
          <a:prstGeom prst="roundRect">
            <a:avLst>
              <a:gd name="adj" fmla="val 3106"/>
            </a:avLst>
          </a:prstGeom>
          <a:solidFill>
            <a:srgbClr val="EEF3F8"/>
          </a:solidFill>
          <a:ln w="15875">
            <a:solidFill>
              <a:srgbClr val="3D8EC9"/>
            </a:solidFill>
            <a:prstDash val="dash"/>
          </a:ln>
        </p:spPr>
      </p:sp>
      <p:sp>
        <p:nvSpPr>
          <p:cNvPr id="50" name="Shape 39"/>
          <p:cNvSpPr/>
          <p:nvPr/>
        </p:nvSpPr>
        <p:spPr>
          <a:xfrm>
            <a:off x="4523880" y="4873752"/>
            <a:ext cx="310896" cy="310896"/>
          </a:xfrm>
          <a:prstGeom prst="ellipse">
            <a:avLst/>
          </a:prstGeom>
          <a:solidFill>
            <a:srgbClr val="3D8EC9"/>
          </a:solidFill>
          <a:ln/>
        </p:spPr>
      </p:sp>
      <p:pic>
        <p:nvPicPr>
          <p:cNvPr id="51" name="Image 9" descr="/home/claude/wms_deck/assets/icons/camera_white.png">    </p:cNvPr>
          <p:cNvPicPr>
            <a:picLocks noChangeAspect="1"/>
          </p:cNvPicPr>
          <p:nvPr/>
        </p:nvPicPr>
        <p:blipFill>
          <a:blip r:embed="rId10"/>
          <a:stretch>
            <a:fillRect/>
          </a:stretch>
        </p:blipFill>
        <p:spPr>
          <a:xfrm>
            <a:off x="4607822" y="4957694"/>
            <a:ext cx="143012" cy="143012"/>
          </a:xfrm>
          <a:prstGeom prst="rect">
            <a:avLst/>
          </a:prstGeom>
        </p:spPr>
      </p:pic>
      <p:sp>
        <p:nvSpPr>
          <p:cNvPr id="52" name="Text 40"/>
          <p:cNvSpPr/>
          <p:nvPr/>
        </p:nvSpPr>
        <p:spPr>
          <a:xfrm>
            <a:off x="3427400" y="5239512"/>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Sales Report</a:t>
            </a:r>
            <a:endParaRPr lang="en-US" sz="1100" dirty="0"/>
          </a:p>
        </p:txBody>
      </p:sp>
      <p:sp>
        <p:nvSpPr>
          <p:cNvPr id="53" name="Text 41"/>
          <p:cNvSpPr/>
          <p:nvPr/>
        </p:nvSpPr>
        <p:spPr>
          <a:xfrm>
            <a:off x="3445688" y="5550408"/>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sales report query output.</a:t>
            </a:r>
            <a:endParaRPr lang="en-US" sz="850" dirty="0"/>
          </a:p>
        </p:txBody>
      </p:sp>
      <p:sp>
        <p:nvSpPr>
          <p:cNvPr id="54" name="Shape 42"/>
          <p:cNvSpPr/>
          <p:nvPr/>
        </p:nvSpPr>
        <p:spPr>
          <a:xfrm>
            <a:off x="6169000" y="4745736"/>
            <a:ext cx="2686736" cy="1472184"/>
          </a:xfrm>
          <a:prstGeom prst="roundRect">
            <a:avLst>
              <a:gd name="adj" fmla="val 3106"/>
            </a:avLst>
          </a:prstGeom>
          <a:solidFill>
            <a:srgbClr val="EEF3F8"/>
          </a:solidFill>
          <a:ln w="15875">
            <a:solidFill>
              <a:srgbClr val="3D8EC9"/>
            </a:solidFill>
            <a:prstDash val="dash"/>
          </a:ln>
        </p:spPr>
      </p:sp>
      <p:sp>
        <p:nvSpPr>
          <p:cNvPr id="55" name="Shape 43"/>
          <p:cNvSpPr/>
          <p:nvPr/>
        </p:nvSpPr>
        <p:spPr>
          <a:xfrm>
            <a:off x="7356920" y="4873752"/>
            <a:ext cx="310896" cy="310896"/>
          </a:xfrm>
          <a:prstGeom prst="ellipse">
            <a:avLst/>
          </a:prstGeom>
          <a:solidFill>
            <a:srgbClr val="3D8EC9"/>
          </a:solidFill>
          <a:ln/>
        </p:spPr>
      </p:sp>
      <p:pic>
        <p:nvPicPr>
          <p:cNvPr id="56" name="Image 10" descr="/home/claude/wms_deck/assets/icons/camera_white.png">    </p:cNvPr>
          <p:cNvPicPr>
            <a:picLocks noChangeAspect="1"/>
          </p:cNvPicPr>
          <p:nvPr/>
        </p:nvPicPr>
        <p:blipFill>
          <a:blip r:embed="rId11"/>
          <a:stretch>
            <a:fillRect/>
          </a:stretch>
        </p:blipFill>
        <p:spPr>
          <a:xfrm>
            <a:off x="7440861" y="4957694"/>
            <a:ext cx="143012" cy="143012"/>
          </a:xfrm>
          <a:prstGeom prst="rect">
            <a:avLst/>
          </a:prstGeom>
        </p:spPr>
      </p:pic>
      <p:sp>
        <p:nvSpPr>
          <p:cNvPr id="57" name="Text 44"/>
          <p:cNvSpPr/>
          <p:nvPr/>
        </p:nvSpPr>
        <p:spPr>
          <a:xfrm>
            <a:off x="6260440" y="5239512"/>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Low Stock Report</a:t>
            </a:r>
            <a:endParaRPr lang="en-US" sz="1100" dirty="0"/>
          </a:p>
        </p:txBody>
      </p:sp>
      <p:sp>
        <p:nvSpPr>
          <p:cNvPr id="58" name="Text 45"/>
          <p:cNvSpPr/>
          <p:nvPr/>
        </p:nvSpPr>
        <p:spPr>
          <a:xfrm>
            <a:off x="6278728" y="5550408"/>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products at or below reorder level.</a:t>
            </a:r>
            <a:endParaRPr lang="en-US" sz="850" dirty="0"/>
          </a:p>
        </p:txBody>
      </p:sp>
      <p:sp>
        <p:nvSpPr>
          <p:cNvPr id="59" name="Shape 46"/>
          <p:cNvSpPr/>
          <p:nvPr/>
        </p:nvSpPr>
        <p:spPr>
          <a:xfrm>
            <a:off x="9002039" y="4745736"/>
            <a:ext cx="2686736" cy="1472184"/>
          </a:xfrm>
          <a:prstGeom prst="roundRect">
            <a:avLst>
              <a:gd name="adj" fmla="val 3106"/>
            </a:avLst>
          </a:prstGeom>
          <a:solidFill>
            <a:srgbClr val="EEF3F8"/>
          </a:solidFill>
          <a:ln w="15875">
            <a:solidFill>
              <a:srgbClr val="3D8EC9"/>
            </a:solidFill>
            <a:prstDash val="dash"/>
          </a:ln>
        </p:spPr>
      </p:sp>
      <p:sp>
        <p:nvSpPr>
          <p:cNvPr id="60" name="Shape 47"/>
          <p:cNvSpPr/>
          <p:nvPr/>
        </p:nvSpPr>
        <p:spPr>
          <a:xfrm>
            <a:off x="10189959" y="4873752"/>
            <a:ext cx="310896" cy="310896"/>
          </a:xfrm>
          <a:prstGeom prst="ellipse">
            <a:avLst/>
          </a:prstGeom>
          <a:solidFill>
            <a:srgbClr val="3D8EC9"/>
          </a:solidFill>
          <a:ln/>
        </p:spPr>
      </p:sp>
      <p:pic>
        <p:nvPicPr>
          <p:cNvPr id="61" name="Image 11" descr="/home/claude/wms_deck/assets/icons/camera_white.png">    </p:cNvPr>
          <p:cNvPicPr>
            <a:picLocks noChangeAspect="1"/>
          </p:cNvPicPr>
          <p:nvPr/>
        </p:nvPicPr>
        <p:blipFill>
          <a:blip r:embed="rId12"/>
          <a:stretch>
            <a:fillRect/>
          </a:stretch>
        </p:blipFill>
        <p:spPr>
          <a:xfrm>
            <a:off x="10273901" y="4957694"/>
            <a:ext cx="143012" cy="143012"/>
          </a:xfrm>
          <a:prstGeom prst="rect">
            <a:avLst/>
          </a:prstGeom>
        </p:spPr>
      </p:pic>
      <p:sp>
        <p:nvSpPr>
          <p:cNvPr id="62" name="Text 48"/>
          <p:cNvSpPr/>
          <p:nvPr/>
        </p:nvSpPr>
        <p:spPr>
          <a:xfrm>
            <a:off x="9093479" y="5239512"/>
            <a:ext cx="2503856" cy="310896"/>
          </a:xfrm>
          <a:prstGeom prst="rect">
            <a:avLst/>
          </a:prstGeom>
          <a:noFill/>
          <a:ln/>
        </p:spPr>
        <p:txBody>
          <a:bodyPr wrap="square" rtlCol="0" anchor="t"/>
          <a:lstStyle/>
          <a:p>
            <a:pPr algn="ctr" indent="0" marL="0">
              <a:buNone/>
            </a:pPr>
            <a:r>
              <a:rPr lang="en-US" sz="1100" b="1" dirty="0">
                <a:solidFill>
                  <a:srgbClr val="13294B"/>
                </a:solidFill>
                <a:latin typeface="Calibri" pitchFamily="34" charset="0"/>
                <a:ea typeface="Calibri" pitchFamily="34" charset="-122"/>
                <a:cs typeface="Calibri" pitchFamily="34" charset="-120"/>
              </a:rPr>
              <a:t>Total Inventory Report</a:t>
            </a:r>
            <a:endParaRPr lang="en-US" sz="1100" dirty="0"/>
          </a:p>
        </p:txBody>
      </p:sp>
      <p:sp>
        <p:nvSpPr>
          <p:cNvPr id="63" name="Text 49"/>
          <p:cNvSpPr/>
          <p:nvPr/>
        </p:nvSpPr>
        <p:spPr>
          <a:xfrm>
            <a:off x="9111767" y="5550408"/>
            <a:ext cx="2467280" cy="594360"/>
          </a:xfrm>
          <a:prstGeom prst="rect">
            <a:avLst/>
          </a:prstGeom>
          <a:noFill/>
          <a:ln/>
        </p:spPr>
        <p:txBody>
          <a:bodyPr wrap="square" rtlCol="0" anchor="t"/>
          <a:lstStyle/>
          <a:p>
            <a:pPr algn="ctr" indent="0" marL="0">
              <a:lnSpc>
                <a:spcPct val="105000"/>
              </a:lnSpc>
              <a:buNone/>
            </a:pPr>
            <a:r>
              <a:rPr lang="en-US" sz="850" i="1" dirty="0">
                <a:solidFill>
                  <a:srgbClr val="5B6B7C"/>
                </a:solidFill>
                <a:latin typeface="Calibri" pitchFamily="34" charset="0"/>
                <a:ea typeface="Calibri" pitchFamily="34" charset="-122"/>
                <a:cs typeface="Calibri" pitchFamily="34" charset="-120"/>
              </a:rPr>
              <a:t>Awaiting screenshot: total inventory value calculation.</a:t>
            </a:r>
            <a:endParaRPr lang="en-US" sz="850" dirty="0"/>
          </a:p>
        </p:txBody>
      </p:sp>
      <p:sp>
        <p:nvSpPr>
          <p:cNvPr id="64" name="Shape 50"/>
          <p:cNvSpPr/>
          <p:nvPr/>
        </p:nvSpPr>
        <p:spPr>
          <a:xfrm>
            <a:off x="11451031" y="6437376"/>
            <a:ext cx="237744" cy="237744"/>
          </a:xfrm>
          <a:prstGeom prst="ellipse">
            <a:avLst/>
          </a:prstGeom>
          <a:solidFill>
            <a:srgbClr val="EEF3F8"/>
          </a:solidFill>
          <a:ln/>
        </p:spPr>
      </p:sp>
      <p:pic>
        <p:nvPicPr>
          <p:cNvPr id="65" name="Image 12" descr="/home/claude/wms_deck/assets/icons/database_navy.png">    </p:cNvPr>
          <p:cNvPicPr>
            <a:picLocks noChangeAspect="1"/>
          </p:cNvPicPr>
          <p:nvPr/>
        </p:nvPicPr>
        <p:blipFill>
          <a:blip r:embed="rId13"/>
          <a:stretch>
            <a:fillRect/>
          </a:stretch>
        </p:blipFill>
        <p:spPr>
          <a:xfrm>
            <a:off x="11515222" y="6501567"/>
            <a:ext cx="109362" cy="109362"/>
          </a:xfrm>
          <a:prstGeom prst="rect">
            <a:avLst/>
          </a:prstGeom>
        </p:spPr>
      </p:pic>
      <p:sp>
        <p:nvSpPr>
          <p:cNvPr id="66" name="Text 51"/>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67" name="Text 52"/>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QUALITY ASSURANCE</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Testing Summary</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4663440"/>
        </p:xfrm>
        <a:graphic>
          <a:graphicData uri="http://schemas.openxmlformats.org/drawingml/2006/table">
            <a:tbl>
              <a:tblPr/>
              <a:tblGrid>
                <a:gridCol w="1463040"/>
                <a:gridCol w="2743200"/>
                <a:gridCol w="2834640"/>
                <a:gridCol w="2834640"/>
                <a:gridCol w="1307592"/>
              </a:tblGrid>
              <a:tr h="58293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Feature</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Test Case</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Expected Result</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Result</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13294B"/>
                    </a:solidFill>
                  </a:tcPr>
                </a:tc>
              </a:tr>
              <a:tr h="582930">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Insert Product</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Insert a new product record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Record inserted with a valid Product_ID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Record inserted successfully</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8F5B"/>
                          </a:solidFill>
                          <a:latin typeface="Calibri" pitchFamily="34" charset="0"/>
                          <a:ea typeface="Calibri" pitchFamily="34" charset="-122"/>
                          <a:cs typeface="Calibri" pitchFamily="34" charset="-120"/>
                        </a:rPr>
                        <a:t>Passed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82930">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Sell Product</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Call Sell_Product(2001, 3) on an in-stock item</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Quantity_In_Stock decreases by the sold quantity</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Stock decreased from 20 to 17 as expected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ctr" indent="0" marL="0">
                        <a:buNone/>
                      </a:pPr>
                      <a:r>
                        <a:rPr lang="en-US" sz="1050" b="1" dirty="0">
                          <a:solidFill>
                            <a:srgbClr val="2F8F5B"/>
                          </a:solidFill>
                          <a:latin typeface="Calibri" pitchFamily="34" charset="0"/>
                          <a:ea typeface="Calibri" pitchFamily="34" charset="-122"/>
                          <a:cs typeface="Calibri" pitchFamily="34" charset="-120"/>
                        </a:rPr>
                        <a:t>Passed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582930">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Update Stock</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Update stock after a supplier delivery</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Quantity_In_Stock reflects the new value</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Quantity updated correctly</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8F5B"/>
                          </a:solidFill>
                          <a:latin typeface="Calibri" pitchFamily="34" charset="0"/>
                          <a:ea typeface="Calibri" pitchFamily="34" charset="-122"/>
                          <a:cs typeface="Calibri" pitchFamily="34" charset="-120"/>
                        </a:rPr>
                        <a:t>Passed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82930">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Generate Report</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Run inventory / low-stock report queries</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Accurate, correctly formatted output</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Report generated as expected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ctr" indent="0" marL="0">
                        <a:buNone/>
                      </a:pPr>
                      <a:r>
                        <a:rPr lang="en-US" sz="1050" b="1" dirty="0">
                          <a:solidFill>
                            <a:srgbClr val="2F8F5B"/>
                          </a:solidFill>
                          <a:latin typeface="Calibri" pitchFamily="34" charset="0"/>
                          <a:ea typeface="Calibri" pitchFamily="34" charset="-122"/>
                          <a:cs typeface="Calibri" pitchFamily="34" charset="-120"/>
                        </a:rPr>
                        <a:t>Passed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582930">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Window Function</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Run RANK() on Quantity_In_Stock</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Products ranked correctly, ties handled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Ranking returned correctly</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8F5B"/>
                          </a:solidFill>
                          <a:latin typeface="Calibri" pitchFamily="34" charset="0"/>
                          <a:ea typeface="Calibri" pitchFamily="34" charset="-122"/>
                          <a:cs typeface="Calibri" pitchFamily="34" charset="-120"/>
                        </a:rPr>
                        <a:t>Passed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r h="582930">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Function</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Call Get_Product_Stock() with a valid ID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Returns the correct current stock</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Correct value returned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c>
                  <a:txBody>
                    <a:bodyPr/>
                    <a:lstStyle/>
                    <a:p>
                      <a:pPr algn="ctr" indent="0" marL="0">
                        <a:buNone/>
                      </a:pPr>
                      <a:r>
                        <a:rPr lang="en-US" sz="1050" b="1" dirty="0">
                          <a:solidFill>
                            <a:srgbClr val="2F8F5B"/>
                          </a:solidFill>
                          <a:latin typeface="Calibri" pitchFamily="34" charset="0"/>
                          <a:ea typeface="Calibri" pitchFamily="34" charset="-122"/>
                          <a:cs typeface="Calibri" pitchFamily="34" charset="-120"/>
                        </a:rPr>
                        <a:t>Passed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EEF3F8"/>
                    </a:solidFill>
                  </a:tcPr>
                </a:tc>
              </a:tr>
              <a:tr h="582930">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Procedure</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Call Sell_Product() a second time on the same product</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Quantity_In_Stock decreases again on each call</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7212E"/>
                          </a:solidFill>
                          <a:latin typeface="Calibri" pitchFamily="34" charset="0"/>
                          <a:ea typeface="Calibri" pitchFamily="34" charset="-122"/>
                          <a:cs typeface="Calibri" pitchFamily="34" charset="-120"/>
                        </a:rPr>
                        <a:t>Stock decreased from 17 to 14 as expected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8F5B"/>
                          </a:solidFill>
                          <a:latin typeface="Calibri" pitchFamily="34" charset="0"/>
                          <a:ea typeface="Calibri" pitchFamily="34" charset="-122"/>
                          <a:cs typeface="Calibri" pitchFamily="34" charset="-120"/>
                        </a:rPr>
                        <a:t>Passed</a:t>
                      </a:r>
                      <a:endParaRPr lang="en-US" sz="1050" dirty="0">
                        <a:latin typeface="Calibri" charset="0"/>
                        <a:ea typeface="Calibri" charset="0"/>
                        <a:cs typeface="Calibri" charset="0"/>
                      </a:endParaRPr>
                    </a:p>
                  </a:txBody>
                  <a:tcPr marL="91440" marR="91440" marT="45720" marB="45720" anchor="ctr">
                    <a:lnL w="9525" cap="flat" cmpd="sng" algn="ctr">
                      <a:solidFill>
                        <a:srgbClr val="DCE4EC"/>
                      </a:solidFill>
                      <a:prstDash val="solid"/>
                      <a:round/>
                      <a:headEnd type="none" w="med" len="med"/>
                      <a:tailEnd type="none" w="med" len="med"/>
                    </a:lnL>
                    <a:lnR w="9525" cap="flat" cmpd="sng" algn="ctr">
                      <a:solidFill>
                        <a:srgbClr val="DCE4EC"/>
                      </a:solidFill>
                      <a:prstDash val="solid"/>
                      <a:round/>
                      <a:headEnd type="none" w="med" len="med"/>
                      <a:tailEnd type="none" w="med" len="med"/>
                    </a:lnR>
                    <a:lnT w="9525" cap="flat" cmpd="sng" algn="ctr">
                      <a:solidFill>
                        <a:srgbClr val="DCE4EC"/>
                      </a:solidFill>
                      <a:prstDash val="solid"/>
                      <a:round/>
                      <a:headEnd type="none" w="med" len="med"/>
                      <a:tailEnd type="none" w="med" len="med"/>
                    </a:lnT>
                    <a:lnB w="9525" cap="flat" cmpd="sng" algn="ctr">
                      <a:solidFill>
                        <a:srgbClr val="DCE4EC"/>
                      </a:solidFill>
                      <a:prstDash val="solid"/>
                      <a:round/>
                      <a:headEnd type="none" w="med" len="med"/>
                      <a:tailEnd type="none" w="med" len="med"/>
                    </a:lnB>
                    <a:solidFill>
                      <a:srgbClr val="FFFFFF"/>
                    </a:solidFill>
                  </a:tcPr>
                </a:tc>
              </a:tr>
            </a:tbl>
          </a:graphicData>
        </a:graphic>
      </p:graphicFrame>
      <p:sp>
        <p:nvSpPr>
          <p:cNvPr id="5" name="Shape 2"/>
          <p:cNvSpPr/>
          <p:nvPr/>
        </p:nvSpPr>
        <p:spPr>
          <a:xfrm>
            <a:off x="11451031" y="6437376"/>
            <a:ext cx="237744" cy="237744"/>
          </a:xfrm>
          <a:prstGeom prst="ellipse">
            <a:avLst/>
          </a:prstGeom>
          <a:solidFill>
            <a:srgbClr val="EEF3F8"/>
          </a:solidFill>
          <a:ln/>
        </p:spPr>
      </p:sp>
      <p:pic>
        <p:nvPicPr>
          <p:cNvPr id="6" name="Image 0" descr="/home/claude/wms_deck/assets/icons/database_navy.png">    </p:cNvPr>
          <p:cNvPicPr>
            <a:picLocks noChangeAspect="1"/>
          </p:cNvPicPr>
          <p:nvPr/>
        </p:nvPicPr>
        <p:blipFill>
          <a:blip r:embed="rId1"/>
          <a:stretch>
            <a:fillRect/>
          </a:stretch>
        </p:blipFill>
        <p:spPr>
          <a:xfrm>
            <a:off x="11515222" y="6501567"/>
            <a:ext cx="109362" cy="109362"/>
          </a:xfrm>
          <a:prstGeom prst="rect">
            <a:avLst/>
          </a:prstGeom>
        </p:spPr>
      </p:pic>
      <p:sp>
        <p:nvSpPr>
          <p:cNvPr id="7" name="Text 3"/>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8" name="Text 4"/>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3F8"/>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LESSONS LEARNED</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Challenges Faced During Development</a:t>
            </a:r>
            <a:endParaRPr lang="en-US" sz="3000" dirty="0"/>
          </a:p>
        </p:txBody>
      </p:sp>
      <p:sp>
        <p:nvSpPr>
          <p:cNvPr id="4" name="Shape 2"/>
          <p:cNvSpPr/>
          <p:nvPr/>
        </p:nvSpPr>
        <p:spPr>
          <a:xfrm>
            <a:off x="502920" y="1463040"/>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5" name="Shape 3"/>
          <p:cNvSpPr/>
          <p:nvPr/>
        </p:nvSpPr>
        <p:spPr>
          <a:xfrm>
            <a:off x="704088" y="1645920"/>
            <a:ext cx="286756" cy="286756"/>
          </a:xfrm>
          <a:prstGeom prst="ellipse">
            <a:avLst/>
          </a:prstGeom>
          <a:solidFill>
            <a:srgbClr val="3D8EC9"/>
          </a:solidFill>
          <a:ln/>
        </p:spPr>
      </p:sp>
      <p:pic>
        <p:nvPicPr>
          <p:cNvPr id="6" name="Image 0" descr="/home/claude/wms_deck/assets/icons/tools_white.png">    </p:cNvPr>
          <p:cNvPicPr>
            <a:picLocks noChangeAspect="1"/>
          </p:cNvPicPr>
          <p:nvPr/>
        </p:nvPicPr>
        <p:blipFill>
          <a:blip r:embed="rId1"/>
          <a:stretch>
            <a:fillRect/>
          </a:stretch>
        </p:blipFill>
        <p:spPr>
          <a:xfrm>
            <a:off x="781512" y="1723344"/>
            <a:ext cx="131908" cy="131908"/>
          </a:xfrm>
          <a:prstGeom prst="rect">
            <a:avLst/>
          </a:prstGeom>
        </p:spPr>
      </p:pic>
      <p:sp>
        <p:nvSpPr>
          <p:cNvPr id="7" name="Text 4"/>
          <p:cNvSpPr/>
          <p:nvPr/>
        </p:nvSpPr>
        <p:spPr>
          <a:xfrm>
            <a:off x="1137148" y="1609344"/>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Oracle Installation</a:t>
            </a:r>
            <a:endParaRPr lang="en-US" sz="1200" dirty="0"/>
          </a:p>
        </p:txBody>
      </p:sp>
      <p:sp>
        <p:nvSpPr>
          <p:cNvPr id="8" name="Text 5"/>
          <p:cNvSpPr/>
          <p:nvPr/>
        </p:nvSpPr>
        <p:spPr>
          <a:xfrm>
            <a:off x="704088" y="2042404"/>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Configuring Oracle Database and SQL Developer took several attempts.</a:t>
            </a:r>
            <a:endParaRPr lang="en-US" sz="980" dirty="0"/>
          </a:p>
        </p:txBody>
      </p:sp>
      <p:sp>
        <p:nvSpPr>
          <p:cNvPr id="9" name="Shape 6"/>
          <p:cNvSpPr/>
          <p:nvPr/>
        </p:nvSpPr>
        <p:spPr>
          <a:xfrm>
            <a:off x="6178144" y="1463040"/>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10" name="Shape 7"/>
          <p:cNvSpPr/>
          <p:nvPr/>
        </p:nvSpPr>
        <p:spPr>
          <a:xfrm>
            <a:off x="6379312" y="1645920"/>
            <a:ext cx="286756" cy="286756"/>
          </a:xfrm>
          <a:prstGeom prst="ellipse">
            <a:avLst/>
          </a:prstGeom>
          <a:solidFill>
            <a:srgbClr val="3D8EC9"/>
          </a:solidFill>
          <a:ln/>
        </p:spPr>
      </p:sp>
      <p:pic>
        <p:nvPicPr>
          <p:cNvPr id="11" name="Image 1" descr="/home/claude/wms_deck/assets/icons/link_white.png">    </p:cNvPr>
          <p:cNvPicPr>
            <a:picLocks noChangeAspect="1"/>
          </p:cNvPicPr>
          <p:nvPr/>
        </p:nvPicPr>
        <p:blipFill>
          <a:blip r:embed="rId2"/>
          <a:stretch>
            <a:fillRect/>
          </a:stretch>
        </p:blipFill>
        <p:spPr>
          <a:xfrm>
            <a:off x="6456736" y="1723344"/>
            <a:ext cx="131908" cy="131908"/>
          </a:xfrm>
          <a:prstGeom prst="rect">
            <a:avLst/>
          </a:prstGeom>
        </p:spPr>
      </p:pic>
      <p:sp>
        <p:nvSpPr>
          <p:cNvPr id="12" name="Text 8"/>
          <p:cNvSpPr/>
          <p:nvPr/>
        </p:nvSpPr>
        <p:spPr>
          <a:xfrm>
            <a:off x="6812371" y="1609344"/>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Foreign Keys</a:t>
            </a:r>
            <a:endParaRPr lang="en-US" sz="1200" dirty="0"/>
          </a:p>
        </p:txBody>
      </p:sp>
      <p:sp>
        <p:nvSpPr>
          <p:cNvPr id="13" name="Text 9"/>
          <p:cNvSpPr/>
          <p:nvPr/>
        </p:nvSpPr>
        <p:spPr>
          <a:xfrm>
            <a:off x="6379312" y="2042404"/>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Keeping referential integrity across five related tables required careful sequencing.</a:t>
            </a:r>
            <a:endParaRPr lang="en-US" sz="980" dirty="0"/>
          </a:p>
        </p:txBody>
      </p:sp>
      <p:sp>
        <p:nvSpPr>
          <p:cNvPr id="14" name="Shape 10"/>
          <p:cNvSpPr/>
          <p:nvPr/>
        </p:nvSpPr>
        <p:spPr>
          <a:xfrm>
            <a:off x="502920" y="2585923"/>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15" name="Shape 11"/>
          <p:cNvSpPr/>
          <p:nvPr/>
        </p:nvSpPr>
        <p:spPr>
          <a:xfrm>
            <a:off x="704088" y="2768803"/>
            <a:ext cx="286756" cy="286756"/>
          </a:xfrm>
          <a:prstGeom prst="ellipse">
            <a:avLst/>
          </a:prstGeom>
          <a:solidFill>
            <a:srgbClr val="3D8EC9"/>
          </a:solidFill>
          <a:ln/>
        </p:spPr>
      </p:sp>
      <p:pic>
        <p:nvPicPr>
          <p:cNvPr id="16" name="Image 2" descr="/home/claude/wms_deck/assets/icons/bug_white.png">    </p:cNvPr>
          <p:cNvPicPr>
            <a:picLocks noChangeAspect="1"/>
          </p:cNvPicPr>
          <p:nvPr/>
        </p:nvPicPr>
        <p:blipFill>
          <a:blip r:embed="rId3"/>
          <a:stretch>
            <a:fillRect/>
          </a:stretch>
        </p:blipFill>
        <p:spPr>
          <a:xfrm>
            <a:off x="781512" y="2846227"/>
            <a:ext cx="131908" cy="131908"/>
          </a:xfrm>
          <a:prstGeom prst="rect">
            <a:avLst/>
          </a:prstGeom>
        </p:spPr>
      </p:pic>
      <p:sp>
        <p:nvSpPr>
          <p:cNvPr id="17" name="Text 12"/>
          <p:cNvSpPr/>
          <p:nvPr/>
        </p:nvSpPr>
        <p:spPr>
          <a:xfrm>
            <a:off x="1137148" y="2732227"/>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PL/SQL Debugging</a:t>
            </a:r>
            <a:endParaRPr lang="en-US" sz="1200" dirty="0"/>
          </a:p>
        </p:txBody>
      </p:sp>
      <p:sp>
        <p:nvSpPr>
          <p:cNvPr id="18" name="Text 13"/>
          <p:cNvSpPr/>
          <p:nvPr/>
        </p:nvSpPr>
        <p:spPr>
          <a:xfrm>
            <a:off x="704088" y="3165287"/>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Tracing errors inside procedures was harder than debugging plain SQL.</a:t>
            </a:r>
            <a:endParaRPr lang="en-US" sz="980" dirty="0"/>
          </a:p>
        </p:txBody>
      </p:sp>
      <p:sp>
        <p:nvSpPr>
          <p:cNvPr id="19" name="Shape 14"/>
          <p:cNvSpPr/>
          <p:nvPr/>
        </p:nvSpPr>
        <p:spPr>
          <a:xfrm>
            <a:off x="6178144" y="2585923"/>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20" name="Shape 15"/>
          <p:cNvSpPr/>
          <p:nvPr/>
        </p:nvSpPr>
        <p:spPr>
          <a:xfrm>
            <a:off x="6379312" y="2768803"/>
            <a:ext cx="286756" cy="286756"/>
          </a:xfrm>
          <a:prstGeom prst="ellipse">
            <a:avLst/>
          </a:prstGeom>
          <a:solidFill>
            <a:srgbClr val="3D8EC9"/>
          </a:solidFill>
          <a:ln/>
        </p:spPr>
      </p:sp>
      <p:pic>
        <p:nvPicPr>
          <p:cNvPr id="21" name="Image 3" descr="/home/claude/wms_deck/assets/icons/exclamation_white.png">    </p:cNvPr>
          <p:cNvPicPr>
            <a:picLocks noChangeAspect="1"/>
          </p:cNvPicPr>
          <p:nvPr/>
        </p:nvPicPr>
        <p:blipFill>
          <a:blip r:embed="rId4"/>
          <a:stretch>
            <a:fillRect/>
          </a:stretch>
        </p:blipFill>
        <p:spPr>
          <a:xfrm>
            <a:off x="6456736" y="2846227"/>
            <a:ext cx="131908" cy="131908"/>
          </a:xfrm>
          <a:prstGeom prst="rect">
            <a:avLst/>
          </a:prstGeom>
        </p:spPr>
      </p:pic>
      <p:sp>
        <p:nvSpPr>
          <p:cNvPr id="22" name="Text 16"/>
          <p:cNvSpPr/>
          <p:nvPr/>
        </p:nvSpPr>
        <p:spPr>
          <a:xfrm>
            <a:off x="6812371" y="2732227"/>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Procedure Errors</a:t>
            </a:r>
            <a:endParaRPr lang="en-US" sz="1200" dirty="0"/>
          </a:p>
        </p:txBody>
      </p:sp>
      <p:sp>
        <p:nvSpPr>
          <p:cNvPr id="23" name="Text 17"/>
          <p:cNvSpPr/>
          <p:nvPr/>
        </p:nvSpPr>
        <p:spPr>
          <a:xfrm>
            <a:off x="6379312" y="3165287"/>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Compilation errors in Sell_Product() needed repeated correction.</a:t>
            </a:r>
            <a:endParaRPr lang="en-US" sz="980" dirty="0"/>
          </a:p>
        </p:txBody>
      </p:sp>
      <p:sp>
        <p:nvSpPr>
          <p:cNvPr id="24" name="Shape 18"/>
          <p:cNvSpPr/>
          <p:nvPr/>
        </p:nvSpPr>
        <p:spPr>
          <a:xfrm>
            <a:off x="502920" y="3708806"/>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25" name="Shape 19"/>
          <p:cNvSpPr/>
          <p:nvPr/>
        </p:nvSpPr>
        <p:spPr>
          <a:xfrm>
            <a:off x="704088" y="3891686"/>
            <a:ext cx="286756" cy="286756"/>
          </a:xfrm>
          <a:prstGeom prst="ellipse">
            <a:avLst/>
          </a:prstGeom>
          <a:solidFill>
            <a:srgbClr val="3D8EC9"/>
          </a:solidFill>
          <a:ln/>
        </p:spPr>
      </p:sp>
      <p:pic>
        <p:nvPicPr>
          <p:cNvPr id="26" name="Image 4" descr="/home/claude/wms_deck/assets/icons/shield_white.png">    </p:cNvPr>
          <p:cNvPicPr>
            <a:picLocks noChangeAspect="1"/>
          </p:cNvPicPr>
          <p:nvPr/>
        </p:nvPicPr>
        <p:blipFill>
          <a:blip r:embed="rId5"/>
          <a:stretch>
            <a:fillRect/>
          </a:stretch>
        </p:blipFill>
        <p:spPr>
          <a:xfrm>
            <a:off x="781512" y="3969110"/>
            <a:ext cx="131908" cy="131908"/>
          </a:xfrm>
          <a:prstGeom prst="rect">
            <a:avLst/>
          </a:prstGeom>
        </p:spPr>
      </p:pic>
      <p:sp>
        <p:nvSpPr>
          <p:cNvPr id="27" name="Text 20"/>
          <p:cNvSpPr/>
          <p:nvPr/>
        </p:nvSpPr>
        <p:spPr>
          <a:xfrm>
            <a:off x="1137148" y="3855110"/>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Constraint Violations</a:t>
            </a:r>
            <a:endParaRPr lang="en-US" sz="1200" dirty="0"/>
          </a:p>
        </p:txBody>
      </p:sp>
      <p:sp>
        <p:nvSpPr>
          <p:cNvPr id="28" name="Text 21"/>
          <p:cNvSpPr/>
          <p:nvPr/>
        </p:nvSpPr>
        <p:spPr>
          <a:xfrm>
            <a:off x="704088" y="4288170"/>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Test data occasionally violated CHECK and FOREIGN KEY rules.</a:t>
            </a:r>
            <a:endParaRPr lang="en-US" sz="980" dirty="0"/>
          </a:p>
        </p:txBody>
      </p:sp>
      <p:sp>
        <p:nvSpPr>
          <p:cNvPr id="29" name="Shape 22"/>
          <p:cNvSpPr/>
          <p:nvPr/>
        </p:nvSpPr>
        <p:spPr>
          <a:xfrm>
            <a:off x="6178144" y="3708806"/>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30" name="Shape 23"/>
          <p:cNvSpPr/>
          <p:nvPr/>
        </p:nvSpPr>
        <p:spPr>
          <a:xfrm>
            <a:off x="6379312" y="3891686"/>
            <a:ext cx="286756" cy="286756"/>
          </a:xfrm>
          <a:prstGeom prst="ellipse">
            <a:avLst/>
          </a:prstGeom>
          <a:solidFill>
            <a:srgbClr val="3D8EC9"/>
          </a:solidFill>
          <a:ln/>
        </p:spPr>
      </p:sp>
      <p:pic>
        <p:nvPicPr>
          <p:cNvPr id="31" name="Image 5" descr="/home/claude/wms_deck/assets/icons/trophy_white.png">    </p:cNvPr>
          <p:cNvPicPr>
            <a:picLocks noChangeAspect="1"/>
          </p:cNvPicPr>
          <p:nvPr/>
        </p:nvPicPr>
        <p:blipFill>
          <a:blip r:embed="rId6"/>
          <a:stretch>
            <a:fillRect/>
          </a:stretch>
        </p:blipFill>
        <p:spPr>
          <a:xfrm>
            <a:off x="6456736" y="3969110"/>
            <a:ext cx="131908" cy="131908"/>
          </a:xfrm>
          <a:prstGeom prst="rect">
            <a:avLst/>
          </a:prstGeom>
        </p:spPr>
      </p:pic>
      <p:sp>
        <p:nvSpPr>
          <p:cNvPr id="32" name="Text 24"/>
          <p:cNvSpPr/>
          <p:nvPr/>
        </p:nvSpPr>
        <p:spPr>
          <a:xfrm>
            <a:off x="6812371" y="3855110"/>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Learning Window Functions</a:t>
            </a:r>
            <a:endParaRPr lang="en-US" sz="1200" dirty="0"/>
          </a:p>
        </p:txBody>
      </p:sp>
      <p:sp>
        <p:nvSpPr>
          <p:cNvPr id="33" name="Text 25"/>
          <p:cNvSpPr/>
          <p:nvPr/>
        </p:nvSpPr>
        <p:spPr>
          <a:xfrm>
            <a:off x="6379312" y="4288170"/>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ROW_NUMBER, RANK and DENSE_RANK were new concepts to master.</a:t>
            </a:r>
            <a:endParaRPr lang="en-US" sz="980" dirty="0"/>
          </a:p>
        </p:txBody>
      </p:sp>
      <p:sp>
        <p:nvSpPr>
          <p:cNvPr id="34" name="Shape 26"/>
          <p:cNvSpPr/>
          <p:nvPr/>
        </p:nvSpPr>
        <p:spPr>
          <a:xfrm>
            <a:off x="502920" y="4831690"/>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35" name="Shape 27"/>
          <p:cNvSpPr/>
          <p:nvPr/>
        </p:nvSpPr>
        <p:spPr>
          <a:xfrm>
            <a:off x="704088" y="5014570"/>
            <a:ext cx="286756" cy="286756"/>
          </a:xfrm>
          <a:prstGeom prst="ellipse">
            <a:avLst/>
          </a:prstGeom>
          <a:solidFill>
            <a:srgbClr val="3D8EC9"/>
          </a:solidFill>
          <a:ln/>
        </p:spPr>
      </p:sp>
      <p:pic>
        <p:nvPicPr>
          <p:cNvPr id="36" name="Image 6" descr="/home/claude/wms_deck/assets/icons/sitemap_white.png">    </p:cNvPr>
          <p:cNvPicPr>
            <a:picLocks noChangeAspect="1"/>
          </p:cNvPicPr>
          <p:nvPr/>
        </p:nvPicPr>
        <p:blipFill>
          <a:blip r:embed="rId7"/>
          <a:stretch>
            <a:fillRect/>
          </a:stretch>
        </p:blipFill>
        <p:spPr>
          <a:xfrm>
            <a:off x="781512" y="5091994"/>
            <a:ext cx="131908" cy="131908"/>
          </a:xfrm>
          <a:prstGeom prst="rect">
            <a:avLst/>
          </a:prstGeom>
        </p:spPr>
      </p:pic>
      <p:sp>
        <p:nvSpPr>
          <p:cNvPr id="37" name="Text 28"/>
          <p:cNvSpPr/>
          <p:nvPr/>
        </p:nvSpPr>
        <p:spPr>
          <a:xfrm>
            <a:off x="1137148" y="4977994"/>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Data Relationships</a:t>
            </a:r>
            <a:endParaRPr lang="en-US" sz="1200" dirty="0"/>
          </a:p>
        </p:txBody>
      </p:sp>
      <p:sp>
        <p:nvSpPr>
          <p:cNvPr id="38" name="Text 29"/>
          <p:cNvSpPr/>
          <p:nvPr/>
        </p:nvSpPr>
        <p:spPr>
          <a:xfrm>
            <a:off x="704088" y="5411053"/>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Mapping real warehouse relationships into a normalized schema took iteration.</a:t>
            </a:r>
            <a:endParaRPr lang="en-US" sz="980" dirty="0"/>
          </a:p>
        </p:txBody>
      </p:sp>
      <p:sp>
        <p:nvSpPr>
          <p:cNvPr id="39" name="Shape 30"/>
          <p:cNvSpPr/>
          <p:nvPr/>
        </p:nvSpPr>
        <p:spPr>
          <a:xfrm>
            <a:off x="6178144" y="4831690"/>
            <a:ext cx="5510632" cy="1024128"/>
          </a:xfrm>
          <a:prstGeom prst="roundRect">
            <a:avLst>
              <a:gd name="adj" fmla="val 6250"/>
            </a:avLst>
          </a:prstGeom>
          <a:solidFill>
            <a:srgbClr val="F7FAFC"/>
          </a:solidFill>
          <a:ln/>
          <a:effectLst>
            <a:outerShdw sx="100000" sy="100000" kx="0" ky="0" algn="bl" rotWithShape="0" blurRad="101600" dist="25400" dir="5400000">
              <a:srgbClr val="13294B">
                <a:alpha val="12000"/>
              </a:srgbClr>
            </a:outerShdw>
          </a:effectLst>
        </p:spPr>
      </p:sp>
      <p:sp>
        <p:nvSpPr>
          <p:cNvPr id="40" name="Shape 31"/>
          <p:cNvSpPr/>
          <p:nvPr/>
        </p:nvSpPr>
        <p:spPr>
          <a:xfrm>
            <a:off x="6379312" y="5014570"/>
            <a:ext cx="286756" cy="286756"/>
          </a:xfrm>
          <a:prstGeom prst="ellipse">
            <a:avLst/>
          </a:prstGeom>
          <a:solidFill>
            <a:srgbClr val="2F8F5B"/>
          </a:solidFill>
          <a:ln/>
        </p:spPr>
      </p:sp>
      <p:pic>
        <p:nvPicPr>
          <p:cNvPr id="41" name="Image 7" descr="/home/claude/wms_deck/assets/icons/checkCircle_white.png">    </p:cNvPr>
          <p:cNvPicPr>
            <a:picLocks noChangeAspect="1"/>
          </p:cNvPicPr>
          <p:nvPr/>
        </p:nvPicPr>
        <p:blipFill>
          <a:blip r:embed="rId8"/>
          <a:stretch>
            <a:fillRect/>
          </a:stretch>
        </p:blipFill>
        <p:spPr>
          <a:xfrm>
            <a:off x="6456736" y="5091994"/>
            <a:ext cx="131908" cy="131908"/>
          </a:xfrm>
          <a:prstGeom prst="rect">
            <a:avLst/>
          </a:prstGeom>
        </p:spPr>
      </p:pic>
      <p:sp>
        <p:nvSpPr>
          <p:cNvPr id="42" name="Text 32"/>
          <p:cNvSpPr/>
          <p:nvPr/>
        </p:nvSpPr>
        <p:spPr>
          <a:xfrm>
            <a:off x="6812371" y="4977994"/>
            <a:ext cx="4693524" cy="359908"/>
          </a:xfrm>
          <a:prstGeom prst="rect">
            <a:avLst/>
          </a:prstGeom>
          <a:noFill/>
          <a:ln/>
        </p:spPr>
        <p:txBody>
          <a:bodyPr wrap="square"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Outcome</a:t>
            </a:r>
            <a:endParaRPr lang="en-US" sz="1200" dirty="0"/>
          </a:p>
        </p:txBody>
      </p:sp>
      <p:sp>
        <p:nvSpPr>
          <p:cNvPr id="43" name="Text 33"/>
          <p:cNvSpPr/>
          <p:nvPr/>
        </p:nvSpPr>
        <p:spPr>
          <a:xfrm>
            <a:off x="6379312" y="5411053"/>
            <a:ext cx="5108296" cy="298460"/>
          </a:xfrm>
          <a:prstGeom prst="rect">
            <a:avLst/>
          </a:prstGeom>
          <a:noFill/>
          <a:ln/>
        </p:spPr>
        <p:txBody>
          <a:bodyPr wrap="square" rtlCol="0" anchor="t"/>
          <a:lstStyle/>
          <a:p>
            <a:pPr indent="0" marL="0">
              <a:lnSpc>
                <a:spcPct val="112000"/>
              </a:lnSpc>
              <a:buNone/>
            </a:pPr>
            <a:r>
              <a:rPr lang="en-US" sz="980" dirty="0">
                <a:solidFill>
                  <a:srgbClr val="5B6B7C"/>
                </a:solidFill>
                <a:latin typeface="Calibri" pitchFamily="34" charset="0"/>
                <a:ea typeface="Calibri" pitchFamily="34" charset="-122"/>
                <a:cs typeface="Calibri" pitchFamily="34" charset="-120"/>
              </a:rPr>
              <a:t>Resolved through lecture material, official docs, and hands-on testing.</a:t>
            </a:r>
            <a:endParaRPr lang="en-US" sz="980" dirty="0"/>
          </a:p>
        </p:txBody>
      </p:sp>
      <p:sp>
        <p:nvSpPr>
          <p:cNvPr id="44" name="Shape 34"/>
          <p:cNvSpPr/>
          <p:nvPr/>
        </p:nvSpPr>
        <p:spPr>
          <a:xfrm>
            <a:off x="11451031" y="6437376"/>
            <a:ext cx="237744" cy="237744"/>
          </a:xfrm>
          <a:prstGeom prst="ellipse">
            <a:avLst/>
          </a:prstGeom>
          <a:solidFill>
            <a:srgbClr val="EEF3F8"/>
          </a:solidFill>
          <a:ln/>
        </p:spPr>
      </p:sp>
      <p:pic>
        <p:nvPicPr>
          <p:cNvPr id="45" name="Image 8" descr="/home/claude/wms_deck/assets/icons/database_navy.png">    </p:cNvPr>
          <p:cNvPicPr>
            <a:picLocks noChangeAspect="1"/>
          </p:cNvPicPr>
          <p:nvPr/>
        </p:nvPicPr>
        <p:blipFill>
          <a:blip r:embed="rId9"/>
          <a:stretch>
            <a:fillRect/>
          </a:stretch>
        </p:blipFill>
        <p:spPr>
          <a:xfrm>
            <a:off x="11515222" y="6501567"/>
            <a:ext cx="109362" cy="109362"/>
          </a:xfrm>
          <a:prstGeom prst="rect">
            <a:avLst/>
          </a:prstGeom>
        </p:spPr>
      </p:pic>
      <p:sp>
        <p:nvSpPr>
          <p:cNvPr id="46" name="Text 35"/>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47" name="Text 36"/>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WHAT'S NEXT</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Future Improvements</a:t>
            </a:r>
            <a:endParaRPr lang="en-US" sz="3000" dirty="0"/>
          </a:p>
        </p:txBody>
      </p:sp>
      <p:sp>
        <p:nvSpPr>
          <p:cNvPr id="4" name="Shape 2"/>
          <p:cNvSpPr/>
          <p:nvPr/>
        </p:nvSpPr>
        <p:spPr>
          <a:xfrm>
            <a:off x="502920" y="1508760"/>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5" name="Shape 3"/>
          <p:cNvSpPr/>
          <p:nvPr/>
        </p:nvSpPr>
        <p:spPr>
          <a:xfrm>
            <a:off x="1263061" y="1764792"/>
            <a:ext cx="585216" cy="585216"/>
          </a:xfrm>
          <a:prstGeom prst="ellipse">
            <a:avLst/>
          </a:prstGeom>
          <a:solidFill>
            <a:srgbClr val="13294B"/>
          </a:solidFill>
          <a:ln/>
        </p:spPr>
      </p:sp>
      <p:pic>
        <p:nvPicPr>
          <p:cNvPr id="6" name="Image 0" descr="/home/claude/wms_deck/assets/icons/barcode_white.png">    </p:cNvPr>
          <p:cNvPicPr>
            <a:picLocks noChangeAspect="1"/>
          </p:cNvPicPr>
          <p:nvPr/>
        </p:nvPicPr>
        <p:blipFill>
          <a:blip r:embed="rId1"/>
          <a:stretch>
            <a:fillRect/>
          </a:stretch>
        </p:blipFill>
        <p:spPr>
          <a:xfrm>
            <a:off x="1421069" y="1922800"/>
            <a:ext cx="269199" cy="269199"/>
          </a:xfrm>
          <a:prstGeom prst="rect">
            <a:avLst/>
          </a:prstGeom>
        </p:spPr>
      </p:pic>
      <p:sp>
        <p:nvSpPr>
          <p:cNvPr id="7" name="Text 4"/>
          <p:cNvSpPr/>
          <p:nvPr/>
        </p:nvSpPr>
        <p:spPr>
          <a:xfrm>
            <a:off x="594360" y="2496312"/>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Barcode Scanner</a:t>
            </a:r>
            <a:endParaRPr lang="en-US" sz="1100" dirty="0"/>
          </a:p>
        </p:txBody>
      </p:sp>
      <p:sp>
        <p:nvSpPr>
          <p:cNvPr id="8" name="Shape 5"/>
          <p:cNvSpPr/>
          <p:nvPr/>
        </p:nvSpPr>
        <p:spPr>
          <a:xfrm>
            <a:off x="2773009" y="1508760"/>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9" name="Shape 6"/>
          <p:cNvSpPr/>
          <p:nvPr/>
        </p:nvSpPr>
        <p:spPr>
          <a:xfrm>
            <a:off x="3533150" y="1764792"/>
            <a:ext cx="585216" cy="585216"/>
          </a:xfrm>
          <a:prstGeom prst="ellipse">
            <a:avLst/>
          </a:prstGeom>
          <a:solidFill>
            <a:srgbClr val="13294B"/>
          </a:solidFill>
          <a:ln/>
        </p:spPr>
      </p:sp>
      <p:pic>
        <p:nvPicPr>
          <p:cNvPr id="10" name="Image 1" descr="/home/claude/wms_deck/assets/icons/qrcode_white.png">    </p:cNvPr>
          <p:cNvPicPr>
            <a:picLocks noChangeAspect="1"/>
          </p:cNvPicPr>
          <p:nvPr/>
        </p:nvPicPr>
        <p:blipFill>
          <a:blip r:embed="rId2"/>
          <a:stretch>
            <a:fillRect/>
          </a:stretch>
        </p:blipFill>
        <p:spPr>
          <a:xfrm>
            <a:off x="3691158" y="1922800"/>
            <a:ext cx="269199" cy="269199"/>
          </a:xfrm>
          <a:prstGeom prst="rect">
            <a:avLst/>
          </a:prstGeom>
        </p:spPr>
      </p:pic>
      <p:sp>
        <p:nvSpPr>
          <p:cNvPr id="11" name="Text 7"/>
          <p:cNvSpPr/>
          <p:nvPr/>
        </p:nvSpPr>
        <p:spPr>
          <a:xfrm>
            <a:off x="2864449" y="2496312"/>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QR Code Tagging</a:t>
            </a:r>
            <a:endParaRPr lang="en-US" sz="1100" dirty="0"/>
          </a:p>
        </p:txBody>
      </p:sp>
      <p:sp>
        <p:nvSpPr>
          <p:cNvPr id="12" name="Shape 8"/>
          <p:cNvSpPr/>
          <p:nvPr/>
        </p:nvSpPr>
        <p:spPr>
          <a:xfrm>
            <a:off x="5043099" y="1508760"/>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13" name="Shape 9"/>
          <p:cNvSpPr/>
          <p:nvPr/>
        </p:nvSpPr>
        <p:spPr>
          <a:xfrm>
            <a:off x="5803240" y="1764792"/>
            <a:ext cx="585216" cy="585216"/>
          </a:xfrm>
          <a:prstGeom prst="ellipse">
            <a:avLst/>
          </a:prstGeom>
          <a:solidFill>
            <a:srgbClr val="13294B"/>
          </a:solidFill>
          <a:ln/>
        </p:spPr>
      </p:sp>
      <p:pic>
        <p:nvPicPr>
          <p:cNvPr id="14" name="Image 2" descr="/home/claude/wms_deck/assets/icons/cloud_white.png">    </p:cNvPr>
          <p:cNvPicPr>
            <a:picLocks noChangeAspect="1"/>
          </p:cNvPicPr>
          <p:nvPr/>
        </p:nvPicPr>
        <p:blipFill>
          <a:blip r:embed="rId3"/>
          <a:stretch>
            <a:fillRect/>
          </a:stretch>
        </p:blipFill>
        <p:spPr>
          <a:xfrm>
            <a:off x="5961248" y="1922800"/>
            <a:ext cx="269199" cy="269199"/>
          </a:xfrm>
          <a:prstGeom prst="rect">
            <a:avLst/>
          </a:prstGeom>
        </p:spPr>
      </p:pic>
      <p:sp>
        <p:nvSpPr>
          <p:cNvPr id="15" name="Text 10"/>
          <p:cNvSpPr/>
          <p:nvPr/>
        </p:nvSpPr>
        <p:spPr>
          <a:xfrm>
            <a:off x="5134539" y="2496312"/>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Cloud Database</a:t>
            </a:r>
            <a:endParaRPr lang="en-US" sz="1100" dirty="0"/>
          </a:p>
        </p:txBody>
      </p:sp>
      <p:sp>
        <p:nvSpPr>
          <p:cNvPr id="16" name="Shape 11"/>
          <p:cNvSpPr/>
          <p:nvPr/>
        </p:nvSpPr>
        <p:spPr>
          <a:xfrm>
            <a:off x="7313188" y="1508760"/>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17" name="Shape 12"/>
          <p:cNvSpPr/>
          <p:nvPr/>
        </p:nvSpPr>
        <p:spPr>
          <a:xfrm>
            <a:off x="8073329" y="1764792"/>
            <a:ext cx="585216" cy="585216"/>
          </a:xfrm>
          <a:prstGeom prst="ellipse">
            <a:avLst/>
          </a:prstGeom>
          <a:solidFill>
            <a:srgbClr val="13294B"/>
          </a:solidFill>
          <a:ln/>
        </p:spPr>
      </p:sp>
      <p:pic>
        <p:nvPicPr>
          <p:cNvPr id="18" name="Image 3" descr="/home/claude/wms_deck/assets/icons/mobile_white.png">    </p:cNvPr>
          <p:cNvPicPr>
            <a:picLocks noChangeAspect="1"/>
          </p:cNvPicPr>
          <p:nvPr/>
        </p:nvPicPr>
        <p:blipFill>
          <a:blip r:embed="rId4"/>
          <a:stretch>
            <a:fillRect/>
          </a:stretch>
        </p:blipFill>
        <p:spPr>
          <a:xfrm>
            <a:off x="8231337" y="1922800"/>
            <a:ext cx="269199" cy="269199"/>
          </a:xfrm>
          <a:prstGeom prst="rect">
            <a:avLst/>
          </a:prstGeom>
        </p:spPr>
      </p:pic>
      <p:sp>
        <p:nvSpPr>
          <p:cNvPr id="19" name="Text 13"/>
          <p:cNvSpPr/>
          <p:nvPr/>
        </p:nvSpPr>
        <p:spPr>
          <a:xfrm>
            <a:off x="7404628" y="2496312"/>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Mobile Application</a:t>
            </a:r>
            <a:endParaRPr lang="en-US" sz="1100" dirty="0"/>
          </a:p>
        </p:txBody>
      </p:sp>
      <p:sp>
        <p:nvSpPr>
          <p:cNvPr id="20" name="Shape 14"/>
          <p:cNvSpPr/>
          <p:nvPr/>
        </p:nvSpPr>
        <p:spPr>
          <a:xfrm>
            <a:off x="9583278" y="1508760"/>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21" name="Shape 15"/>
          <p:cNvSpPr/>
          <p:nvPr/>
        </p:nvSpPr>
        <p:spPr>
          <a:xfrm>
            <a:off x="10343418" y="1764792"/>
            <a:ext cx="585216" cy="585216"/>
          </a:xfrm>
          <a:prstGeom prst="ellipse">
            <a:avLst/>
          </a:prstGeom>
          <a:solidFill>
            <a:srgbClr val="13294B"/>
          </a:solidFill>
          <a:ln/>
        </p:spPr>
      </p:sp>
      <p:pic>
        <p:nvPicPr>
          <p:cNvPr id="22" name="Image 4" descr="/home/claude/wms_deck/assets/icons/lock_white.png">    </p:cNvPr>
          <p:cNvPicPr>
            <a:picLocks noChangeAspect="1"/>
          </p:cNvPicPr>
          <p:nvPr/>
        </p:nvPicPr>
        <p:blipFill>
          <a:blip r:embed="rId5"/>
          <a:stretch>
            <a:fillRect/>
          </a:stretch>
        </p:blipFill>
        <p:spPr>
          <a:xfrm>
            <a:off x="10501427" y="1922800"/>
            <a:ext cx="269199" cy="269199"/>
          </a:xfrm>
          <a:prstGeom prst="rect">
            <a:avLst/>
          </a:prstGeom>
        </p:spPr>
      </p:pic>
      <p:sp>
        <p:nvSpPr>
          <p:cNvPr id="23" name="Text 16"/>
          <p:cNvSpPr/>
          <p:nvPr/>
        </p:nvSpPr>
        <p:spPr>
          <a:xfrm>
            <a:off x="9674718" y="2496312"/>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Authentication</a:t>
            </a:r>
            <a:endParaRPr lang="en-US" sz="1100" dirty="0"/>
          </a:p>
        </p:txBody>
      </p:sp>
      <p:sp>
        <p:nvSpPr>
          <p:cNvPr id="24" name="Shape 17"/>
          <p:cNvSpPr/>
          <p:nvPr/>
        </p:nvSpPr>
        <p:spPr>
          <a:xfrm>
            <a:off x="502920" y="3410712"/>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25" name="Shape 18"/>
          <p:cNvSpPr/>
          <p:nvPr/>
        </p:nvSpPr>
        <p:spPr>
          <a:xfrm>
            <a:off x="1263061" y="3666744"/>
            <a:ext cx="585216" cy="585216"/>
          </a:xfrm>
          <a:prstGeom prst="ellipse">
            <a:avLst/>
          </a:prstGeom>
          <a:solidFill>
            <a:srgbClr val="13294B"/>
          </a:solidFill>
          <a:ln/>
        </p:spPr>
      </p:sp>
      <p:pic>
        <p:nvPicPr>
          <p:cNvPr id="26" name="Image 5" descr="/home/claude/wms_deck/assets/icons/thLarge_white.png">    </p:cNvPr>
          <p:cNvPicPr>
            <a:picLocks noChangeAspect="1"/>
          </p:cNvPicPr>
          <p:nvPr/>
        </p:nvPicPr>
        <p:blipFill>
          <a:blip r:embed="rId6"/>
          <a:stretch>
            <a:fillRect/>
          </a:stretch>
        </p:blipFill>
        <p:spPr>
          <a:xfrm>
            <a:off x="1421069" y="3824752"/>
            <a:ext cx="269199" cy="269199"/>
          </a:xfrm>
          <a:prstGeom prst="rect">
            <a:avLst/>
          </a:prstGeom>
        </p:spPr>
      </p:pic>
      <p:sp>
        <p:nvSpPr>
          <p:cNvPr id="27" name="Text 19"/>
          <p:cNvSpPr/>
          <p:nvPr/>
        </p:nvSpPr>
        <p:spPr>
          <a:xfrm>
            <a:off x="594360" y="4398264"/>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Admin Dashboard</a:t>
            </a:r>
            <a:endParaRPr lang="en-US" sz="1100" dirty="0"/>
          </a:p>
        </p:txBody>
      </p:sp>
      <p:sp>
        <p:nvSpPr>
          <p:cNvPr id="28" name="Shape 20"/>
          <p:cNvSpPr/>
          <p:nvPr/>
        </p:nvSpPr>
        <p:spPr>
          <a:xfrm>
            <a:off x="2773009" y="3410712"/>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29" name="Shape 21"/>
          <p:cNvSpPr/>
          <p:nvPr/>
        </p:nvSpPr>
        <p:spPr>
          <a:xfrm>
            <a:off x="3533150" y="3666744"/>
            <a:ext cx="585216" cy="585216"/>
          </a:xfrm>
          <a:prstGeom prst="ellipse">
            <a:avLst/>
          </a:prstGeom>
          <a:solidFill>
            <a:srgbClr val="13294B"/>
          </a:solidFill>
          <a:ln/>
        </p:spPr>
      </p:sp>
      <p:pic>
        <p:nvPicPr>
          <p:cNvPr id="30" name="Image 6" descr="/home/claude/wms_deck/assets/icons/chartBar_white.png">    </p:cNvPr>
          <p:cNvPicPr>
            <a:picLocks noChangeAspect="1"/>
          </p:cNvPicPr>
          <p:nvPr/>
        </p:nvPicPr>
        <p:blipFill>
          <a:blip r:embed="rId7"/>
          <a:stretch>
            <a:fillRect/>
          </a:stretch>
        </p:blipFill>
        <p:spPr>
          <a:xfrm>
            <a:off x="3691158" y="3824752"/>
            <a:ext cx="269199" cy="269199"/>
          </a:xfrm>
          <a:prstGeom prst="rect">
            <a:avLst/>
          </a:prstGeom>
        </p:spPr>
      </p:pic>
      <p:sp>
        <p:nvSpPr>
          <p:cNvPr id="31" name="Text 22"/>
          <p:cNvSpPr/>
          <p:nvPr/>
        </p:nvSpPr>
        <p:spPr>
          <a:xfrm>
            <a:off x="2864449" y="4398264"/>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Reports Dashboard</a:t>
            </a:r>
            <a:endParaRPr lang="en-US" sz="1100" dirty="0"/>
          </a:p>
        </p:txBody>
      </p:sp>
      <p:sp>
        <p:nvSpPr>
          <p:cNvPr id="32" name="Shape 23"/>
          <p:cNvSpPr/>
          <p:nvPr/>
        </p:nvSpPr>
        <p:spPr>
          <a:xfrm>
            <a:off x="5043099" y="3410712"/>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33" name="Shape 24"/>
          <p:cNvSpPr/>
          <p:nvPr/>
        </p:nvSpPr>
        <p:spPr>
          <a:xfrm>
            <a:off x="5803240" y="3666744"/>
            <a:ext cx="585216" cy="585216"/>
          </a:xfrm>
          <a:prstGeom prst="ellipse">
            <a:avLst/>
          </a:prstGeom>
          <a:solidFill>
            <a:srgbClr val="13294B"/>
          </a:solidFill>
          <a:ln/>
        </p:spPr>
      </p:sp>
      <p:pic>
        <p:nvPicPr>
          <p:cNvPr id="34" name="Image 7" descr="/home/claude/wms_deck/assets/icons/bell_white.png">    </p:cNvPr>
          <p:cNvPicPr>
            <a:picLocks noChangeAspect="1"/>
          </p:cNvPicPr>
          <p:nvPr/>
        </p:nvPicPr>
        <p:blipFill>
          <a:blip r:embed="rId8"/>
          <a:stretch>
            <a:fillRect/>
          </a:stretch>
        </p:blipFill>
        <p:spPr>
          <a:xfrm>
            <a:off x="5961248" y="3824752"/>
            <a:ext cx="269199" cy="269199"/>
          </a:xfrm>
          <a:prstGeom prst="rect">
            <a:avLst/>
          </a:prstGeom>
        </p:spPr>
      </p:pic>
      <p:sp>
        <p:nvSpPr>
          <p:cNvPr id="35" name="Text 25"/>
          <p:cNvSpPr/>
          <p:nvPr/>
        </p:nvSpPr>
        <p:spPr>
          <a:xfrm>
            <a:off x="5134539" y="4398264"/>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Notifications</a:t>
            </a:r>
            <a:endParaRPr lang="en-US" sz="1100" dirty="0"/>
          </a:p>
        </p:txBody>
      </p:sp>
      <p:sp>
        <p:nvSpPr>
          <p:cNvPr id="36" name="Shape 26"/>
          <p:cNvSpPr/>
          <p:nvPr/>
        </p:nvSpPr>
        <p:spPr>
          <a:xfrm>
            <a:off x="7313188" y="3410712"/>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37" name="Shape 27"/>
          <p:cNvSpPr/>
          <p:nvPr/>
        </p:nvSpPr>
        <p:spPr>
          <a:xfrm>
            <a:off x="8073329" y="3666744"/>
            <a:ext cx="585216" cy="585216"/>
          </a:xfrm>
          <a:prstGeom prst="ellipse">
            <a:avLst/>
          </a:prstGeom>
          <a:solidFill>
            <a:srgbClr val="13294B"/>
          </a:solidFill>
          <a:ln/>
        </p:spPr>
      </p:sp>
      <p:pic>
        <p:nvPicPr>
          <p:cNvPr id="38" name="Image 8" descr="/home/claude/wms_deck/assets/icons/envelope_white.png">    </p:cNvPr>
          <p:cNvPicPr>
            <a:picLocks noChangeAspect="1"/>
          </p:cNvPicPr>
          <p:nvPr/>
        </p:nvPicPr>
        <p:blipFill>
          <a:blip r:embed="rId9"/>
          <a:stretch>
            <a:fillRect/>
          </a:stretch>
        </p:blipFill>
        <p:spPr>
          <a:xfrm>
            <a:off x="8231337" y="3824752"/>
            <a:ext cx="269199" cy="269199"/>
          </a:xfrm>
          <a:prstGeom prst="rect">
            <a:avLst/>
          </a:prstGeom>
        </p:spPr>
      </p:pic>
      <p:sp>
        <p:nvSpPr>
          <p:cNvPr id="39" name="Text 28"/>
          <p:cNvSpPr/>
          <p:nvPr/>
        </p:nvSpPr>
        <p:spPr>
          <a:xfrm>
            <a:off x="7404628" y="4398264"/>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Email Alerts</a:t>
            </a:r>
            <a:endParaRPr lang="en-US" sz="1100" dirty="0"/>
          </a:p>
        </p:txBody>
      </p:sp>
      <p:sp>
        <p:nvSpPr>
          <p:cNvPr id="40" name="Shape 29"/>
          <p:cNvSpPr/>
          <p:nvPr/>
        </p:nvSpPr>
        <p:spPr>
          <a:xfrm>
            <a:off x="9583278" y="3410712"/>
            <a:ext cx="2105497" cy="1737360"/>
          </a:xfrm>
          <a:prstGeom prst="roundRect">
            <a:avLst>
              <a:gd name="adj" fmla="val 4211"/>
            </a:avLst>
          </a:prstGeom>
          <a:solidFill>
            <a:srgbClr val="F7FAFC"/>
          </a:solidFill>
          <a:ln/>
          <a:effectLst>
            <a:outerShdw sx="100000" sy="100000" kx="0" ky="0" algn="bl" rotWithShape="0" blurRad="76200" dist="25400" dir="5400000">
              <a:srgbClr val="13294B">
                <a:alpha val="10000"/>
              </a:srgbClr>
            </a:outerShdw>
          </a:effectLst>
        </p:spPr>
      </p:sp>
      <p:sp>
        <p:nvSpPr>
          <p:cNvPr id="41" name="Shape 30"/>
          <p:cNvSpPr/>
          <p:nvPr/>
        </p:nvSpPr>
        <p:spPr>
          <a:xfrm>
            <a:off x="10343418" y="3666744"/>
            <a:ext cx="585216" cy="585216"/>
          </a:xfrm>
          <a:prstGeom prst="ellipse">
            <a:avLst/>
          </a:prstGeom>
          <a:solidFill>
            <a:srgbClr val="13294B"/>
          </a:solidFill>
          <a:ln/>
        </p:spPr>
      </p:sp>
      <p:pic>
        <p:nvPicPr>
          <p:cNvPr id="42" name="Image 9" descr="/home/claude/wms_deck/assets/icons/robot_white.png">    </p:cNvPr>
          <p:cNvPicPr>
            <a:picLocks noChangeAspect="1"/>
          </p:cNvPicPr>
          <p:nvPr/>
        </p:nvPicPr>
        <p:blipFill>
          <a:blip r:embed="rId10"/>
          <a:stretch>
            <a:fillRect/>
          </a:stretch>
        </p:blipFill>
        <p:spPr>
          <a:xfrm>
            <a:off x="10501427" y="3824752"/>
            <a:ext cx="269199" cy="269199"/>
          </a:xfrm>
          <a:prstGeom prst="rect">
            <a:avLst/>
          </a:prstGeom>
        </p:spPr>
      </p:pic>
      <p:sp>
        <p:nvSpPr>
          <p:cNvPr id="43" name="Text 31"/>
          <p:cNvSpPr/>
          <p:nvPr/>
        </p:nvSpPr>
        <p:spPr>
          <a:xfrm>
            <a:off x="9674718" y="4398264"/>
            <a:ext cx="1922617" cy="640080"/>
          </a:xfrm>
          <a:prstGeom prst="rect">
            <a:avLst/>
          </a:prstGeom>
          <a:noFill/>
          <a:ln/>
        </p:spPr>
        <p:txBody>
          <a:bodyPr wrap="square" rtlCol="0" anchor="t"/>
          <a:lstStyle/>
          <a:p>
            <a:pPr algn="ctr" indent="0" marL="0">
              <a:lnSpc>
                <a:spcPct val="100000"/>
              </a:lnSpc>
              <a:buNone/>
            </a:pPr>
            <a:r>
              <a:rPr lang="en-US" sz="1100" b="1" dirty="0">
                <a:solidFill>
                  <a:srgbClr val="13294B"/>
                </a:solidFill>
                <a:latin typeface="Calibri" pitchFamily="34" charset="0"/>
                <a:ea typeface="Calibri" pitchFamily="34" charset="-122"/>
                <a:cs typeface="Calibri" pitchFamily="34" charset="-120"/>
              </a:rPr>
              <a:t>AI Inventory Prediction</a:t>
            </a:r>
            <a:endParaRPr lang="en-US" sz="1100" dirty="0"/>
          </a:p>
        </p:txBody>
      </p:sp>
      <p:sp>
        <p:nvSpPr>
          <p:cNvPr id="44" name="Shape 32"/>
          <p:cNvSpPr/>
          <p:nvPr/>
        </p:nvSpPr>
        <p:spPr>
          <a:xfrm>
            <a:off x="11451031" y="6437376"/>
            <a:ext cx="237744" cy="237744"/>
          </a:xfrm>
          <a:prstGeom prst="ellipse">
            <a:avLst/>
          </a:prstGeom>
          <a:solidFill>
            <a:srgbClr val="EEF3F8"/>
          </a:solidFill>
          <a:ln/>
        </p:spPr>
      </p:sp>
      <p:pic>
        <p:nvPicPr>
          <p:cNvPr id="45" name="Image 10" descr="/home/claude/wms_deck/assets/icons/database_navy.png">    </p:cNvPr>
          <p:cNvPicPr>
            <a:picLocks noChangeAspect="1"/>
          </p:cNvPicPr>
          <p:nvPr/>
        </p:nvPicPr>
        <p:blipFill>
          <a:blip r:embed="rId11"/>
          <a:stretch>
            <a:fillRect/>
          </a:stretch>
        </p:blipFill>
        <p:spPr>
          <a:xfrm>
            <a:off x="11515222" y="6501567"/>
            <a:ext cx="109362" cy="109362"/>
          </a:xfrm>
          <a:prstGeom prst="rect">
            <a:avLst/>
          </a:prstGeom>
        </p:spPr>
      </p:pic>
      <p:sp>
        <p:nvSpPr>
          <p:cNvPr id="46" name="Text 33"/>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47" name="Text 34"/>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274320"/>
          </a:xfrm>
          <a:prstGeom prst="rect">
            <a:avLst/>
          </a:prstGeom>
          <a:noFill/>
          <a:ln/>
        </p:spPr>
        <p:txBody>
          <a:bodyPr wrap="square" rtlCol="0" anchor="ctr"/>
          <a:lstStyle/>
          <a:p>
            <a:pPr indent="0" marL="0">
              <a:buNone/>
            </a:pPr>
            <a:r>
              <a:rPr lang="en-US" sz="1250" b="1" spc="150" kern="0" dirty="0">
                <a:solidFill>
                  <a:srgbClr val="3D8EC9"/>
                </a:solidFill>
                <a:latin typeface="Calibri" pitchFamily="34" charset="0"/>
                <a:ea typeface="Calibri" pitchFamily="34" charset="-122"/>
                <a:cs typeface="Calibri" pitchFamily="34" charset="-120"/>
              </a:rPr>
              <a:t>CONCLUSION</a:t>
            </a:r>
            <a:endParaRPr lang="en-US" sz="1250" dirty="0"/>
          </a:p>
        </p:txBody>
      </p:sp>
      <p:sp>
        <p:nvSpPr>
          <p:cNvPr id="3" name="Text 1"/>
          <p:cNvSpPr/>
          <p:nvPr/>
        </p:nvSpPr>
        <p:spPr>
          <a:xfrm>
            <a:off x="502920" y="786384"/>
            <a:ext cx="11185855" cy="640080"/>
          </a:xfrm>
          <a:prstGeom prst="rect">
            <a:avLst/>
          </a:prstGeom>
          <a:noFill/>
          <a:ln/>
        </p:spPr>
        <p:txBody>
          <a:bodyPr wrap="square" rtlCol="0" anchor="t"/>
          <a:lstStyle/>
          <a:p>
            <a:pPr indent="0" marL="0">
              <a:buNone/>
            </a:pPr>
            <a:r>
              <a:rPr lang="en-US" sz="3000" b="1" dirty="0">
                <a:solidFill>
                  <a:srgbClr val="13294B"/>
                </a:solidFill>
                <a:latin typeface="Calibri" pitchFamily="34" charset="0"/>
                <a:ea typeface="Calibri" pitchFamily="34" charset="-122"/>
                <a:cs typeface="Calibri" pitchFamily="34" charset="-120"/>
              </a:rPr>
              <a:t>Conclusion</a:t>
            </a:r>
            <a:endParaRPr lang="en-US" sz="3000" dirty="0"/>
          </a:p>
        </p:txBody>
      </p:sp>
      <p:sp>
        <p:nvSpPr>
          <p:cNvPr id="4" name="Shape 2"/>
          <p:cNvSpPr/>
          <p:nvPr/>
        </p:nvSpPr>
        <p:spPr>
          <a:xfrm>
            <a:off x="502920" y="1600200"/>
            <a:ext cx="256032" cy="256032"/>
          </a:xfrm>
          <a:prstGeom prst="ellipse">
            <a:avLst/>
          </a:prstGeom>
          <a:solidFill>
            <a:srgbClr val="3D8EC9"/>
          </a:solidFill>
          <a:ln/>
        </p:spPr>
      </p:sp>
      <p:pic>
        <p:nvPicPr>
          <p:cNvPr id="5" name="Image 0" descr="/home/claude/wms_deck/assets/icons/checkCircle_white.png">    </p:cNvPr>
          <p:cNvPicPr>
            <a:picLocks noChangeAspect="1"/>
          </p:cNvPicPr>
          <p:nvPr/>
        </p:nvPicPr>
        <p:blipFill>
          <a:blip r:embed="rId1"/>
          <a:stretch>
            <a:fillRect/>
          </a:stretch>
        </p:blipFill>
        <p:spPr>
          <a:xfrm>
            <a:off x="572049" y="1669329"/>
            <a:ext cx="117775" cy="117775"/>
          </a:xfrm>
          <a:prstGeom prst="rect">
            <a:avLst/>
          </a:prstGeom>
        </p:spPr>
      </p:pic>
      <p:sp>
        <p:nvSpPr>
          <p:cNvPr id="6" name="Text 3"/>
          <p:cNvSpPr/>
          <p:nvPr/>
        </p:nvSpPr>
        <p:spPr>
          <a:xfrm>
            <a:off x="868680" y="1545336"/>
            <a:ext cx="10820095" cy="384048"/>
          </a:xfrm>
          <a:prstGeom prst="rect">
            <a:avLst/>
          </a:prstGeom>
          <a:noFill/>
          <a:ln/>
        </p:spPr>
        <p:txBody>
          <a:bodyPr wrap="square" rtlCol="0" anchor="ctr"/>
          <a:lstStyle/>
          <a:p>
            <a:pPr indent="0" marL="0">
              <a:lnSpc>
                <a:spcPct val="105000"/>
              </a:lnSpc>
              <a:buNone/>
            </a:pPr>
            <a:r>
              <a:rPr lang="en-US" sz="1400" dirty="0">
                <a:solidFill>
                  <a:srgbClr val="17212E"/>
                </a:solidFill>
                <a:latin typeface="Calibri" pitchFamily="34" charset="0"/>
                <a:ea typeface="Calibri" pitchFamily="34" charset="-122"/>
                <a:cs typeface="Calibri" pitchFamily="34" charset="-120"/>
              </a:rPr>
              <a:t>All five project objectives were achieved — from schema design through PL/SQL logic to reporting.</a:t>
            </a:r>
            <a:endParaRPr lang="en-US" sz="1400" dirty="0"/>
          </a:p>
        </p:txBody>
      </p:sp>
      <p:sp>
        <p:nvSpPr>
          <p:cNvPr id="7" name="Shape 4"/>
          <p:cNvSpPr/>
          <p:nvPr/>
        </p:nvSpPr>
        <p:spPr>
          <a:xfrm>
            <a:off x="502920" y="2350008"/>
            <a:ext cx="256032" cy="256032"/>
          </a:xfrm>
          <a:prstGeom prst="ellipse">
            <a:avLst/>
          </a:prstGeom>
          <a:solidFill>
            <a:srgbClr val="3D8EC9"/>
          </a:solidFill>
          <a:ln/>
        </p:spPr>
      </p:sp>
      <p:pic>
        <p:nvPicPr>
          <p:cNvPr id="8" name="Image 1" descr="/home/claude/wms_deck/assets/icons/checkCircle_white.png">    </p:cNvPr>
          <p:cNvPicPr>
            <a:picLocks noChangeAspect="1"/>
          </p:cNvPicPr>
          <p:nvPr/>
        </p:nvPicPr>
        <p:blipFill>
          <a:blip r:embed="rId2"/>
          <a:stretch>
            <a:fillRect/>
          </a:stretch>
        </p:blipFill>
        <p:spPr>
          <a:xfrm>
            <a:off x="572049" y="2419137"/>
            <a:ext cx="117775" cy="117775"/>
          </a:xfrm>
          <a:prstGeom prst="rect">
            <a:avLst/>
          </a:prstGeom>
        </p:spPr>
      </p:pic>
      <p:sp>
        <p:nvSpPr>
          <p:cNvPr id="9" name="Text 5"/>
          <p:cNvSpPr/>
          <p:nvPr/>
        </p:nvSpPr>
        <p:spPr>
          <a:xfrm>
            <a:off x="868680" y="2295144"/>
            <a:ext cx="10820095" cy="384048"/>
          </a:xfrm>
          <a:prstGeom prst="rect">
            <a:avLst/>
          </a:prstGeom>
          <a:noFill/>
          <a:ln/>
        </p:spPr>
        <p:txBody>
          <a:bodyPr wrap="square" rtlCol="0" anchor="ctr"/>
          <a:lstStyle/>
          <a:p>
            <a:pPr indent="0" marL="0">
              <a:lnSpc>
                <a:spcPct val="105000"/>
              </a:lnSpc>
              <a:buNone/>
            </a:pPr>
            <a:r>
              <a:rPr lang="en-US" sz="1400" dirty="0">
                <a:solidFill>
                  <a:srgbClr val="17212E"/>
                </a:solidFill>
                <a:latin typeface="Calibri" pitchFamily="34" charset="0"/>
                <a:ea typeface="Calibri" pitchFamily="34" charset="-122"/>
                <a:cs typeface="Calibri" pitchFamily="34" charset="-120"/>
              </a:rPr>
              <a:t>The system replaces manual, error-prone stock-keeping with a validated relational database.</a:t>
            </a:r>
            <a:endParaRPr lang="en-US" sz="1400" dirty="0"/>
          </a:p>
        </p:txBody>
      </p:sp>
      <p:sp>
        <p:nvSpPr>
          <p:cNvPr id="10" name="Shape 6"/>
          <p:cNvSpPr/>
          <p:nvPr/>
        </p:nvSpPr>
        <p:spPr>
          <a:xfrm>
            <a:off x="502920" y="3099816"/>
            <a:ext cx="256032" cy="256032"/>
          </a:xfrm>
          <a:prstGeom prst="ellipse">
            <a:avLst/>
          </a:prstGeom>
          <a:solidFill>
            <a:srgbClr val="3D8EC9"/>
          </a:solidFill>
          <a:ln/>
        </p:spPr>
      </p:sp>
      <p:pic>
        <p:nvPicPr>
          <p:cNvPr id="11" name="Image 2" descr="/home/claude/wms_deck/assets/icons/checkCircle_white.png">    </p:cNvPr>
          <p:cNvPicPr>
            <a:picLocks noChangeAspect="1"/>
          </p:cNvPicPr>
          <p:nvPr/>
        </p:nvPicPr>
        <p:blipFill>
          <a:blip r:embed="rId3"/>
          <a:stretch>
            <a:fillRect/>
          </a:stretch>
        </p:blipFill>
        <p:spPr>
          <a:xfrm>
            <a:off x="572049" y="3168945"/>
            <a:ext cx="117775" cy="117775"/>
          </a:xfrm>
          <a:prstGeom prst="rect">
            <a:avLst/>
          </a:prstGeom>
        </p:spPr>
      </p:pic>
      <p:sp>
        <p:nvSpPr>
          <p:cNvPr id="12" name="Text 7"/>
          <p:cNvSpPr/>
          <p:nvPr/>
        </p:nvSpPr>
        <p:spPr>
          <a:xfrm>
            <a:off x="868680" y="3044952"/>
            <a:ext cx="10820095" cy="384048"/>
          </a:xfrm>
          <a:prstGeom prst="rect">
            <a:avLst/>
          </a:prstGeom>
          <a:noFill/>
          <a:ln/>
        </p:spPr>
        <p:txBody>
          <a:bodyPr wrap="square" rtlCol="0" anchor="ctr"/>
          <a:lstStyle/>
          <a:p>
            <a:pPr indent="0" marL="0">
              <a:lnSpc>
                <a:spcPct val="105000"/>
              </a:lnSpc>
              <a:buNone/>
            </a:pPr>
            <a:r>
              <a:rPr lang="en-US" sz="1400" dirty="0">
                <a:solidFill>
                  <a:srgbClr val="17212E"/>
                </a:solidFill>
                <a:latin typeface="Calibri" pitchFamily="34" charset="0"/>
                <a:ea typeface="Calibri" pitchFamily="34" charset="-122"/>
                <a:cs typeface="Calibri" pitchFamily="34" charset="-120"/>
              </a:rPr>
              <a:t>Core PL/SQL concepts were demonstrated: an anonymous block, a stored procedure, a function, an implicit cursor, and window functions.</a:t>
            </a:r>
            <a:endParaRPr lang="en-US" sz="1400" dirty="0"/>
          </a:p>
        </p:txBody>
      </p:sp>
      <p:sp>
        <p:nvSpPr>
          <p:cNvPr id="13" name="Shape 8"/>
          <p:cNvSpPr/>
          <p:nvPr/>
        </p:nvSpPr>
        <p:spPr>
          <a:xfrm>
            <a:off x="502920" y="3849624"/>
            <a:ext cx="256032" cy="256032"/>
          </a:xfrm>
          <a:prstGeom prst="ellipse">
            <a:avLst/>
          </a:prstGeom>
          <a:solidFill>
            <a:srgbClr val="3D8EC9"/>
          </a:solidFill>
          <a:ln/>
        </p:spPr>
      </p:sp>
      <p:pic>
        <p:nvPicPr>
          <p:cNvPr id="14" name="Image 3" descr="/home/claude/wms_deck/assets/icons/checkCircle_white.png">    </p:cNvPr>
          <p:cNvPicPr>
            <a:picLocks noChangeAspect="1"/>
          </p:cNvPicPr>
          <p:nvPr/>
        </p:nvPicPr>
        <p:blipFill>
          <a:blip r:embed="rId4"/>
          <a:stretch>
            <a:fillRect/>
          </a:stretch>
        </p:blipFill>
        <p:spPr>
          <a:xfrm>
            <a:off x="572049" y="3918753"/>
            <a:ext cx="117775" cy="117775"/>
          </a:xfrm>
          <a:prstGeom prst="rect">
            <a:avLst/>
          </a:prstGeom>
        </p:spPr>
      </p:pic>
      <p:sp>
        <p:nvSpPr>
          <p:cNvPr id="15" name="Text 9"/>
          <p:cNvSpPr/>
          <p:nvPr/>
        </p:nvSpPr>
        <p:spPr>
          <a:xfrm>
            <a:off x="868680" y="3794760"/>
            <a:ext cx="10820095" cy="384048"/>
          </a:xfrm>
          <a:prstGeom prst="rect">
            <a:avLst/>
          </a:prstGeom>
          <a:noFill/>
          <a:ln/>
        </p:spPr>
        <p:txBody>
          <a:bodyPr wrap="square" rtlCol="0" anchor="ctr"/>
          <a:lstStyle/>
          <a:p>
            <a:pPr indent="0" marL="0">
              <a:lnSpc>
                <a:spcPct val="105000"/>
              </a:lnSpc>
              <a:buNone/>
            </a:pPr>
            <a:r>
              <a:rPr lang="en-US" sz="1400" dirty="0">
                <a:solidFill>
                  <a:srgbClr val="17212E"/>
                </a:solidFill>
                <a:latin typeface="Calibri" pitchFamily="34" charset="0"/>
                <a:ea typeface="Calibri" pitchFamily="34" charset="-122"/>
                <a:cs typeface="Calibri" pitchFamily="34" charset="-120"/>
              </a:rPr>
              <a:t>The database was implemented, populated, and tested end-to-end in Oracle SQL Developer.</a:t>
            </a:r>
            <a:endParaRPr lang="en-US" sz="1400" dirty="0"/>
          </a:p>
        </p:txBody>
      </p:sp>
      <p:sp>
        <p:nvSpPr>
          <p:cNvPr id="16" name="Shape 10"/>
          <p:cNvSpPr/>
          <p:nvPr/>
        </p:nvSpPr>
        <p:spPr>
          <a:xfrm>
            <a:off x="502920" y="4599432"/>
            <a:ext cx="256032" cy="256032"/>
          </a:xfrm>
          <a:prstGeom prst="ellipse">
            <a:avLst/>
          </a:prstGeom>
          <a:solidFill>
            <a:srgbClr val="3D8EC9"/>
          </a:solidFill>
          <a:ln/>
        </p:spPr>
      </p:sp>
      <p:pic>
        <p:nvPicPr>
          <p:cNvPr id="17" name="Image 4" descr="/home/claude/wms_deck/assets/icons/checkCircle_white.png">    </p:cNvPr>
          <p:cNvPicPr>
            <a:picLocks noChangeAspect="1"/>
          </p:cNvPicPr>
          <p:nvPr/>
        </p:nvPicPr>
        <p:blipFill>
          <a:blip r:embed="rId5"/>
          <a:stretch>
            <a:fillRect/>
          </a:stretch>
        </p:blipFill>
        <p:spPr>
          <a:xfrm>
            <a:off x="572049" y="4668561"/>
            <a:ext cx="117775" cy="117775"/>
          </a:xfrm>
          <a:prstGeom prst="rect">
            <a:avLst/>
          </a:prstGeom>
        </p:spPr>
      </p:pic>
      <p:sp>
        <p:nvSpPr>
          <p:cNvPr id="18" name="Text 11"/>
          <p:cNvSpPr/>
          <p:nvPr/>
        </p:nvSpPr>
        <p:spPr>
          <a:xfrm>
            <a:off x="868680" y="4544568"/>
            <a:ext cx="10820095" cy="384048"/>
          </a:xfrm>
          <a:prstGeom prst="rect">
            <a:avLst/>
          </a:prstGeom>
          <a:noFill/>
          <a:ln/>
        </p:spPr>
        <p:txBody>
          <a:bodyPr wrap="square" rtlCol="0" anchor="ctr"/>
          <a:lstStyle/>
          <a:p>
            <a:pPr indent="0" marL="0">
              <a:lnSpc>
                <a:spcPct val="105000"/>
              </a:lnSpc>
              <a:buNone/>
            </a:pPr>
            <a:r>
              <a:rPr lang="en-US" sz="1400" dirty="0">
                <a:solidFill>
                  <a:srgbClr val="17212E"/>
                </a:solidFill>
                <a:latin typeface="Calibri" pitchFamily="34" charset="0"/>
                <a:ea typeface="Calibri" pitchFamily="34" charset="-122"/>
                <a:cs typeface="Calibri" pitchFamily="34" charset="-120"/>
              </a:rPr>
              <a:t>All DPR400210 assignment requirements were fulfilled, with every test case in the testing summary passing.</a:t>
            </a:r>
            <a:endParaRPr lang="en-US" sz="1400" dirty="0"/>
          </a:p>
        </p:txBody>
      </p:sp>
      <p:sp>
        <p:nvSpPr>
          <p:cNvPr id="19" name="Shape 12"/>
          <p:cNvSpPr/>
          <p:nvPr/>
        </p:nvSpPr>
        <p:spPr>
          <a:xfrm>
            <a:off x="502920" y="5623560"/>
            <a:ext cx="11185855" cy="685800"/>
          </a:xfrm>
          <a:prstGeom prst="roundRect">
            <a:avLst>
              <a:gd name="adj" fmla="val 10667"/>
            </a:avLst>
          </a:prstGeom>
          <a:solidFill>
            <a:srgbClr val="13294B"/>
          </a:solidFill>
          <a:ln/>
        </p:spPr>
      </p:sp>
      <p:sp>
        <p:nvSpPr>
          <p:cNvPr id="20" name="Text 13"/>
          <p:cNvSpPr/>
          <p:nvPr/>
        </p:nvSpPr>
        <p:spPr>
          <a:xfrm>
            <a:off x="777240" y="5623560"/>
            <a:ext cx="10637215" cy="685800"/>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This project shows that a well-normalized schema, paired with disciplined PL/SQL, turns a manual warehouse into a reliable, queryable system.</a:t>
            </a:r>
            <a:endParaRPr lang="en-US" sz="1200" dirty="0"/>
          </a:p>
        </p:txBody>
      </p:sp>
      <p:sp>
        <p:nvSpPr>
          <p:cNvPr id="21" name="Shape 14"/>
          <p:cNvSpPr/>
          <p:nvPr/>
        </p:nvSpPr>
        <p:spPr>
          <a:xfrm>
            <a:off x="11451031" y="6437376"/>
            <a:ext cx="237744" cy="237744"/>
          </a:xfrm>
          <a:prstGeom prst="ellipse">
            <a:avLst/>
          </a:prstGeom>
          <a:solidFill>
            <a:srgbClr val="EEF3F8"/>
          </a:solidFill>
          <a:ln/>
        </p:spPr>
      </p:sp>
      <p:pic>
        <p:nvPicPr>
          <p:cNvPr id="22" name="Image 5" descr="/home/claude/wms_deck/assets/icons/database_navy.png">    </p:cNvPr>
          <p:cNvPicPr>
            <a:picLocks noChangeAspect="1"/>
          </p:cNvPicPr>
          <p:nvPr/>
        </p:nvPicPr>
        <p:blipFill>
          <a:blip r:embed="rId6"/>
          <a:stretch>
            <a:fillRect/>
          </a:stretch>
        </p:blipFill>
        <p:spPr>
          <a:xfrm>
            <a:off x="11515222" y="6501567"/>
            <a:ext cx="109362" cy="109362"/>
          </a:xfrm>
          <a:prstGeom prst="rect">
            <a:avLst/>
          </a:prstGeom>
        </p:spPr>
      </p:pic>
      <p:sp>
        <p:nvSpPr>
          <p:cNvPr id="23" name="Text 15"/>
          <p:cNvSpPr/>
          <p:nvPr/>
        </p:nvSpPr>
        <p:spPr>
          <a:xfrm>
            <a:off x="502920" y="6492240"/>
            <a:ext cx="6400800" cy="274320"/>
          </a:xfrm>
          <a:prstGeom prst="rect">
            <a:avLst/>
          </a:prstGeom>
          <a:noFill/>
          <a:ln/>
        </p:spPr>
        <p:txBody>
          <a:bodyPr wrap="square" rtlCol="0" anchor="ctr"/>
          <a:lstStyle/>
          <a:p>
            <a:pPr indent="0" marL="0">
              <a:buNone/>
            </a:pPr>
            <a:r>
              <a:rPr lang="en-US" sz="900" dirty="0">
                <a:solidFill>
                  <a:srgbClr val="92A0B0"/>
                </a:solidFill>
                <a:latin typeface="Calibri" pitchFamily="34" charset="0"/>
                <a:ea typeface="Calibri" pitchFamily="34" charset="-122"/>
                <a:cs typeface="Calibri" pitchFamily="34" charset="-120"/>
              </a:rPr>
              <a:t>Warehouse Management System · DPR400210</a:t>
            </a:r>
            <a:endParaRPr lang="en-US" sz="900" dirty="0"/>
          </a:p>
        </p:txBody>
      </p:sp>
      <p:sp>
        <p:nvSpPr>
          <p:cNvPr id="24" name="Text 16"/>
          <p:cNvSpPr/>
          <p:nvPr/>
        </p:nvSpPr>
        <p:spPr>
          <a:xfrm>
            <a:off x="11002975" y="6473952"/>
            <a:ext cx="457200" cy="274320"/>
          </a:xfrm>
          <a:prstGeom prst="rect">
            <a:avLst/>
          </a:prstGeom>
          <a:noFill/>
          <a:ln/>
        </p:spPr>
        <p:txBody>
          <a:bodyPr wrap="square" rtlCol="0" anchor="ctr"/>
          <a:lstStyle/>
          <a:p>
            <a:pPr algn="r" indent="0" marL="0">
              <a:buNone/>
            </a:pPr>
            <a:r>
              <a:rPr lang="en-US" sz="900" dirty="0">
                <a:solidFill>
                  <a:srgbClr val="92A0B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1B33"/>
        </a:solidFill>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132A4C"/>
          </a:solidFill>
          <a:ln/>
        </p:spPr>
      </p:sp>
      <p:sp>
        <p:nvSpPr>
          <p:cNvPr id="3" name="Shape 1"/>
          <p:cNvSpPr/>
          <p:nvPr/>
        </p:nvSpPr>
        <p:spPr>
          <a:xfrm>
            <a:off x="5592928" y="777240"/>
            <a:ext cx="1005840" cy="1005840"/>
          </a:xfrm>
          <a:prstGeom prst="ellipse">
            <a:avLst/>
          </a:prstGeom>
          <a:solidFill>
            <a:srgbClr val="1B3A66"/>
          </a:solidFill>
          <a:ln/>
        </p:spPr>
      </p:sp>
      <p:pic>
        <p:nvPicPr>
          <p:cNvPr id="4" name="Image 0" descr="/home/claude/wms_deck/assets/icons/warehouse_white.png">    </p:cNvPr>
          <p:cNvPicPr>
            <a:picLocks noChangeAspect="1"/>
          </p:cNvPicPr>
          <p:nvPr/>
        </p:nvPicPr>
        <p:blipFill>
          <a:blip r:embed="rId1"/>
          <a:stretch>
            <a:fillRect/>
          </a:stretch>
        </p:blipFill>
        <p:spPr>
          <a:xfrm>
            <a:off x="5864504" y="1048817"/>
            <a:ext cx="462686" cy="462686"/>
          </a:xfrm>
          <a:prstGeom prst="rect">
            <a:avLst/>
          </a:prstGeom>
        </p:spPr>
      </p:pic>
      <p:sp>
        <p:nvSpPr>
          <p:cNvPr id="5" name="Text 2"/>
          <p:cNvSpPr/>
          <p:nvPr/>
        </p:nvSpPr>
        <p:spPr>
          <a:xfrm>
            <a:off x="0" y="1965960"/>
            <a:ext cx="12191695" cy="100584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6" name="Text 3"/>
          <p:cNvSpPr/>
          <p:nvPr/>
        </p:nvSpPr>
        <p:spPr>
          <a:xfrm>
            <a:off x="0" y="2971800"/>
            <a:ext cx="12191695" cy="640080"/>
          </a:xfrm>
          <a:prstGeom prst="rect">
            <a:avLst/>
          </a:prstGeom>
          <a:noFill/>
          <a:ln/>
        </p:spPr>
        <p:txBody>
          <a:bodyPr wrap="square" rtlCol="0" anchor="ctr"/>
          <a:lstStyle/>
          <a:p>
            <a:pPr algn="ctr" indent="0" marL="0">
              <a:buNone/>
            </a:pPr>
            <a:r>
              <a:rPr lang="en-US" sz="2400" i="1" dirty="0">
                <a:solidFill>
                  <a:srgbClr val="AFD3EC"/>
                </a:solidFill>
                <a:latin typeface="Calibri" pitchFamily="34" charset="0"/>
                <a:ea typeface="Calibri" pitchFamily="34" charset="-122"/>
                <a:cs typeface="Calibri" pitchFamily="34" charset="-120"/>
              </a:rPr>
              <a:t>Questions?</a:t>
            </a:r>
            <a:endParaRPr lang="en-US" sz="2400" dirty="0"/>
          </a:p>
        </p:txBody>
      </p:sp>
      <p:sp>
        <p:nvSpPr>
          <p:cNvPr id="7" name="Shape 4"/>
          <p:cNvSpPr/>
          <p:nvPr/>
        </p:nvSpPr>
        <p:spPr>
          <a:xfrm>
            <a:off x="3169768" y="3977640"/>
            <a:ext cx="5852160" cy="1371600"/>
          </a:xfrm>
          <a:prstGeom prst="roundRect">
            <a:avLst>
              <a:gd name="adj" fmla="val 5333"/>
            </a:avLst>
          </a:prstGeom>
          <a:solidFill>
            <a:srgbClr val="102547"/>
          </a:solidFill>
          <a:ln w="12700">
            <a:solidFill>
              <a:srgbClr val="25476F"/>
            </a:solidFill>
            <a:prstDash val="solid"/>
          </a:ln>
        </p:spPr>
      </p:sp>
      <p:sp>
        <p:nvSpPr>
          <p:cNvPr id="8" name="Text 5"/>
          <p:cNvSpPr/>
          <p:nvPr/>
        </p:nvSpPr>
        <p:spPr>
          <a:xfrm>
            <a:off x="3352648" y="4114800"/>
            <a:ext cx="548640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Warehouse Management System</a:t>
            </a:r>
            <a:endParaRPr lang="en-US" sz="1400" dirty="0"/>
          </a:p>
        </p:txBody>
      </p:sp>
      <p:sp>
        <p:nvSpPr>
          <p:cNvPr id="9" name="Text 6"/>
          <p:cNvSpPr/>
          <p:nvPr/>
        </p:nvSpPr>
        <p:spPr>
          <a:xfrm>
            <a:off x="3352648" y="4443984"/>
            <a:ext cx="5486400" cy="274320"/>
          </a:xfrm>
          <a:prstGeom prst="rect">
            <a:avLst/>
          </a:prstGeom>
          <a:noFill/>
          <a:ln/>
        </p:spPr>
        <p:txBody>
          <a:bodyPr wrap="square" rtlCol="0" anchor="ctr"/>
          <a:lstStyle/>
          <a:p>
            <a:pPr algn="ctr" indent="0" marL="0">
              <a:buNone/>
            </a:pPr>
            <a:r>
              <a:rPr lang="en-US" sz="1150" dirty="0">
                <a:solidFill>
                  <a:srgbClr val="AFD3EC"/>
                </a:solidFill>
                <a:latin typeface="Calibri" pitchFamily="34" charset="0"/>
                <a:ea typeface="Calibri" pitchFamily="34" charset="-122"/>
                <a:cs typeface="Calibri" pitchFamily="34" charset="-120"/>
              </a:rPr>
              <a:t>Segikwiye Anord  ·  Reg. No. 33053/2025</a:t>
            </a:r>
            <a:endParaRPr lang="en-US" sz="1150" dirty="0"/>
          </a:p>
        </p:txBody>
      </p:sp>
      <p:sp>
        <p:nvSpPr>
          <p:cNvPr id="10" name="Text 7"/>
          <p:cNvSpPr/>
          <p:nvPr/>
        </p:nvSpPr>
        <p:spPr>
          <a:xfrm>
            <a:off x="3352648" y="4718304"/>
            <a:ext cx="5486400" cy="274320"/>
          </a:xfrm>
          <a:prstGeom prst="rect">
            <a:avLst/>
          </a:prstGeom>
          <a:noFill/>
          <a:ln/>
        </p:spPr>
        <p:txBody>
          <a:bodyPr wrap="square" rtlCol="0" anchor="ctr"/>
          <a:lstStyle/>
          <a:p>
            <a:pPr algn="ctr" indent="0" marL="0">
              <a:buNone/>
            </a:pPr>
            <a:r>
              <a:rPr lang="en-US" sz="1150" dirty="0">
                <a:solidFill>
                  <a:srgbClr val="AFD3EC"/>
                </a:solidFill>
                <a:latin typeface="Calibri" pitchFamily="34" charset="0"/>
                <a:ea typeface="Calibri" pitchFamily="34" charset="-122"/>
                <a:cs typeface="Calibri" pitchFamily="34" charset="-120"/>
              </a:rPr>
              <a:t>DPR400210 — Database Programming  ·  UNILAK</a:t>
            </a:r>
            <a:endParaRPr lang="en-US" sz="1150" dirty="0"/>
          </a:p>
        </p:txBody>
      </p:sp>
      <p:sp>
        <p:nvSpPr>
          <p:cNvPr id="11" name="Text 8"/>
          <p:cNvSpPr/>
          <p:nvPr/>
        </p:nvSpPr>
        <p:spPr>
          <a:xfrm>
            <a:off x="3352648" y="4992624"/>
            <a:ext cx="5486400" cy="274320"/>
          </a:xfrm>
          <a:prstGeom prst="rect">
            <a:avLst/>
          </a:prstGeom>
          <a:noFill/>
          <a:ln/>
        </p:spPr>
        <p:txBody>
          <a:bodyPr wrap="square" rtlCol="0" anchor="ctr"/>
          <a:lstStyle/>
          <a:p>
            <a:pPr algn="ctr" indent="0" marL="0">
              <a:buNone/>
            </a:pPr>
            <a:r>
              <a:rPr lang="en-US" sz="1000" dirty="0">
                <a:solidFill>
                  <a:srgbClr val="6FA0CC"/>
                </a:solidFill>
                <a:latin typeface="Calibri" pitchFamily="34" charset="0"/>
                <a:ea typeface="Calibri" pitchFamily="34" charset="-122"/>
                <a:cs typeface="Calibri" pitchFamily="34" charset="-120"/>
              </a:rPr>
              <a:t>Oracle SQL  ·  PL/SQL  ·  Oracle SQL Developer</a:t>
            </a:r>
            <a:endParaRPr lang="en-US" sz="1000" dirty="0"/>
          </a:p>
        </p:txBody>
      </p:sp>
      <p:sp>
        <p:nvSpPr>
          <p:cNvPr id="12" name="Shape 9"/>
          <p:cNvSpPr/>
          <p:nvPr/>
        </p:nvSpPr>
        <p:spPr>
          <a:xfrm>
            <a:off x="5318608" y="5806440"/>
            <a:ext cx="1554480" cy="777240"/>
          </a:xfrm>
          <a:prstGeom prst="roundRect">
            <a:avLst>
              <a:gd name="adj" fmla="val 7059"/>
            </a:avLst>
          </a:prstGeom>
          <a:solidFill>
            <a:srgbClr val="17335C"/>
          </a:solidFill>
          <a:ln w="12700">
            <a:solidFill>
              <a:srgbClr val="3D5C8A"/>
            </a:solidFill>
            <a:prstDash val="dash"/>
          </a:ln>
        </p:spPr>
      </p:sp>
      <p:pic>
        <p:nvPicPr>
          <p:cNvPr id="13" name="UNILAK Logo" descr="University of Lay Adventists of Kigali (UNILAK) crest">    </p:cNvPr>
          <p:cNvPicPr>
            <a:picLocks noChangeAspect="1"/>
          </p:cNvPicPr>
          <p:nvPr/>
        </p:nvPicPr>
        <p:blipFill>
          <a:blip r:embed="rId5"/>
          <a:stretch>
            <a:fillRect/>
          </a:stretch>
        </p:blipFill>
        <p:spPr>
          <a:xfrm>
            <a:off x="5900281" y="5888736"/>
            <a:ext cx="391134" cy="380000"/>
          </a:xfrm>
          <a:prstGeom prst="rect">
            <a:avLst/>
          </a:prstGeom>
        </p:spPr>
      </p:pic>
      <p:sp>
        <p:nvSpPr>
          <p:cNvPr id="14" name="Text 10"/>
          <p:cNvSpPr/>
          <p:nvPr/>
        </p:nvSpPr>
        <p:spPr>
          <a:xfrm>
            <a:off x="5318608" y="6288736"/>
            <a:ext cx="1554480" cy="219456"/>
          </a:xfrm>
          <a:prstGeom prst="rect">
            <a:avLst/>
          </a:prstGeom>
          <a:noFill/>
          <a:ln/>
        </p:spPr>
        <p:txBody>
          <a:bodyPr wrap="square" rtlCol="0" anchor="ctr"/>
          <a:lstStyle/>
          <a:p>
            <a:pPr algn="ctr" indent="0" marL="0">
              <a:buNone/>
            </a:pPr>
            <a:r>
              <a:rPr lang="en-US" sz="700" i="1" dirty="0">
                <a:solidFill>
                  <a:srgbClr val="8AA3C4"/>
                </a:solidFill>
                <a:latin typeface="Calibri" pitchFamily="34" charset="0"/>
                <a:ea typeface="Calibri" pitchFamily="34" charset="-122"/>
                <a:cs typeface="Calibri" pitchFamily="34" charset="-120"/>
              </a:rPr>
              <a:t>UNILAK</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University of Lay Adventists of Kigali (UNILAK)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Warehouse Management System</dc:title>
  <dc:subject>DPR400210 - Database Programming</dc:subject>
  <dc:creator>Segikwiye Anord</dc:creator>
  <cp:lastModifiedBy>Segikwiye Anord</cp:lastModifiedBy>
  <cp:revision>1</cp:revision>
  <dcterms:created xsi:type="dcterms:W3CDTF">2026-07-15T05:06:27Z</dcterms:created>
  <dcterms:modified xsi:type="dcterms:W3CDTF">2026-07-15T05:06:27Z</dcterms:modified>
</cp:coreProperties>
</file>